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CE1E117-5442-4E1C-B7FE-E79694003765}">
  <a:tblStyle styleId="{7CE1E117-5442-4E1C-B7FE-E79694003765}"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22" Type="http://schemas.openxmlformats.org/officeDocument/2006/relationships/slide" Target="slides/slide15.xml"/><Relationship Id="rId10" Type="http://schemas.openxmlformats.org/officeDocument/2006/relationships/slide" Target="slides/slide3.xml"/><Relationship Id="rId21" Type="http://schemas.openxmlformats.org/officeDocument/2006/relationships/slide" Target="slides/slide14.xml"/><Relationship Id="rId13" Type="http://schemas.openxmlformats.org/officeDocument/2006/relationships/slide" Target="slides/slide6.xml"/><Relationship Id="rId24" Type="http://schemas.openxmlformats.org/officeDocument/2006/relationships/slide" Target="slides/slide17.xml"/><Relationship Id="rId12" Type="http://schemas.openxmlformats.org/officeDocument/2006/relationships/slide" Target="slides/slide5.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notes"/>
          <p:cNvSpPr/>
          <p:nvPr>
            <p:ph idx="2" type="sldImg"/>
          </p:nvPr>
        </p:nvSpPr>
        <p:spPr>
          <a:xfrm>
            <a:off x="382588" y="685800"/>
            <a:ext cx="6092825" cy="3427413"/>
          </a:xfrm>
          <a:custGeom>
            <a:rect b="b" l="l" r="r" t="t"/>
            <a:pathLst>
              <a:path extrusionOk="0" h="120000" w="120000">
                <a:moveTo>
                  <a:pt x="0" y="0"/>
                </a:moveTo>
                <a:lnTo>
                  <a:pt x="120000" y="0"/>
                </a:lnTo>
                <a:lnTo>
                  <a:pt x="120000" y="120000"/>
                </a:lnTo>
                <a:lnTo>
                  <a:pt x="0" y="120000"/>
                </a:lnTo>
                <a:close/>
              </a:path>
            </a:pathLst>
          </a:custGeom>
          <a:noFill/>
          <a:ln cap="flat" cmpd="sng" w="12625">
            <a:solidFill>
              <a:srgbClr val="000000"/>
            </a:solidFill>
            <a:prstDash val="solid"/>
            <a:round/>
            <a:headEnd len="sm" w="sm" type="none"/>
            <a:tailEnd len="sm" w="sm" type="none"/>
          </a:ln>
        </p:spPr>
      </p:sp>
      <p:sp>
        <p:nvSpPr>
          <p:cNvPr id="144" name="Google Shape;144;p2:notes"/>
          <p:cNvSpPr txBox="1"/>
          <p:nvPr>
            <p:ph idx="1" type="body"/>
          </p:nvPr>
        </p:nvSpPr>
        <p:spPr>
          <a:xfrm>
            <a:off x="685800" y="4343406"/>
            <a:ext cx="5486400" cy="4114800"/>
          </a:xfrm>
          <a:prstGeom prst="rect">
            <a:avLst/>
          </a:prstGeom>
          <a:noFill/>
          <a:ln>
            <a:noFill/>
          </a:ln>
        </p:spPr>
        <p:txBody>
          <a:bodyPr anchorCtr="0" anchor="t" bIns="45775" lIns="91575" spcFirstLastPara="1" rIns="91575" wrap="square" tIns="45775">
            <a:noAutofit/>
          </a:bodyPr>
          <a:lstStyle/>
          <a:p>
            <a:pPr indent="0" lvl="0" marL="0" rtl="0" algn="l">
              <a:lnSpc>
                <a:spcPct val="100000"/>
              </a:lnSpc>
              <a:spcBef>
                <a:spcPts val="400"/>
              </a:spcBef>
              <a:spcAft>
                <a:spcPts val="0"/>
              </a:spcAft>
              <a:buSzPts val="1400"/>
              <a:buNone/>
            </a:pPr>
            <a:r>
              <a:t/>
            </a:r>
            <a:endParaRPr/>
          </a:p>
        </p:txBody>
      </p:sp>
      <p:sp>
        <p:nvSpPr>
          <p:cNvPr id="145" name="Google Shape;145;p2:notes"/>
          <p:cNvSpPr txBox="1"/>
          <p:nvPr>
            <p:ph idx="12" type="sldNum"/>
          </p:nvPr>
        </p:nvSpPr>
        <p:spPr>
          <a:xfrm>
            <a:off x="3884613" y="8685225"/>
            <a:ext cx="2971800" cy="457200"/>
          </a:xfrm>
          <a:prstGeom prst="rect">
            <a:avLst/>
          </a:prstGeom>
          <a:noFill/>
          <a:ln>
            <a:noFill/>
          </a:ln>
        </p:spPr>
        <p:txBody>
          <a:bodyPr anchorCtr="0" anchor="b" bIns="45775" lIns="91575" spcFirstLastPara="1" rIns="91575" wrap="square" tIns="457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3:notes"/>
          <p:cNvSpPr/>
          <p:nvPr>
            <p:ph idx="2" type="sldImg"/>
          </p:nvPr>
        </p:nvSpPr>
        <p:spPr>
          <a:xfrm>
            <a:off x="382588" y="685800"/>
            <a:ext cx="6092700" cy="3427500"/>
          </a:xfrm>
          <a:custGeom>
            <a:rect b="b" l="l" r="r" t="t"/>
            <a:pathLst>
              <a:path extrusionOk="0" h="120000" w="120000">
                <a:moveTo>
                  <a:pt x="0" y="0"/>
                </a:moveTo>
                <a:lnTo>
                  <a:pt x="120000" y="0"/>
                </a:lnTo>
                <a:lnTo>
                  <a:pt x="120000" y="120000"/>
                </a:lnTo>
                <a:lnTo>
                  <a:pt x="0" y="120000"/>
                </a:lnTo>
                <a:close/>
              </a:path>
            </a:pathLst>
          </a:custGeom>
          <a:noFill/>
          <a:ln cap="flat" cmpd="sng" w="12625">
            <a:solidFill>
              <a:srgbClr val="000000"/>
            </a:solidFill>
            <a:prstDash val="solid"/>
            <a:round/>
            <a:headEnd len="sm" w="sm" type="none"/>
            <a:tailEnd len="sm" w="sm" type="none"/>
          </a:ln>
        </p:spPr>
      </p:sp>
      <p:sp>
        <p:nvSpPr>
          <p:cNvPr id="151" name="Google Shape;151;p3:notes"/>
          <p:cNvSpPr txBox="1"/>
          <p:nvPr>
            <p:ph idx="1" type="body"/>
          </p:nvPr>
        </p:nvSpPr>
        <p:spPr>
          <a:xfrm>
            <a:off x="685800" y="4343406"/>
            <a:ext cx="5486400" cy="4114800"/>
          </a:xfrm>
          <a:prstGeom prst="rect">
            <a:avLst/>
          </a:prstGeom>
          <a:noFill/>
          <a:ln>
            <a:noFill/>
          </a:ln>
        </p:spPr>
        <p:txBody>
          <a:bodyPr anchorCtr="0" anchor="t" bIns="45775" lIns="91575" spcFirstLastPara="1" rIns="91575" wrap="square" tIns="45775">
            <a:noAutofit/>
          </a:bodyPr>
          <a:lstStyle/>
          <a:p>
            <a:pPr indent="0" lvl="0" marL="0" rtl="0" algn="l">
              <a:lnSpc>
                <a:spcPct val="100000"/>
              </a:lnSpc>
              <a:spcBef>
                <a:spcPts val="400"/>
              </a:spcBef>
              <a:spcAft>
                <a:spcPts val="0"/>
              </a:spcAft>
              <a:buSzPts val="1400"/>
              <a:buNone/>
            </a:pPr>
            <a:r>
              <a:t/>
            </a:r>
            <a:endParaRPr/>
          </a:p>
        </p:txBody>
      </p:sp>
      <p:sp>
        <p:nvSpPr>
          <p:cNvPr id="152" name="Google Shape;152;p3:notes"/>
          <p:cNvSpPr txBox="1"/>
          <p:nvPr>
            <p:ph idx="12" type="sldNum"/>
          </p:nvPr>
        </p:nvSpPr>
        <p:spPr>
          <a:xfrm>
            <a:off x="3884613" y="8685225"/>
            <a:ext cx="2971800" cy="457200"/>
          </a:xfrm>
          <a:prstGeom prst="rect">
            <a:avLst/>
          </a:prstGeom>
          <a:noFill/>
          <a:ln>
            <a:noFill/>
          </a:ln>
        </p:spPr>
        <p:txBody>
          <a:bodyPr anchorCtr="0" anchor="b" bIns="45775" lIns="91575" spcFirstLastPara="1" rIns="91575" wrap="square" tIns="457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d79ff73f3e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g3d79ff73f3e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d0cd88a92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g3d0cd88a92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da2775c1b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g3da2775c1b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 name="Shape 9"/>
        <p:cNvGrpSpPr/>
        <p:nvPr/>
      </p:nvGrpSpPr>
      <p:grpSpPr>
        <a:xfrm>
          <a:off x="0" y="0"/>
          <a:ext cx="0" cy="0"/>
          <a:chOff x="0" y="0"/>
          <a:chExt cx="0" cy="0"/>
        </a:xfrm>
      </p:grpSpPr>
      <p:sp>
        <p:nvSpPr>
          <p:cNvPr id="10" name="Google Shape;10;p2"/>
          <p:cNvSpPr txBox="1"/>
          <p:nvPr>
            <p:ph idx="1" type="body"/>
          </p:nvPr>
        </p:nvSpPr>
        <p:spPr>
          <a:xfrm>
            <a:off x="57125" y="1356400"/>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grpSp>
        <p:nvGrpSpPr>
          <p:cNvPr id="11" name="Google Shape;11;p2"/>
          <p:cNvGrpSpPr/>
          <p:nvPr/>
        </p:nvGrpSpPr>
        <p:grpSpPr>
          <a:xfrm>
            <a:off x="-18651" y="5035452"/>
            <a:ext cx="9161067" cy="112275"/>
            <a:chOff x="-24862" y="6713936"/>
            <a:chExt cx="12211500" cy="149700"/>
          </a:xfrm>
        </p:grpSpPr>
        <p:sp>
          <p:nvSpPr>
            <p:cNvPr id="12" name="Google Shape;12;p2"/>
            <p:cNvSpPr/>
            <p:nvPr/>
          </p:nvSpPr>
          <p:spPr>
            <a:xfrm>
              <a:off x="-24862" y="6713936"/>
              <a:ext cx="12211500" cy="1497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13" name="Google Shape;13;p2"/>
            <p:cNvSpPr/>
            <p:nvPr/>
          </p:nvSpPr>
          <p:spPr>
            <a:xfrm>
              <a:off x="-24862" y="6713936"/>
              <a:ext cx="12189000" cy="273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grpSp>
      <p:sp>
        <p:nvSpPr>
          <p:cNvPr id="14" name="Google Shape;14;p2"/>
          <p:cNvSpPr/>
          <p:nvPr/>
        </p:nvSpPr>
        <p:spPr>
          <a:xfrm>
            <a:off x="-1678" y="1216382"/>
            <a:ext cx="9144000" cy="8856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15" name="Google Shape;15;p2"/>
          <p:cNvSpPr txBox="1"/>
          <p:nvPr/>
        </p:nvSpPr>
        <p:spPr>
          <a:xfrm>
            <a:off x="0" y="1215847"/>
            <a:ext cx="9253200" cy="886200"/>
          </a:xfrm>
          <a:prstGeom prst="rect">
            <a:avLst/>
          </a:prstGeom>
          <a:noFill/>
          <a:ln>
            <a:noFill/>
          </a:ln>
        </p:spPr>
        <p:txBody>
          <a:bodyPr anchorCtr="0" anchor="ctr" bIns="34275" lIns="68575" spcFirstLastPara="1" rIns="68575" wrap="square" tIns="34275">
            <a:normAutofit/>
          </a:bodyPr>
          <a:lstStyle/>
          <a:p>
            <a:pPr indent="0" lvl="0" marL="0" marR="0" rtl="0" algn="l">
              <a:lnSpc>
                <a:spcPct val="80000"/>
              </a:lnSpc>
              <a:spcBef>
                <a:spcPts val="0"/>
              </a:spcBef>
              <a:spcAft>
                <a:spcPts val="0"/>
              </a:spcAft>
              <a:buClr>
                <a:srgbClr val="000000"/>
              </a:buClr>
              <a:buSzPts val="2000"/>
              <a:buFont typeface="Arial"/>
              <a:buNone/>
            </a:pPr>
            <a:r>
              <a:t/>
            </a:r>
            <a:endParaRPr b="1" i="0" sz="2000" u="none" cap="none" strike="noStrike">
              <a:solidFill>
                <a:srgbClr val="FFFFFF"/>
              </a:solidFill>
              <a:latin typeface="Calibri"/>
              <a:ea typeface="Calibri"/>
              <a:cs typeface="Calibri"/>
              <a:sym typeface="Calibri"/>
            </a:endParaRPr>
          </a:p>
        </p:txBody>
      </p:sp>
      <p:sp>
        <p:nvSpPr>
          <p:cNvPr id="16" name="Google Shape;16;p2"/>
          <p:cNvSpPr/>
          <p:nvPr/>
        </p:nvSpPr>
        <p:spPr>
          <a:xfrm>
            <a:off x="-94" y="-20538"/>
            <a:ext cx="9144000" cy="1122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17" name="Google Shape;17;p2"/>
          <p:cNvSpPr/>
          <p:nvPr/>
        </p:nvSpPr>
        <p:spPr>
          <a:xfrm>
            <a:off x="961" y="87474"/>
            <a:ext cx="9144000" cy="204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pic>
        <p:nvPicPr>
          <p:cNvPr id="18" name="Google Shape;18;p2"/>
          <p:cNvPicPr preferRelativeResize="0"/>
          <p:nvPr/>
        </p:nvPicPr>
        <p:blipFill rotWithShape="1">
          <a:blip r:embed="rId2">
            <a:alphaModFix/>
          </a:blip>
          <a:srcRect b="0" l="0" r="0" t="0"/>
          <a:stretch/>
        </p:blipFill>
        <p:spPr>
          <a:xfrm>
            <a:off x="7554525" y="177099"/>
            <a:ext cx="1493900" cy="334175"/>
          </a:xfrm>
          <a:prstGeom prst="rect">
            <a:avLst/>
          </a:prstGeom>
          <a:noFill/>
          <a:ln>
            <a:noFill/>
          </a:ln>
        </p:spPr>
      </p:pic>
      <p:pic>
        <p:nvPicPr>
          <p:cNvPr id="19" name="Google Shape;19;p2"/>
          <p:cNvPicPr preferRelativeResize="0"/>
          <p:nvPr/>
        </p:nvPicPr>
        <p:blipFill rotWithShape="1">
          <a:blip r:embed="rId3">
            <a:alphaModFix/>
          </a:blip>
          <a:srcRect b="0" l="0" r="0" t="0"/>
          <a:stretch/>
        </p:blipFill>
        <p:spPr>
          <a:xfrm>
            <a:off x="85675" y="177975"/>
            <a:ext cx="642611" cy="332400"/>
          </a:xfrm>
          <a:prstGeom prst="rect">
            <a:avLst/>
          </a:prstGeom>
          <a:noFill/>
          <a:ln>
            <a:noFill/>
          </a:ln>
        </p:spPr>
      </p:pic>
      <p:sp>
        <p:nvSpPr>
          <p:cNvPr id="20" name="Google Shape;20;p2"/>
          <p:cNvSpPr txBox="1"/>
          <p:nvPr/>
        </p:nvSpPr>
        <p:spPr>
          <a:xfrm>
            <a:off x="8299223" y="5002825"/>
            <a:ext cx="702300" cy="1716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US" sz="500" u="none" cap="none" strike="noStrike">
                <a:solidFill>
                  <a:srgbClr val="FFFFFF"/>
                </a:solidFill>
                <a:latin typeface="Calibri"/>
                <a:ea typeface="Calibri"/>
                <a:cs typeface="Calibri"/>
                <a:sym typeface="Calibri"/>
              </a:rPr>
              <a:t>‹#›</a:t>
            </a:fld>
            <a:endParaRPr b="0" i="0" sz="500" u="none" cap="none" strike="noStrike">
              <a:solidFill>
                <a:srgbClr val="FFFFFF"/>
              </a:solidFill>
              <a:latin typeface="Calibri"/>
              <a:ea typeface="Calibri"/>
              <a:cs typeface="Calibri"/>
              <a:sym typeface="Calibri"/>
            </a:endParaRPr>
          </a:p>
        </p:txBody>
      </p:sp>
      <p:sp>
        <p:nvSpPr>
          <p:cNvPr id="21" name="Google Shape;21;p2"/>
          <p:cNvSpPr txBox="1"/>
          <p:nvPr/>
        </p:nvSpPr>
        <p:spPr>
          <a:xfrm>
            <a:off x="299076" y="5015004"/>
            <a:ext cx="8751300" cy="146100"/>
          </a:xfrm>
          <a:prstGeom prst="rect">
            <a:avLst/>
          </a:prstGeom>
          <a:noFill/>
          <a:ln cap="flat" cmpd="sng" w="9525">
            <a:solidFill>
              <a:srgbClr val="E9F0F5"/>
            </a:solidFill>
            <a:prstDash val="solid"/>
            <a:round/>
            <a:headEnd len="sm" w="sm" type="none"/>
            <a:tailEnd len="sm" w="sm" type="none"/>
          </a:ln>
        </p:spPr>
        <p:txBody>
          <a:bodyPr anchorCtr="1" anchor="ctr" bIns="34275" lIns="68575" spcFirstLastPara="1" rIns="68575" wrap="square" tIns="34275">
            <a:spAutoFit/>
          </a:bodyPr>
          <a:lstStyle/>
          <a:p>
            <a:pPr indent="0" lvl="0" marL="0" marR="0" rtl="0" algn="ctr">
              <a:lnSpc>
                <a:spcPct val="100000"/>
              </a:lnSpc>
              <a:spcBef>
                <a:spcPts val="0"/>
              </a:spcBef>
              <a:spcAft>
                <a:spcPts val="0"/>
              </a:spcAft>
              <a:buClr>
                <a:schemeClr val="dk1"/>
              </a:buClr>
              <a:buSzPts val="500"/>
              <a:buFont typeface="Arial"/>
              <a:buNone/>
            </a:pPr>
            <a:r>
              <a:rPr lang="en-US" sz="500">
                <a:solidFill>
                  <a:schemeClr val="lt1"/>
                </a:solidFill>
                <a:latin typeface="Calibri"/>
                <a:ea typeface="Calibri"/>
                <a:cs typeface="Calibri"/>
                <a:sym typeface="Calibri"/>
              </a:rPr>
              <a:t>Inventory Management 26A - Confidential</a:t>
            </a:r>
            <a:endParaRPr b="0" i="0" sz="5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2" name="Shape 22"/>
        <p:cNvGrpSpPr/>
        <p:nvPr/>
      </p:nvGrpSpPr>
      <p:grpSpPr>
        <a:xfrm>
          <a:off x="0" y="0"/>
          <a:ext cx="0" cy="0"/>
          <a:chOff x="0" y="0"/>
          <a:chExt cx="0" cy="0"/>
        </a:xfrm>
      </p:grpSpPr>
      <p:grpSp>
        <p:nvGrpSpPr>
          <p:cNvPr id="23" name="Google Shape;23;p3"/>
          <p:cNvGrpSpPr/>
          <p:nvPr/>
        </p:nvGrpSpPr>
        <p:grpSpPr>
          <a:xfrm>
            <a:off x="-18651" y="5035452"/>
            <a:ext cx="9161067" cy="112275"/>
            <a:chOff x="-24862" y="6713936"/>
            <a:chExt cx="12211500" cy="149700"/>
          </a:xfrm>
        </p:grpSpPr>
        <p:sp>
          <p:nvSpPr>
            <p:cNvPr id="24" name="Google Shape;24;p3"/>
            <p:cNvSpPr/>
            <p:nvPr/>
          </p:nvSpPr>
          <p:spPr>
            <a:xfrm>
              <a:off x="-24862" y="6713936"/>
              <a:ext cx="12211500" cy="1497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25" name="Google Shape;25;p3"/>
            <p:cNvSpPr/>
            <p:nvPr/>
          </p:nvSpPr>
          <p:spPr>
            <a:xfrm>
              <a:off x="-24862" y="6713936"/>
              <a:ext cx="12189000" cy="273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grpSp>
      <p:sp>
        <p:nvSpPr>
          <p:cNvPr id="26" name="Google Shape;26;p3"/>
          <p:cNvSpPr txBox="1"/>
          <p:nvPr/>
        </p:nvSpPr>
        <p:spPr>
          <a:xfrm>
            <a:off x="299076" y="5015004"/>
            <a:ext cx="8751300" cy="223200"/>
          </a:xfrm>
          <a:prstGeom prst="rect">
            <a:avLst/>
          </a:prstGeom>
          <a:noFill/>
          <a:ln cap="flat" cmpd="sng" w="9525">
            <a:solidFill>
              <a:srgbClr val="E9F0F5"/>
            </a:solidFill>
            <a:prstDash val="solid"/>
            <a:round/>
            <a:headEnd len="sm" w="sm" type="none"/>
            <a:tailEnd len="sm" w="sm" type="none"/>
          </a:ln>
        </p:spPr>
        <p:txBody>
          <a:bodyPr anchorCtr="1" anchor="ctr" bIns="34275" lIns="68575" spcFirstLastPara="1" rIns="68575" wrap="square" tIns="34275">
            <a:spAutoFit/>
          </a:bodyPr>
          <a:lstStyle/>
          <a:p>
            <a:pPr indent="0" lvl="0" marL="0" rtl="0" algn="ctr">
              <a:spcBef>
                <a:spcPts val="0"/>
              </a:spcBef>
              <a:spcAft>
                <a:spcPts val="0"/>
              </a:spcAft>
              <a:buClr>
                <a:schemeClr val="dk1"/>
              </a:buClr>
              <a:buSzPts val="500"/>
              <a:buFont typeface="Arial"/>
              <a:buNone/>
            </a:pPr>
            <a:r>
              <a:rPr lang="en-US" sz="500">
                <a:solidFill>
                  <a:schemeClr val="lt1"/>
                </a:solidFill>
                <a:latin typeface="Calibri"/>
                <a:ea typeface="Calibri"/>
                <a:cs typeface="Calibri"/>
                <a:sym typeface="Calibri"/>
              </a:rPr>
              <a:t>Inventory Management 26A - Confidential</a:t>
            </a:r>
            <a:endParaRPr sz="500">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500"/>
              <a:buFont typeface="Arial"/>
              <a:buNone/>
            </a:pPr>
            <a:r>
              <a:t/>
            </a:r>
            <a:endParaRPr sz="500">
              <a:solidFill>
                <a:schemeClr val="lt1"/>
              </a:solidFill>
              <a:latin typeface="Calibri"/>
              <a:ea typeface="Calibri"/>
              <a:cs typeface="Calibri"/>
              <a:sym typeface="Calibri"/>
            </a:endParaRPr>
          </a:p>
        </p:txBody>
      </p:sp>
      <p:sp>
        <p:nvSpPr>
          <p:cNvPr id="27" name="Google Shape;27;p3"/>
          <p:cNvSpPr/>
          <p:nvPr/>
        </p:nvSpPr>
        <p:spPr>
          <a:xfrm>
            <a:off x="-94" y="-20538"/>
            <a:ext cx="9144000" cy="1122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28" name="Google Shape;28;p3"/>
          <p:cNvSpPr/>
          <p:nvPr/>
        </p:nvSpPr>
        <p:spPr>
          <a:xfrm>
            <a:off x="961" y="87474"/>
            <a:ext cx="9144000" cy="204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pic>
        <p:nvPicPr>
          <p:cNvPr id="29" name="Google Shape;29;p3"/>
          <p:cNvPicPr preferRelativeResize="0"/>
          <p:nvPr/>
        </p:nvPicPr>
        <p:blipFill rotWithShape="1">
          <a:blip r:embed="rId2">
            <a:alphaModFix/>
          </a:blip>
          <a:srcRect b="0" l="0" r="0" t="0"/>
          <a:stretch/>
        </p:blipFill>
        <p:spPr>
          <a:xfrm>
            <a:off x="7554525" y="177099"/>
            <a:ext cx="1493900" cy="334175"/>
          </a:xfrm>
          <a:prstGeom prst="rect">
            <a:avLst/>
          </a:prstGeom>
          <a:noFill/>
          <a:ln>
            <a:noFill/>
          </a:ln>
        </p:spPr>
      </p:pic>
      <p:sp>
        <p:nvSpPr>
          <p:cNvPr id="30" name="Google Shape;30;p3"/>
          <p:cNvSpPr txBox="1"/>
          <p:nvPr/>
        </p:nvSpPr>
        <p:spPr>
          <a:xfrm>
            <a:off x="8299223" y="5002825"/>
            <a:ext cx="702300" cy="1716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US" sz="500" u="none" cap="none" strike="noStrike">
                <a:solidFill>
                  <a:srgbClr val="FFFFFF"/>
                </a:solidFill>
                <a:latin typeface="Calibri"/>
                <a:ea typeface="Calibri"/>
                <a:cs typeface="Calibri"/>
                <a:sym typeface="Calibri"/>
              </a:rPr>
              <a:t>‹#›</a:t>
            </a:fld>
            <a:endParaRPr b="0" i="0" sz="500" u="none" cap="none" strike="noStrike">
              <a:solidFill>
                <a:srgbClr val="FFFFFF"/>
              </a:solidFill>
              <a:latin typeface="Calibri"/>
              <a:ea typeface="Calibri"/>
              <a:cs typeface="Calibri"/>
              <a:sym typeface="Calibri"/>
            </a:endParaRPr>
          </a:p>
        </p:txBody>
      </p:sp>
      <p:pic>
        <p:nvPicPr>
          <p:cNvPr id="31" name="Google Shape;31;p3"/>
          <p:cNvPicPr preferRelativeResize="0"/>
          <p:nvPr/>
        </p:nvPicPr>
        <p:blipFill rotWithShape="1">
          <a:blip r:embed="rId3">
            <a:alphaModFix/>
          </a:blip>
          <a:srcRect b="0" l="0" r="0" t="0"/>
          <a:stretch/>
        </p:blipFill>
        <p:spPr>
          <a:xfrm>
            <a:off x="4248956" y="4680824"/>
            <a:ext cx="646087" cy="3341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 name="Shape 32"/>
        <p:cNvGrpSpPr/>
        <p:nvPr/>
      </p:nvGrpSpPr>
      <p:grpSpPr>
        <a:xfrm>
          <a:off x="0" y="0"/>
          <a:ext cx="0" cy="0"/>
          <a:chOff x="0" y="0"/>
          <a:chExt cx="0" cy="0"/>
        </a:xfrm>
      </p:grpSpPr>
      <p:sp>
        <p:nvSpPr>
          <p:cNvPr id="33" name="Google Shape;33;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4" name="Google Shape;34;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5" name="Google Shape;35;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8" name="Google Shape;38;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9" name="Shape 39"/>
        <p:cNvGrpSpPr/>
        <p:nvPr/>
      </p:nvGrpSpPr>
      <p:grpSpPr>
        <a:xfrm>
          <a:off x="0" y="0"/>
          <a:ext cx="0" cy="0"/>
          <a:chOff x="0" y="0"/>
          <a:chExt cx="0" cy="0"/>
        </a:xfrm>
      </p:grpSpPr>
      <p:sp>
        <p:nvSpPr>
          <p:cNvPr id="40" name="Google Shape;40;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1" name="Google Shape;41;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3" name="Shape 43"/>
        <p:cNvGrpSpPr/>
        <p:nvPr/>
      </p:nvGrpSpPr>
      <p:grpSpPr>
        <a:xfrm>
          <a:off x="0" y="0"/>
          <a:ext cx="0" cy="0"/>
          <a:chOff x="0" y="0"/>
          <a:chExt cx="0" cy="0"/>
        </a:xfrm>
      </p:grpSpPr>
      <p:sp>
        <p:nvSpPr>
          <p:cNvPr id="44" name="Google Shape;44;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5" name="Google Shape;45;p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6" name="Google Shape;46;p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0" name="Google Shape;50;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1" name="Shape 51"/>
        <p:cNvGrpSpPr/>
        <p:nvPr/>
      </p:nvGrpSpPr>
      <p:grpSpPr>
        <a:xfrm>
          <a:off x="0" y="0"/>
          <a:ext cx="0" cy="0"/>
          <a:chOff x="0" y="0"/>
          <a:chExt cx="0" cy="0"/>
        </a:xfrm>
      </p:grpSpPr>
      <p:sp>
        <p:nvSpPr>
          <p:cNvPr id="52" name="Google Shape;52;p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3" name="Google Shape;53;p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4" name="Google Shape;5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5" name="Shape 55"/>
        <p:cNvGrpSpPr/>
        <p:nvPr/>
      </p:nvGrpSpPr>
      <p:grpSpPr>
        <a:xfrm>
          <a:off x="0" y="0"/>
          <a:ext cx="0" cy="0"/>
          <a:chOff x="0" y="0"/>
          <a:chExt cx="0" cy="0"/>
        </a:xfrm>
      </p:grpSpPr>
      <p:sp>
        <p:nvSpPr>
          <p:cNvPr id="56" name="Google Shape;56;p1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7" name="Google Shape;57;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 name="Shape 58"/>
        <p:cNvGrpSpPr/>
        <p:nvPr/>
      </p:nvGrpSpPr>
      <p:grpSpPr>
        <a:xfrm>
          <a:off x="0" y="0"/>
          <a:ext cx="0" cy="0"/>
          <a:chOff x="0" y="0"/>
          <a:chExt cx="0" cy="0"/>
        </a:xfrm>
      </p:grpSpPr>
      <p:sp>
        <p:nvSpPr>
          <p:cNvPr id="59" name="Google Shape;59;p1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1" name="Google Shape;61;p1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2" name="Google Shape;62;p1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64" name="Shape 64"/>
        <p:cNvGrpSpPr/>
        <p:nvPr/>
      </p:nvGrpSpPr>
      <p:grpSpPr>
        <a:xfrm>
          <a:off x="0" y="0"/>
          <a:ext cx="0" cy="0"/>
          <a:chOff x="0" y="0"/>
          <a:chExt cx="0" cy="0"/>
        </a:xfrm>
      </p:grpSpPr>
      <p:sp>
        <p:nvSpPr>
          <p:cNvPr id="65" name="Google Shape;65;p12"/>
          <p:cNvSpPr txBox="1"/>
          <p:nvPr>
            <p:ph idx="12" type="sldNum"/>
          </p:nvPr>
        </p:nvSpPr>
        <p:spPr>
          <a:xfrm>
            <a:off x="8299223" y="5009628"/>
            <a:ext cx="702300" cy="1716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66" name="Google Shape;66;p12"/>
          <p:cNvSpPr txBox="1"/>
          <p:nvPr>
            <p:ph idx="1" type="body"/>
          </p:nvPr>
        </p:nvSpPr>
        <p:spPr>
          <a:xfrm>
            <a:off x="277400" y="552400"/>
            <a:ext cx="8751300" cy="37359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0"/>
              </a:spcBef>
              <a:spcAft>
                <a:spcPts val="0"/>
              </a:spcAft>
              <a:buSzPts val="1100"/>
              <a:buChar char="▪"/>
              <a:defRPr/>
            </a:lvl1pPr>
            <a:lvl2pPr indent="-304800" lvl="1" marL="914400" algn="l">
              <a:lnSpc>
                <a:spcPct val="100000"/>
              </a:lnSpc>
              <a:spcBef>
                <a:spcPts val="0"/>
              </a:spcBef>
              <a:spcAft>
                <a:spcPts val="0"/>
              </a:spcAft>
              <a:buSzPts val="1200"/>
              <a:buChar char="⮚"/>
              <a:defRPr sz="1200"/>
            </a:lvl2pPr>
            <a:lvl3pPr indent="-279400" lvl="2" marL="1371600" algn="l">
              <a:lnSpc>
                <a:spcPct val="100000"/>
              </a:lnSpc>
              <a:spcBef>
                <a:spcPts val="0"/>
              </a:spcBef>
              <a:spcAft>
                <a:spcPts val="0"/>
              </a:spcAft>
              <a:buSzPts val="800"/>
              <a:buChar char="❖"/>
              <a:defRPr sz="1100"/>
            </a:lvl3pPr>
            <a:lvl4pPr indent="-317500" lvl="3" marL="1828800" algn="l">
              <a:lnSpc>
                <a:spcPct val="100000"/>
              </a:lnSpc>
              <a:spcBef>
                <a:spcPts val="0"/>
              </a:spcBef>
              <a:spcAft>
                <a:spcPts val="0"/>
              </a:spcAft>
              <a:buSzPts val="1400"/>
              <a:buChar char="o"/>
              <a:defRPr/>
            </a:lvl4pPr>
            <a:lvl5pPr indent="-298450" lvl="4" marL="2286000" algn="l">
              <a:lnSpc>
                <a:spcPct val="100000"/>
              </a:lnSpc>
              <a:spcBef>
                <a:spcPts val="0"/>
              </a:spcBef>
              <a:spcAft>
                <a:spcPts val="0"/>
              </a:spcAft>
              <a:buSzPts val="1100"/>
              <a:buChar char="▪"/>
              <a:defRPr/>
            </a:lvl5pPr>
            <a:lvl6pPr indent="-317500" lvl="5" marL="2743200" algn="l">
              <a:lnSpc>
                <a:spcPct val="90000"/>
              </a:lnSpc>
              <a:spcBef>
                <a:spcPts val="500"/>
              </a:spcBef>
              <a:spcAft>
                <a:spcPts val="0"/>
              </a:spcAft>
              <a:buSzPts val="1400"/>
              <a:buChar char="–"/>
              <a:defRPr/>
            </a:lvl6pPr>
            <a:lvl7pPr indent="-298450" lvl="6" marL="3200400" algn="l">
              <a:lnSpc>
                <a:spcPct val="90000"/>
              </a:lnSpc>
              <a:spcBef>
                <a:spcPts val="500"/>
              </a:spcBef>
              <a:spcAft>
                <a:spcPts val="0"/>
              </a:spcAft>
              <a:buSzPts val="1100"/>
              <a:buChar char="▪"/>
              <a:defRPr/>
            </a:lvl7pPr>
            <a:lvl8pPr indent="-317500" lvl="7" marL="3657600" algn="l">
              <a:lnSpc>
                <a:spcPct val="90000"/>
              </a:lnSpc>
              <a:spcBef>
                <a:spcPts val="500"/>
              </a:spcBef>
              <a:spcAft>
                <a:spcPts val="0"/>
              </a:spcAft>
              <a:buSzPts val="1400"/>
              <a:buChar char="–"/>
              <a:defRPr/>
            </a:lvl8pPr>
            <a:lvl9pPr indent="-298450" lvl="8" marL="4114800" algn="l">
              <a:lnSpc>
                <a:spcPct val="90000"/>
              </a:lnSpc>
              <a:spcBef>
                <a:spcPts val="500"/>
              </a:spcBef>
              <a:spcAft>
                <a:spcPts val="0"/>
              </a:spcAft>
              <a:buSzPts val="1100"/>
              <a:buChar char="▪"/>
              <a:defRPr/>
            </a:lvl9pPr>
          </a:lstStyle>
          <a:p/>
        </p:txBody>
      </p:sp>
      <p:sp>
        <p:nvSpPr>
          <p:cNvPr id="67" name="Google Shape;67;p12"/>
          <p:cNvSpPr txBox="1"/>
          <p:nvPr>
            <p:ph type="title"/>
          </p:nvPr>
        </p:nvSpPr>
        <p:spPr>
          <a:xfrm>
            <a:off x="250393" y="187170"/>
            <a:ext cx="8805300" cy="3324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002060"/>
              </a:buClr>
              <a:buSzPts val="1800"/>
              <a:buFont typeface="Calibri"/>
              <a:buNone/>
              <a:defRPr b="1" sz="18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 name="Google Shape;68;p12"/>
          <p:cNvSpPr txBox="1"/>
          <p:nvPr/>
        </p:nvSpPr>
        <p:spPr>
          <a:xfrm>
            <a:off x="304417" y="5015004"/>
            <a:ext cx="8751300" cy="146100"/>
          </a:xfrm>
          <a:prstGeom prst="rect">
            <a:avLst/>
          </a:prstGeom>
          <a:noFill/>
          <a:ln cap="flat" cmpd="sng" w="9525">
            <a:solidFill>
              <a:srgbClr val="E9F0F5"/>
            </a:solidFill>
            <a:prstDash val="solid"/>
            <a:round/>
            <a:headEnd len="sm" w="sm" type="none"/>
            <a:tailEnd len="sm" w="sm" type="none"/>
          </a:ln>
        </p:spPr>
        <p:txBody>
          <a:bodyPr anchorCtr="1" anchor="ctr" bIns="34275" lIns="68575" spcFirstLastPara="1" rIns="68575" wrap="square" tIns="34275">
            <a:spAutoFit/>
          </a:bodyPr>
          <a:lstStyle/>
          <a:p>
            <a:pPr indent="0" lvl="0" marL="0" marR="0" rtl="0" algn="l">
              <a:lnSpc>
                <a:spcPct val="100000"/>
              </a:lnSpc>
              <a:spcBef>
                <a:spcPts val="0"/>
              </a:spcBef>
              <a:spcAft>
                <a:spcPts val="0"/>
              </a:spcAft>
              <a:buClr>
                <a:srgbClr val="000000"/>
              </a:buClr>
              <a:buSzPts val="500"/>
              <a:buFont typeface="Arial"/>
              <a:buNone/>
            </a:pPr>
            <a:r>
              <a:rPr b="0" i="0" lang="en-US" sz="500" u="none" cap="none" strike="noStrike">
                <a:solidFill>
                  <a:schemeClr val="lt1"/>
                </a:solidFill>
                <a:latin typeface="Calibri"/>
                <a:ea typeface="Calibri"/>
                <a:cs typeface="Calibri"/>
                <a:sym typeface="Calibri"/>
              </a:rPr>
              <a:t>TID: Kick-Off SCM Oracle Cloud Stabilization - Confidential</a:t>
            </a:r>
            <a:endParaRPr b="0" i="0" sz="500" u="none" cap="none" strike="noStrike">
              <a:solidFill>
                <a:schemeClr val="lt1"/>
              </a:solidFill>
              <a:latin typeface="Calibri"/>
              <a:ea typeface="Calibri"/>
              <a:cs typeface="Calibri"/>
              <a:sym typeface="Calibri"/>
            </a:endParaRPr>
          </a:p>
        </p:txBody>
      </p:sp>
      <p:pic>
        <p:nvPicPr>
          <p:cNvPr id="69" name="Google Shape;69;p12"/>
          <p:cNvPicPr preferRelativeResize="0"/>
          <p:nvPr/>
        </p:nvPicPr>
        <p:blipFill rotWithShape="1">
          <a:blip r:embed="rId2">
            <a:alphaModFix/>
          </a:blip>
          <a:srcRect b="0" l="0" r="0" t="0"/>
          <a:stretch/>
        </p:blipFill>
        <p:spPr>
          <a:xfrm>
            <a:off x="7554525" y="177099"/>
            <a:ext cx="1493900" cy="334175"/>
          </a:xfrm>
          <a:prstGeom prst="rect">
            <a:avLst/>
          </a:prstGeom>
          <a:noFill/>
          <a:ln>
            <a:noFill/>
          </a:ln>
        </p:spPr>
      </p:pic>
      <p:pic>
        <p:nvPicPr>
          <p:cNvPr id="70" name="Google Shape;70;p12"/>
          <p:cNvPicPr preferRelativeResize="0"/>
          <p:nvPr/>
        </p:nvPicPr>
        <p:blipFill rotWithShape="1">
          <a:blip r:embed="rId3">
            <a:alphaModFix/>
          </a:blip>
          <a:srcRect b="0" l="0" r="0" t="0"/>
          <a:stretch/>
        </p:blipFill>
        <p:spPr>
          <a:xfrm>
            <a:off x="4248956" y="4680824"/>
            <a:ext cx="646087" cy="334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75" name="Shape 75"/>
        <p:cNvGrpSpPr/>
        <p:nvPr/>
      </p:nvGrpSpPr>
      <p:grpSpPr>
        <a:xfrm>
          <a:off x="0" y="0"/>
          <a:ext cx="0" cy="0"/>
          <a:chOff x="0" y="0"/>
          <a:chExt cx="0" cy="0"/>
        </a:xfrm>
      </p:grpSpPr>
      <p:grpSp>
        <p:nvGrpSpPr>
          <p:cNvPr id="76" name="Google Shape;76;p14"/>
          <p:cNvGrpSpPr/>
          <p:nvPr/>
        </p:nvGrpSpPr>
        <p:grpSpPr>
          <a:xfrm>
            <a:off x="-18650" y="5035453"/>
            <a:ext cx="9161067" cy="112275"/>
            <a:chOff x="-24862" y="6713936"/>
            <a:chExt cx="12211500" cy="149700"/>
          </a:xfrm>
        </p:grpSpPr>
        <p:sp>
          <p:nvSpPr>
            <p:cNvPr id="77" name="Google Shape;77;p14"/>
            <p:cNvSpPr/>
            <p:nvPr/>
          </p:nvSpPr>
          <p:spPr>
            <a:xfrm>
              <a:off x="-24862" y="6713936"/>
              <a:ext cx="12211500" cy="1497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78" name="Google Shape;78;p14"/>
            <p:cNvSpPr/>
            <p:nvPr/>
          </p:nvSpPr>
          <p:spPr>
            <a:xfrm>
              <a:off x="-24862" y="6713936"/>
              <a:ext cx="12189000" cy="273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grpSp>
      <p:sp>
        <p:nvSpPr>
          <p:cNvPr id="79" name="Google Shape;79;p14"/>
          <p:cNvSpPr txBox="1"/>
          <p:nvPr/>
        </p:nvSpPr>
        <p:spPr>
          <a:xfrm>
            <a:off x="299076" y="5014972"/>
            <a:ext cx="8751300" cy="146164"/>
          </a:xfrm>
          <a:prstGeom prst="rect">
            <a:avLst/>
          </a:prstGeom>
          <a:noFill/>
          <a:ln cap="flat" cmpd="sng" w="9525">
            <a:solidFill>
              <a:srgbClr val="E9F0F5"/>
            </a:solidFill>
            <a:prstDash val="solid"/>
            <a:round/>
            <a:headEnd len="sm" w="sm" type="none"/>
            <a:tailEnd len="sm" w="sm" type="none"/>
          </a:ln>
        </p:spPr>
        <p:txBody>
          <a:bodyPr anchorCtr="1" anchor="ctr" bIns="34275" lIns="68575" spcFirstLastPara="1" rIns="68575" wrap="square" tIns="34275">
            <a:spAutoFit/>
          </a:bodyPr>
          <a:lstStyle/>
          <a:p>
            <a:pPr indent="0" lvl="0" marL="0" marR="0" rtl="0" algn="ctr">
              <a:lnSpc>
                <a:spcPct val="100000"/>
              </a:lnSpc>
              <a:spcBef>
                <a:spcPts val="0"/>
              </a:spcBef>
              <a:spcAft>
                <a:spcPts val="0"/>
              </a:spcAft>
              <a:buClr>
                <a:schemeClr val="dk1"/>
              </a:buClr>
              <a:buSzPts val="500"/>
              <a:buFont typeface="Arial"/>
              <a:buNone/>
            </a:pPr>
            <a:r>
              <a:rPr lang="en-US" sz="500">
                <a:solidFill>
                  <a:srgbClr val="FFFFFF"/>
                </a:solidFill>
                <a:latin typeface="Calibri"/>
                <a:ea typeface="Calibri"/>
                <a:cs typeface="Calibri"/>
                <a:sym typeface="Calibri"/>
              </a:rPr>
              <a:t>Inventory Management 26A - Confidential</a:t>
            </a:r>
            <a:endParaRPr b="0" i="0" sz="500" u="none" cap="none" strike="noStrike">
              <a:solidFill>
                <a:srgbClr val="FFFFFF"/>
              </a:solidFill>
              <a:latin typeface="Calibri"/>
              <a:ea typeface="Calibri"/>
              <a:cs typeface="Calibri"/>
              <a:sym typeface="Calibri"/>
            </a:endParaRPr>
          </a:p>
        </p:txBody>
      </p:sp>
      <p:sp>
        <p:nvSpPr>
          <p:cNvPr id="80" name="Google Shape;80;p14"/>
          <p:cNvSpPr/>
          <p:nvPr/>
        </p:nvSpPr>
        <p:spPr>
          <a:xfrm>
            <a:off x="-94" y="-20538"/>
            <a:ext cx="9144000" cy="1122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81" name="Google Shape;81;p14"/>
          <p:cNvSpPr/>
          <p:nvPr/>
        </p:nvSpPr>
        <p:spPr>
          <a:xfrm>
            <a:off x="961" y="87474"/>
            <a:ext cx="9144000" cy="204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pic>
        <p:nvPicPr>
          <p:cNvPr id="82" name="Google Shape;82;p14"/>
          <p:cNvPicPr preferRelativeResize="0"/>
          <p:nvPr/>
        </p:nvPicPr>
        <p:blipFill rotWithShape="1">
          <a:blip r:embed="rId2">
            <a:alphaModFix/>
          </a:blip>
          <a:srcRect b="0" l="0" r="0" t="0"/>
          <a:stretch/>
        </p:blipFill>
        <p:spPr>
          <a:xfrm>
            <a:off x="7554526" y="177100"/>
            <a:ext cx="1493900" cy="334175"/>
          </a:xfrm>
          <a:prstGeom prst="rect">
            <a:avLst/>
          </a:prstGeom>
          <a:noFill/>
          <a:ln>
            <a:noFill/>
          </a:ln>
        </p:spPr>
      </p:pic>
      <p:sp>
        <p:nvSpPr>
          <p:cNvPr id="83" name="Google Shape;83;p14"/>
          <p:cNvSpPr txBox="1"/>
          <p:nvPr/>
        </p:nvSpPr>
        <p:spPr>
          <a:xfrm>
            <a:off x="8299223" y="5002825"/>
            <a:ext cx="702300" cy="1716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US" sz="500" u="none" cap="none" strike="noStrike">
                <a:solidFill>
                  <a:srgbClr val="FFFFFF"/>
                </a:solidFill>
                <a:latin typeface="Calibri"/>
                <a:ea typeface="Calibri"/>
                <a:cs typeface="Calibri"/>
                <a:sym typeface="Calibri"/>
              </a:rPr>
              <a:t>‹#›</a:t>
            </a:fld>
            <a:endParaRPr b="0" i="0" sz="500" u="none" cap="none" strike="noStrike">
              <a:solidFill>
                <a:srgbClr val="FFFFFF"/>
              </a:solidFill>
              <a:latin typeface="Calibri"/>
              <a:ea typeface="Calibri"/>
              <a:cs typeface="Calibri"/>
              <a:sym typeface="Calibri"/>
            </a:endParaRPr>
          </a:p>
        </p:txBody>
      </p:sp>
      <p:pic>
        <p:nvPicPr>
          <p:cNvPr id="84" name="Google Shape;84;p14"/>
          <p:cNvPicPr preferRelativeResize="0"/>
          <p:nvPr/>
        </p:nvPicPr>
        <p:blipFill rotWithShape="1">
          <a:blip r:embed="rId3">
            <a:alphaModFix/>
          </a:blip>
          <a:srcRect b="0" l="0" r="0" t="0"/>
          <a:stretch/>
        </p:blipFill>
        <p:spPr>
          <a:xfrm>
            <a:off x="4248957" y="4680825"/>
            <a:ext cx="646087" cy="3341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5" name="Shape 85"/>
        <p:cNvGrpSpPr/>
        <p:nvPr/>
      </p:nvGrpSpPr>
      <p:grpSpPr>
        <a:xfrm>
          <a:off x="0" y="0"/>
          <a:ext cx="0" cy="0"/>
          <a:chOff x="0" y="0"/>
          <a:chExt cx="0" cy="0"/>
        </a:xfrm>
      </p:grpSpPr>
      <p:sp>
        <p:nvSpPr>
          <p:cNvPr id="86" name="Google Shape;86;p15"/>
          <p:cNvSpPr txBox="1"/>
          <p:nvPr>
            <p:ph idx="1" type="body"/>
          </p:nvPr>
        </p:nvSpPr>
        <p:spPr>
          <a:xfrm>
            <a:off x="57125" y="1356400"/>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grpSp>
        <p:nvGrpSpPr>
          <p:cNvPr id="87" name="Google Shape;87;p15"/>
          <p:cNvGrpSpPr/>
          <p:nvPr/>
        </p:nvGrpSpPr>
        <p:grpSpPr>
          <a:xfrm>
            <a:off x="-18650" y="5035453"/>
            <a:ext cx="9161067" cy="112275"/>
            <a:chOff x="-24862" y="6713936"/>
            <a:chExt cx="12211500" cy="149700"/>
          </a:xfrm>
        </p:grpSpPr>
        <p:sp>
          <p:nvSpPr>
            <p:cNvPr id="88" name="Google Shape;88;p15"/>
            <p:cNvSpPr/>
            <p:nvPr/>
          </p:nvSpPr>
          <p:spPr>
            <a:xfrm>
              <a:off x="-24862" y="6713936"/>
              <a:ext cx="12211500" cy="1497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89" name="Google Shape;89;p15"/>
            <p:cNvSpPr/>
            <p:nvPr/>
          </p:nvSpPr>
          <p:spPr>
            <a:xfrm>
              <a:off x="-24862" y="6713936"/>
              <a:ext cx="12189000" cy="273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grpSp>
      <p:sp>
        <p:nvSpPr>
          <p:cNvPr id="90" name="Google Shape;90;p15"/>
          <p:cNvSpPr/>
          <p:nvPr/>
        </p:nvSpPr>
        <p:spPr>
          <a:xfrm>
            <a:off x="-1678" y="1216382"/>
            <a:ext cx="9144000" cy="8856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91" name="Google Shape;91;p15"/>
          <p:cNvSpPr txBox="1"/>
          <p:nvPr/>
        </p:nvSpPr>
        <p:spPr>
          <a:xfrm>
            <a:off x="0" y="1215847"/>
            <a:ext cx="9253200" cy="886200"/>
          </a:xfrm>
          <a:prstGeom prst="rect">
            <a:avLst/>
          </a:prstGeom>
          <a:noFill/>
          <a:ln>
            <a:noFill/>
          </a:ln>
        </p:spPr>
        <p:txBody>
          <a:bodyPr anchorCtr="0" anchor="ctr" bIns="34275" lIns="68575" spcFirstLastPara="1" rIns="68575" wrap="square" tIns="34275">
            <a:normAutofit/>
          </a:bodyPr>
          <a:lstStyle/>
          <a:p>
            <a:pPr indent="0" lvl="0" marL="0" marR="0" rtl="0" algn="l">
              <a:lnSpc>
                <a:spcPct val="80000"/>
              </a:lnSpc>
              <a:spcBef>
                <a:spcPts val="0"/>
              </a:spcBef>
              <a:spcAft>
                <a:spcPts val="0"/>
              </a:spcAft>
              <a:buClr>
                <a:srgbClr val="000000"/>
              </a:buClr>
              <a:buSzPts val="2000"/>
              <a:buFont typeface="Arial"/>
              <a:buNone/>
            </a:pPr>
            <a:r>
              <a:t/>
            </a:r>
            <a:endParaRPr b="1" i="0" sz="2000" u="none" cap="none" strike="noStrike">
              <a:solidFill>
                <a:srgbClr val="FFFFFF"/>
              </a:solidFill>
              <a:latin typeface="Calibri"/>
              <a:ea typeface="Calibri"/>
              <a:cs typeface="Calibri"/>
              <a:sym typeface="Calibri"/>
            </a:endParaRPr>
          </a:p>
        </p:txBody>
      </p:sp>
      <p:sp>
        <p:nvSpPr>
          <p:cNvPr id="92" name="Google Shape;92;p15"/>
          <p:cNvSpPr/>
          <p:nvPr/>
        </p:nvSpPr>
        <p:spPr>
          <a:xfrm>
            <a:off x="-94" y="-20538"/>
            <a:ext cx="9144000" cy="1122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93" name="Google Shape;93;p15"/>
          <p:cNvSpPr/>
          <p:nvPr/>
        </p:nvSpPr>
        <p:spPr>
          <a:xfrm>
            <a:off x="961" y="87474"/>
            <a:ext cx="9144000" cy="204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pic>
        <p:nvPicPr>
          <p:cNvPr id="94" name="Google Shape;94;p15"/>
          <p:cNvPicPr preferRelativeResize="0"/>
          <p:nvPr/>
        </p:nvPicPr>
        <p:blipFill rotWithShape="1">
          <a:blip r:embed="rId2">
            <a:alphaModFix/>
          </a:blip>
          <a:srcRect b="0" l="0" r="0" t="0"/>
          <a:stretch/>
        </p:blipFill>
        <p:spPr>
          <a:xfrm>
            <a:off x="7554526" y="177100"/>
            <a:ext cx="1493900" cy="334175"/>
          </a:xfrm>
          <a:prstGeom prst="rect">
            <a:avLst/>
          </a:prstGeom>
          <a:noFill/>
          <a:ln>
            <a:noFill/>
          </a:ln>
        </p:spPr>
      </p:pic>
      <p:pic>
        <p:nvPicPr>
          <p:cNvPr id="95" name="Google Shape;95;p15"/>
          <p:cNvPicPr preferRelativeResize="0"/>
          <p:nvPr/>
        </p:nvPicPr>
        <p:blipFill rotWithShape="1">
          <a:blip r:embed="rId3">
            <a:alphaModFix/>
          </a:blip>
          <a:srcRect b="0" l="0" r="0" t="0"/>
          <a:stretch/>
        </p:blipFill>
        <p:spPr>
          <a:xfrm>
            <a:off x="85676" y="177975"/>
            <a:ext cx="642611" cy="332400"/>
          </a:xfrm>
          <a:prstGeom prst="rect">
            <a:avLst/>
          </a:prstGeom>
          <a:noFill/>
          <a:ln>
            <a:noFill/>
          </a:ln>
        </p:spPr>
      </p:pic>
      <p:sp>
        <p:nvSpPr>
          <p:cNvPr id="96" name="Google Shape;96;p15"/>
          <p:cNvSpPr txBox="1"/>
          <p:nvPr/>
        </p:nvSpPr>
        <p:spPr>
          <a:xfrm>
            <a:off x="8299223" y="5002825"/>
            <a:ext cx="702300" cy="1716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US" sz="500" u="none" cap="none" strike="noStrike">
                <a:solidFill>
                  <a:srgbClr val="FFFFFF"/>
                </a:solidFill>
                <a:latin typeface="Calibri"/>
                <a:ea typeface="Calibri"/>
                <a:cs typeface="Calibri"/>
                <a:sym typeface="Calibri"/>
              </a:rPr>
              <a:t>‹#›</a:t>
            </a:fld>
            <a:endParaRPr b="0" i="0" sz="500" u="none" cap="none" strike="noStrike">
              <a:solidFill>
                <a:srgbClr val="FFFFFF"/>
              </a:solidFill>
              <a:latin typeface="Calibri"/>
              <a:ea typeface="Calibri"/>
              <a:cs typeface="Calibri"/>
              <a:sym typeface="Calibri"/>
            </a:endParaRPr>
          </a:p>
        </p:txBody>
      </p:sp>
      <p:sp>
        <p:nvSpPr>
          <p:cNvPr id="97" name="Google Shape;97;p15"/>
          <p:cNvSpPr txBox="1"/>
          <p:nvPr/>
        </p:nvSpPr>
        <p:spPr>
          <a:xfrm>
            <a:off x="299076" y="5014972"/>
            <a:ext cx="8751300" cy="146164"/>
          </a:xfrm>
          <a:prstGeom prst="rect">
            <a:avLst/>
          </a:prstGeom>
          <a:noFill/>
          <a:ln cap="flat" cmpd="sng" w="9525">
            <a:solidFill>
              <a:srgbClr val="E9F0F5"/>
            </a:solidFill>
            <a:prstDash val="solid"/>
            <a:round/>
            <a:headEnd len="sm" w="sm" type="none"/>
            <a:tailEnd len="sm" w="sm" type="none"/>
          </a:ln>
        </p:spPr>
        <p:txBody>
          <a:bodyPr anchorCtr="1" anchor="ctr" bIns="34275" lIns="68575" spcFirstLastPara="1" rIns="68575" wrap="square" tIns="34275">
            <a:spAutoFit/>
          </a:bodyPr>
          <a:lstStyle/>
          <a:p>
            <a:pPr indent="0" lvl="0" marL="0" marR="0" rtl="0" algn="ctr">
              <a:lnSpc>
                <a:spcPct val="100000"/>
              </a:lnSpc>
              <a:spcBef>
                <a:spcPts val="0"/>
              </a:spcBef>
              <a:spcAft>
                <a:spcPts val="0"/>
              </a:spcAft>
              <a:buClr>
                <a:schemeClr val="dk1"/>
              </a:buClr>
              <a:buSzPts val="500"/>
              <a:buFont typeface="Arial"/>
              <a:buNone/>
            </a:pPr>
            <a:r>
              <a:rPr b="0" i="0" lang="en-US" sz="500" u="none" cap="none" strike="noStrike">
                <a:solidFill>
                  <a:schemeClr val="lt1"/>
                </a:solidFill>
                <a:latin typeface="Calibri"/>
                <a:ea typeface="Calibri"/>
                <a:cs typeface="Calibri"/>
                <a:sym typeface="Calibri"/>
              </a:rPr>
              <a:t>Discovery Workshop#2 : Document Approval (PO) Workflow Redesign - Confidentiall</a:t>
            </a:r>
            <a:endParaRPr b="0" i="0" sz="5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8" name="Shape 98"/>
        <p:cNvGrpSpPr/>
        <p:nvPr/>
      </p:nvGrpSpPr>
      <p:grpSpPr>
        <a:xfrm>
          <a:off x="0" y="0"/>
          <a:ext cx="0" cy="0"/>
          <a:chOff x="0" y="0"/>
          <a:chExt cx="0" cy="0"/>
        </a:xfrm>
      </p:grpSpPr>
      <p:sp>
        <p:nvSpPr>
          <p:cNvPr id="99" name="Google Shape;99;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0" name="Google Shape;100;p1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1" name="Google Shape;101;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1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4" name="Google Shape;10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5" name="Shape 105"/>
        <p:cNvGrpSpPr/>
        <p:nvPr/>
      </p:nvGrpSpPr>
      <p:grpSpPr>
        <a:xfrm>
          <a:off x="0" y="0"/>
          <a:ext cx="0" cy="0"/>
          <a:chOff x="0" y="0"/>
          <a:chExt cx="0" cy="0"/>
        </a:xfrm>
      </p:grpSpPr>
      <p:sp>
        <p:nvSpPr>
          <p:cNvPr id="106" name="Google Shape;10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7" name="Google Shape;107;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8" name="Google Shape;108;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9" name="Shape 109"/>
        <p:cNvGrpSpPr/>
        <p:nvPr/>
      </p:nvGrpSpPr>
      <p:grpSpPr>
        <a:xfrm>
          <a:off x="0" y="0"/>
          <a:ext cx="0" cy="0"/>
          <a:chOff x="0" y="0"/>
          <a:chExt cx="0" cy="0"/>
        </a:xfrm>
      </p:grpSpPr>
      <p:sp>
        <p:nvSpPr>
          <p:cNvPr id="110" name="Google Shape;110;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 name="Google Shape;111;p1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2" name="Google Shape;112;p1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3" name="Google Shape;113;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4" name="Shape 114"/>
        <p:cNvGrpSpPr/>
        <p:nvPr/>
      </p:nvGrpSpPr>
      <p:grpSpPr>
        <a:xfrm>
          <a:off x="0" y="0"/>
          <a:ext cx="0" cy="0"/>
          <a:chOff x="0" y="0"/>
          <a:chExt cx="0" cy="0"/>
        </a:xfrm>
      </p:grpSpPr>
      <p:sp>
        <p:nvSpPr>
          <p:cNvPr id="115" name="Google Shape;115;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6" name="Google Shape;116;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9" name="Google Shape;119;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20" name="Google Shape;12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121" name="Shape 121"/>
        <p:cNvGrpSpPr/>
        <p:nvPr/>
      </p:nvGrpSpPr>
      <p:grpSpPr>
        <a:xfrm>
          <a:off x="0" y="0"/>
          <a:ext cx="0" cy="0"/>
          <a:chOff x="0" y="0"/>
          <a:chExt cx="0" cy="0"/>
        </a:xfrm>
      </p:grpSpPr>
      <p:sp>
        <p:nvSpPr>
          <p:cNvPr id="122" name="Google Shape;122;p2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3" name="Google Shape;12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24" name="Shape 124"/>
        <p:cNvGrpSpPr/>
        <p:nvPr/>
      </p:nvGrpSpPr>
      <p:grpSpPr>
        <a:xfrm>
          <a:off x="0" y="0"/>
          <a:ext cx="0" cy="0"/>
          <a:chOff x="0" y="0"/>
          <a:chExt cx="0" cy="0"/>
        </a:xfrm>
      </p:grpSpPr>
      <p:sp>
        <p:nvSpPr>
          <p:cNvPr id="125" name="Google Shape;125;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27" name="Google Shape;127;p2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8" name="Google Shape;128;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9" name="Google Shape;129;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30" name="Shape 130"/>
        <p:cNvGrpSpPr/>
        <p:nvPr/>
      </p:nvGrpSpPr>
      <p:grpSpPr>
        <a:xfrm>
          <a:off x="0" y="0"/>
          <a:ext cx="0" cy="0"/>
          <a:chOff x="0" y="0"/>
          <a:chExt cx="0" cy="0"/>
        </a:xfrm>
      </p:grpSpPr>
      <p:sp>
        <p:nvSpPr>
          <p:cNvPr id="131" name="Google Shape;131;p24"/>
          <p:cNvSpPr txBox="1"/>
          <p:nvPr>
            <p:ph idx="12" type="sldNum"/>
          </p:nvPr>
        </p:nvSpPr>
        <p:spPr>
          <a:xfrm>
            <a:off x="8299223" y="5009628"/>
            <a:ext cx="702300" cy="1716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32" name="Google Shape;132;p24"/>
          <p:cNvSpPr txBox="1"/>
          <p:nvPr>
            <p:ph idx="1" type="body"/>
          </p:nvPr>
        </p:nvSpPr>
        <p:spPr>
          <a:xfrm>
            <a:off x="277400" y="552400"/>
            <a:ext cx="8751300" cy="37359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0"/>
              </a:spcBef>
              <a:spcAft>
                <a:spcPts val="0"/>
              </a:spcAft>
              <a:buSzPts val="1100"/>
              <a:buChar char="▪"/>
              <a:defRPr/>
            </a:lvl1pPr>
            <a:lvl2pPr indent="-304800" lvl="1" marL="914400" algn="l">
              <a:lnSpc>
                <a:spcPct val="100000"/>
              </a:lnSpc>
              <a:spcBef>
                <a:spcPts val="0"/>
              </a:spcBef>
              <a:spcAft>
                <a:spcPts val="0"/>
              </a:spcAft>
              <a:buSzPts val="1200"/>
              <a:buChar char="⮚"/>
              <a:defRPr sz="1200"/>
            </a:lvl2pPr>
            <a:lvl3pPr indent="-279400" lvl="2" marL="1371600" algn="l">
              <a:lnSpc>
                <a:spcPct val="100000"/>
              </a:lnSpc>
              <a:spcBef>
                <a:spcPts val="0"/>
              </a:spcBef>
              <a:spcAft>
                <a:spcPts val="0"/>
              </a:spcAft>
              <a:buSzPts val="800"/>
              <a:buChar char="❖"/>
              <a:defRPr sz="1100"/>
            </a:lvl3pPr>
            <a:lvl4pPr indent="-317500" lvl="3" marL="1828800" algn="l">
              <a:lnSpc>
                <a:spcPct val="100000"/>
              </a:lnSpc>
              <a:spcBef>
                <a:spcPts val="0"/>
              </a:spcBef>
              <a:spcAft>
                <a:spcPts val="0"/>
              </a:spcAft>
              <a:buSzPts val="1400"/>
              <a:buChar char="o"/>
              <a:defRPr/>
            </a:lvl4pPr>
            <a:lvl5pPr indent="-298450" lvl="4" marL="2286000" algn="l">
              <a:lnSpc>
                <a:spcPct val="100000"/>
              </a:lnSpc>
              <a:spcBef>
                <a:spcPts val="0"/>
              </a:spcBef>
              <a:spcAft>
                <a:spcPts val="0"/>
              </a:spcAft>
              <a:buSzPts val="1100"/>
              <a:buChar char="▪"/>
              <a:defRPr/>
            </a:lvl5pPr>
            <a:lvl6pPr indent="-317500" lvl="5" marL="2743200" algn="l">
              <a:lnSpc>
                <a:spcPct val="90000"/>
              </a:lnSpc>
              <a:spcBef>
                <a:spcPts val="500"/>
              </a:spcBef>
              <a:spcAft>
                <a:spcPts val="0"/>
              </a:spcAft>
              <a:buSzPts val="1400"/>
              <a:buChar char="–"/>
              <a:defRPr/>
            </a:lvl6pPr>
            <a:lvl7pPr indent="-298450" lvl="6" marL="3200400" algn="l">
              <a:lnSpc>
                <a:spcPct val="90000"/>
              </a:lnSpc>
              <a:spcBef>
                <a:spcPts val="500"/>
              </a:spcBef>
              <a:spcAft>
                <a:spcPts val="0"/>
              </a:spcAft>
              <a:buSzPts val="1100"/>
              <a:buChar char="▪"/>
              <a:defRPr/>
            </a:lvl7pPr>
            <a:lvl8pPr indent="-317500" lvl="7" marL="3657600" algn="l">
              <a:lnSpc>
                <a:spcPct val="90000"/>
              </a:lnSpc>
              <a:spcBef>
                <a:spcPts val="500"/>
              </a:spcBef>
              <a:spcAft>
                <a:spcPts val="0"/>
              </a:spcAft>
              <a:buSzPts val="1400"/>
              <a:buChar char="–"/>
              <a:defRPr/>
            </a:lvl8pPr>
            <a:lvl9pPr indent="-298450" lvl="8" marL="4114800" algn="l">
              <a:lnSpc>
                <a:spcPct val="90000"/>
              </a:lnSpc>
              <a:spcBef>
                <a:spcPts val="500"/>
              </a:spcBef>
              <a:spcAft>
                <a:spcPts val="0"/>
              </a:spcAft>
              <a:buSzPts val="1100"/>
              <a:buChar char="▪"/>
              <a:defRPr/>
            </a:lvl9pPr>
          </a:lstStyle>
          <a:p/>
        </p:txBody>
      </p:sp>
      <p:sp>
        <p:nvSpPr>
          <p:cNvPr id="133" name="Google Shape;133;p24"/>
          <p:cNvSpPr txBox="1"/>
          <p:nvPr>
            <p:ph type="title"/>
          </p:nvPr>
        </p:nvSpPr>
        <p:spPr>
          <a:xfrm>
            <a:off x="250393" y="187170"/>
            <a:ext cx="8805300" cy="3324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002060"/>
              </a:buClr>
              <a:buSzPts val="1800"/>
              <a:buFont typeface="Calibri"/>
              <a:buNone/>
              <a:defRPr b="1" sz="18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4" name="Google Shape;134;p24"/>
          <p:cNvSpPr txBox="1"/>
          <p:nvPr/>
        </p:nvSpPr>
        <p:spPr>
          <a:xfrm>
            <a:off x="304417" y="5014972"/>
            <a:ext cx="8751300" cy="146164"/>
          </a:xfrm>
          <a:prstGeom prst="rect">
            <a:avLst/>
          </a:prstGeom>
          <a:noFill/>
          <a:ln cap="flat" cmpd="sng" w="9525">
            <a:solidFill>
              <a:srgbClr val="E9F0F5"/>
            </a:solidFill>
            <a:prstDash val="solid"/>
            <a:round/>
            <a:headEnd len="sm" w="sm" type="none"/>
            <a:tailEnd len="sm" w="sm" type="none"/>
          </a:ln>
        </p:spPr>
        <p:txBody>
          <a:bodyPr anchorCtr="1" anchor="ctr" bIns="34275" lIns="68575" spcFirstLastPara="1" rIns="68575" wrap="square" tIns="34275">
            <a:spAutoFit/>
          </a:bodyPr>
          <a:lstStyle/>
          <a:p>
            <a:pPr indent="0" lvl="0" marL="0" marR="0" rtl="0" algn="l">
              <a:lnSpc>
                <a:spcPct val="100000"/>
              </a:lnSpc>
              <a:spcBef>
                <a:spcPts val="0"/>
              </a:spcBef>
              <a:spcAft>
                <a:spcPts val="0"/>
              </a:spcAft>
              <a:buClr>
                <a:srgbClr val="000000"/>
              </a:buClr>
              <a:buSzPts val="500"/>
              <a:buFont typeface="Arial"/>
              <a:buNone/>
            </a:pPr>
            <a:r>
              <a:rPr b="0" i="0" lang="en-US" sz="500" u="none" cap="none" strike="noStrike">
                <a:solidFill>
                  <a:schemeClr val="lt1"/>
                </a:solidFill>
                <a:latin typeface="Calibri"/>
                <a:ea typeface="Calibri"/>
                <a:cs typeface="Calibri"/>
                <a:sym typeface="Calibri"/>
              </a:rPr>
              <a:t>TID: Kick-Off SCM Oracle Cloud Stabilization - Confidential</a:t>
            </a:r>
            <a:endParaRPr b="0" i="0" sz="500" u="none" cap="none" strike="noStrike">
              <a:solidFill>
                <a:schemeClr val="lt1"/>
              </a:solidFill>
              <a:latin typeface="Calibri"/>
              <a:ea typeface="Calibri"/>
              <a:cs typeface="Calibri"/>
              <a:sym typeface="Calibri"/>
            </a:endParaRPr>
          </a:p>
        </p:txBody>
      </p:sp>
      <p:pic>
        <p:nvPicPr>
          <p:cNvPr id="135" name="Google Shape;135;p24"/>
          <p:cNvPicPr preferRelativeResize="0"/>
          <p:nvPr/>
        </p:nvPicPr>
        <p:blipFill rotWithShape="1">
          <a:blip r:embed="rId2">
            <a:alphaModFix/>
          </a:blip>
          <a:srcRect b="0" l="0" r="0" t="0"/>
          <a:stretch/>
        </p:blipFill>
        <p:spPr>
          <a:xfrm>
            <a:off x="7554526" y="177100"/>
            <a:ext cx="1493900" cy="334175"/>
          </a:xfrm>
          <a:prstGeom prst="rect">
            <a:avLst/>
          </a:prstGeom>
          <a:noFill/>
          <a:ln>
            <a:noFill/>
          </a:ln>
        </p:spPr>
      </p:pic>
      <p:pic>
        <p:nvPicPr>
          <p:cNvPr id="136" name="Google Shape;136;p24"/>
          <p:cNvPicPr preferRelativeResize="0"/>
          <p:nvPr/>
        </p:nvPicPr>
        <p:blipFill rotWithShape="1">
          <a:blip r:embed="rId3">
            <a:alphaModFix/>
          </a:blip>
          <a:srcRect b="0" l="0" r="0" t="0"/>
          <a:stretch/>
        </p:blipFill>
        <p:spPr>
          <a:xfrm>
            <a:off x="4248957" y="4680825"/>
            <a:ext cx="646087" cy="334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 name="Shape 71"/>
        <p:cNvGrpSpPr/>
        <p:nvPr/>
      </p:nvGrpSpPr>
      <p:grpSpPr>
        <a:xfrm>
          <a:off x="0" y="0"/>
          <a:ext cx="0" cy="0"/>
          <a:chOff x="0" y="0"/>
          <a:chExt cx="0" cy="0"/>
        </a:xfrm>
      </p:grpSpPr>
      <p:sp>
        <p:nvSpPr>
          <p:cNvPr id="72" name="Google Shape;72;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3" name="Google Shape;73;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74" name="Google Shape;74;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hyperlink" Target="https://docs.oracle.com/en/cloud/saas/readiness/scm/26a/inv26a/26A-inventory-wn-f42443.htm" TargetMode="External"/><Relationship Id="rId4" Type="http://schemas.openxmlformats.org/officeDocument/2006/relationships/hyperlink" Target="https://docs.oracle.com/en/cloud/saas/readiness/scm/26a/inv26a/26A-inventory-wn-f42446.ht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hyperlink" Target="https://docs.oracle.com/en/cloud/saas/readiness/scm/26a/inv26a/26A-inventory-wn-f42448.ht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docs.oracle.com/en/cloud/saas/readiness/scm/26a/inv26a/26A-inventory-wn-f41417.htm" TargetMode="External"/><Relationship Id="rId4" Type="http://schemas.openxmlformats.org/officeDocument/2006/relationships/hyperlink" Target="https://docs.oracle.com/en/cloud/saas/readiness/scm/26a/inv26a/26A-inventory-wn-f41419.htm#Key-resource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docs.oracle.com/en/cloud/saas/readiness/scm/26a/inv26a/26A-inventory-wn-f41420.htm" TargetMode="External"/><Relationship Id="rId4" Type="http://schemas.openxmlformats.org/officeDocument/2006/relationships/hyperlink" Target="https://docs.oracle.com/en/cloud/saas/readiness/scm/26a/inv26a/26A-inventory-wn-f41423.ht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docs.oracle.com/en/cloud/saas/readiness/scm/26a/inv26a/26A-inventory-wn-f41425.htm" TargetMode="External"/><Relationship Id="rId4" Type="http://schemas.openxmlformats.org/officeDocument/2006/relationships/hyperlink" Target="https://docs.oracle.com/en/cloud/saas/readiness/scm/26a/inv26a/26A-inventory-wn-f41426.ht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docs.oracle.com/en/cloud/saas/readiness/scm/26a/inv26a/26A-inventory-wn-f41427.htm" TargetMode="External"/><Relationship Id="rId4" Type="http://schemas.openxmlformats.org/officeDocument/2006/relationships/hyperlink" Target="https://docs.oracle.com/en/cloud/saas/readiness/scm/26a/inv26a/26A-inventory-wn-f41700.ht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docs.oracle.com/en/cloud/saas/readiness/scm/26a/inv26a/26A-inventory-wn-f41431.ht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docs.oracle.com/en/cloud/saas/readiness/scm/26a/inv26a/26A-inventory-wn-f41432.htm" TargetMode="External"/><Relationship Id="rId4" Type="http://schemas.openxmlformats.org/officeDocument/2006/relationships/hyperlink" Target="https://docs.oracle.com/en/cloud/saas/readiness/scm/26a/inv26a/26A-inventory-wn-f41430.ht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docs.oracle.com/en/cloud/saas/readiness/scm/26a/inv26a/26A-inventory-wn-f42386.htm" TargetMode="External"/><Relationship Id="rId4" Type="http://schemas.openxmlformats.org/officeDocument/2006/relationships/hyperlink" Target="https://docs.oracle.com/en/cloud/saas/readiness/scm/26a/inv26a/26A-inventory-wn-f41418.ht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docs.oracle.com/en/cloud/saas/readiness/scm/26a/inv26a/26A-inventory-wn-f41704.ht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docs.oracle.com/en/cloud/saas/readiness/scm/26a/inv26a/26A-inventory-wn-f41414.htm" TargetMode="External"/><Relationship Id="rId4" Type="http://schemas.openxmlformats.org/officeDocument/2006/relationships/hyperlink" Target="https://docs.oracle.com/en/cloud/saas/readiness/scm/26a/inv26a/26A-inventory-wn-f41415.htm" TargetMode="External"/><Relationship Id="rId5" Type="http://schemas.openxmlformats.org/officeDocument/2006/relationships/hyperlink" Target="https://docs.oracle.com/en/cloud/saas/readiness/scm/26a/inv26a/26A-inventory-wn-f41416.ht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docs.oracle.com/en/cloud/saas/readiness/scm/26a/inv26a/26A-inventory-wn-f41424.htm" TargetMode="External"/><Relationship Id="rId4" Type="http://schemas.openxmlformats.org/officeDocument/2006/relationships/hyperlink" Target="https://docs.oracle.com/en/cloud/saas/readiness/scm/26a/inv26a/26A-inventory-wn-f41433.htm" TargetMode="External"/><Relationship Id="rId5" Type="http://schemas.openxmlformats.org/officeDocument/2006/relationships/hyperlink" Target="https://docs.oracle.com/en/cloud/saas/readiness/scm/26a/inv26a/26A-inventory-wn-f41429.ht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docs.oracle.com/en/cloud/saas/readiness/scm/26a/inv26a/26A-inventory-wn-f42384.htm" TargetMode="External"/><Relationship Id="rId4" Type="http://schemas.openxmlformats.org/officeDocument/2006/relationships/hyperlink" Target="https://docs.oracle.com/en/cloud/saas/readiness/scm/26a/inv26a/26A-inventory-wn-f41422.ht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nvSpPr>
        <p:spPr>
          <a:xfrm>
            <a:off x="5323" y="1226500"/>
            <a:ext cx="9144000" cy="886200"/>
          </a:xfrm>
          <a:prstGeom prst="rect">
            <a:avLst/>
          </a:prstGeom>
          <a:noFill/>
          <a:ln>
            <a:noFill/>
          </a:ln>
        </p:spPr>
        <p:txBody>
          <a:bodyPr anchorCtr="0" anchor="ctr" bIns="45700" lIns="91425" spcFirstLastPara="1" rIns="91425" wrap="square" tIns="45700">
            <a:normAutofit/>
          </a:bodyPr>
          <a:lstStyle/>
          <a:p>
            <a:pPr indent="0" lvl="0" marL="179999" marR="0" rtl="0" algn="l">
              <a:lnSpc>
                <a:spcPct val="80000"/>
              </a:lnSpc>
              <a:spcBef>
                <a:spcPts val="0"/>
              </a:spcBef>
              <a:spcAft>
                <a:spcPts val="0"/>
              </a:spcAft>
              <a:buClr>
                <a:srgbClr val="000000"/>
              </a:buClr>
              <a:buSzPts val="1400"/>
              <a:buFont typeface="Arial"/>
              <a:buNone/>
            </a:pPr>
            <a:r>
              <a:rPr b="1" lang="en-US">
                <a:solidFill>
                  <a:schemeClr val="lt1"/>
                </a:solidFill>
                <a:latin typeface="Calibri"/>
                <a:ea typeface="Calibri"/>
                <a:cs typeface="Calibri"/>
                <a:sym typeface="Calibri"/>
              </a:rPr>
              <a:t>Turlock Irrigation District : 26A Oracle Upgrades</a:t>
            </a:r>
            <a:br>
              <a:rPr b="1" i="0" lang="en-US" sz="1400" u="none" cap="none" strike="noStrike">
                <a:solidFill>
                  <a:srgbClr val="FFFFFF"/>
                </a:solidFill>
                <a:latin typeface="Calibri"/>
                <a:ea typeface="Calibri"/>
                <a:cs typeface="Calibri"/>
                <a:sym typeface="Calibri"/>
              </a:rPr>
            </a:br>
            <a:br>
              <a:rPr b="1" i="0" lang="en-US" sz="1400" u="none" cap="none" strike="noStrike">
                <a:solidFill>
                  <a:srgbClr val="FFFFFF"/>
                </a:solidFill>
                <a:latin typeface="Calibri"/>
                <a:ea typeface="Calibri"/>
                <a:cs typeface="Calibri"/>
                <a:sym typeface="Calibri"/>
              </a:rPr>
            </a:br>
            <a:r>
              <a:rPr b="1" i="0" lang="en-US" sz="2800" u="none" cap="none" strike="noStrike">
                <a:solidFill>
                  <a:srgbClr val="FFFFFF"/>
                </a:solidFill>
                <a:latin typeface="Calibri"/>
                <a:ea typeface="Calibri"/>
                <a:cs typeface="Calibri"/>
                <a:sym typeface="Calibri"/>
              </a:rPr>
              <a:t>Oracle Fusion Cloud Inventory Management</a:t>
            </a:r>
            <a:endParaRPr b="1" i="0" sz="1400" u="none" cap="none" strike="noStrike">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nvSpPr>
        <p:spPr>
          <a:xfrm>
            <a:off x="485100" y="543750"/>
            <a:ext cx="8385600" cy="4035300"/>
          </a:xfrm>
          <a:prstGeom prst="rect">
            <a:avLst/>
          </a:prstGeom>
          <a:noFill/>
          <a:ln>
            <a:noFill/>
          </a:ln>
        </p:spPr>
        <p:txBody>
          <a:bodyPr anchorCtr="0" anchor="t" bIns="0" lIns="0" spcFirstLastPara="1" rIns="0" wrap="square" tIns="0">
            <a:noAutofit/>
          </a:bodyPr>
          <a:lstStyle/>
          <a:p>
            <a:pPr indent="-317491" lvl="0" marL="457189" marR="0" rtl="0" algn="l">
              <a:lnSpc>
                <a:spcPct val="100000"/>
              </a:lnSpc>
              <a:spcBef>
                <a:spcPts val="0"/>
              </a:spcBef>
              <a:spcAft>
                <a:spcPts val="0"/>
              </a:spcAft>
              <a:buSzPts val="1400"/>
              <a:buFont typeface="Calibri"/>
              <a:buChar char="●"/>
            </a:pPr>
            <a:r>
              <a:rPr lang="en-US" sz="900">
                <a:solidFill>
                  <a:srgbClr val="161513"/>
                </a:solidFill>
                <a:latin typeface="Calibri"/>
                <a:ea typeface="Calibri"/>
                <a:cs typeface="Calibri"/>
                <a:sym typeface="Calibri"/>
              </a:rPr>
              <a:t>Read Subinventory Descriptions in Your Language</a:t>
            </a:r>
            <a:endParaRPr sz="900">
              <a:solidFill>
                <a:srgbClr val="161513"/>
              </a:solidFill>
              <a:latin typeface="Calibri"/>
              <a:ea typeface="Calibri"/>
              <a:cs typeface="Calibri"/>
              <a:sym typeface="Calibri"/>
            </a:endParaRPr>
          </a:p>
          <a:p>
            <a:pPr indent="-317491" lvl="0" marL="457189" marR="0" rtl="0" algn="l">
              <a:lnSpc>
                <a:spcPct val="100000"/>
              </a:lnSpc>
              <a:spcBef>
                <a:spcPts val="0"/>
              </a:spcBef>
              <a:spcAft>
                <a:spcPts val="0"/>
              </a:spcAft>
              <a:buSzPts val="1400"/>
              <a:buFont typeface="Calibri"/>
              <a:buChar char="●"/>
            </a:pPr>
            <a:r>
              <a:rPr lang="en-US" sz="900">
                <a:solidFill>
                  <a:srgbClr val="161513"/>
                </a:solidFill>
                <a:latin typeface="Calibri"/>
                <a:ea typeface="Calibri"/>
                <a:cs typeface="Calibri"/>
                <a:sym typeface="Calibri"/>
              </a:rPr>
              <a:t>Create Intraorganizational Transfer Requests Without Selecting Source Subinventory</a:t>
            </a:r>
            <a:endParaRPr sz="900">
              <a:solidFill>
                <a:srgbClr val="161513"/>
              </a:solidFill>
              <a:latin typeface="Calibri"/>
              <a:ea typeface="Calibri"/>
              <a:cs typeface="Calibri"/>
              <a:sym typeface="Calibri"/>
            </a:endParaRPr>
          </a:p>
          <a:p>
            <a:pPr indent="-317491" lvl="0" marL="457189" marR="0" rtl="0" algn="l">
              <a:lnSpc>
                <a:spcPct val="100000"/>
              </a:lnSpc>
              <a:spcBef>
                <a:spcPts val="0"/>
              </a:spcBef>
              <a:spcAft>
                <a:spcPts val="0"/>
              </a:spcAft>
              <a:buSzPts val="1400"/>
              <a:buFont typeface="Calibri"/>
              <a:buChar char="●"/>
            </a:pPr>
            <a:r>
              <a:rPr lang="en-US" sz="900">
                <a:solidFill>
                  <a:srgbClr val="161513"/>
                </a:solidFill>
                <a:latin typeface="Calibri"/>
                <a:ea typeface="Calibri"/>
                <a:cs typeface="Calibri"/>
                <a:sym typeface="Calibri"/>
              </a:rPr>
              <a:t>Use Direct Integrations Between Supply Chain Orchestration and Inventory</a:t>
            </a:r>
            <a:endParaRPr sz="900">
              <a:solidFill>
                <a:srgbClr val="161513"/>
              </a:solidFill>
              <a:latin typeface="Calibri"/>
              <a:ea typeface="Calibri"/>
              <a:cs typeface="Calibri"/>
              <a:sym typeface="Calibri"/>
            </a:endParaRPr>
          </a:p>
          <a:p>
            <a:pPr indent="-317491" lvl="0" marL="457189" marR="0" rtl="0" algn="l">
              <a:lnSpc>
                <a:spcPct val="100000"/>
              </a:lnSpc>
              <a:spcBef>
                <a:spcPts val="0"/>
              </a:spcBef>
              <a:spcAft>
                <a:spcPts val="0"/>
              </a:spcAft>
              <a:buSzPts val="1400"/>
              <a:buFont typeface="Calibri"/>
              <a:buChar char="●"/>
            </a:pPr>
            <a:r>
              <a:rPr lang="en-US" sz="900">
                <a:solidFill>
                  <a:srgbClr val="161513"/>
                </a:solidFill>
                <a:latin typeface="Calibri"/>
                <a:ea typeface="Calibri"/>
                <a:cs typeface="Calibri"/>
                <a:sym typeface="Calibri"/>
              </a:rPr>
              <a:t>Redwood: Purge Cycle Count Schedules for a Specific Cycle Count</a:t>
            </a:r>
            <a:endParaRPr sz="900">
              <a:solidFill>
                <a:srgbClr val="161513"/>
              </a:solidFill>
              <a:latin typeface="Calibri"/>
              <a:ea typeface="Calibri"/>
              <a:cs typeface="Calibri"/>
              <a:sym typeface="Calibri"/>
            </a:endParaRPr>
          </a:p>
          <a:p>
            <a:pPr indent="-317491" lvl="0" marL="457189" marR="0" rtl="0" algn="l">
              <a:lnSpc>
                <a:spcPct val="100000"/>
              </a:lnSpc>
              <a:spcBef>
                <a:spcPts val="0"/>
              </a:spcBef>
              <a:spcAft>
                <a:spcPts val="0"/>
              </a:spcAft>
              <a:buSzPts val="1400"/>
              <a:buFont typeface="Calibri"/>
              <a:buChar char="●"/>
            </a:pPr>
            <a:r>
              <a:rPr lang="en-US" sz="900">
                <a:solidFill>
                  <a:srgbClr val="161513"/>
                </a:solidFill>
                <a:latin typeface="Calibri"/>
                <a:ea typeface="Calibri"/>
                <a:cs typeface="Calibri"/>
                <a:sym typeface="Calibri"/>
              </a:rPr>
              <a:t>Redwood: View Shortages and Stockouts for Kanban Locations on the Item Shortages Page</a:t>
            </a:r>
            <a:endParaRPr sz="900">
              <a:solidFill>
                <a:srgbClr val="161513"/>
              </a:solidFill>
              <a:latin typeface="Calibri"/>
              <a:ea typeface="Calibri"/>
              <a:cs typeface="Calibri"/>
              <a:sym typeface="Calibri"/>
            </a:endParaRPr>
          </a:p>
          <a:p>
            <a:pPr indent="-317491" lvl="0" marL="457189" marR="0" rtl="0" algn="l">
              <a:lnSpc>
                <a:spcPct val="100000"/>
              </a:lnSpc>
              <a:spcBef>
                <a:spcPts val="0"/>
              </a:spcBef>
              <a:spcAft>
                <a:spcPts val="0"/>
              </a:spcAft>
              <a:buSzPts val="1400"/>
              <a:buFont typeface="Calibri"/>
              <a:buChar char="●"/>
            </a:pPr>
            <a:r>
              <a:rPr lang="en-US" sz="900">
                <a:solidFill>
                  <a:srgbClr val="161513"/>
                </a:solidFill>
                <a:latin typeface="Calibri"/>
                <a:ea typeface="Calibri"/>
                <a:cs typeface="Calibri"/>
                <a:sym typeface="Calibri"/>
              </a:rPr>
              <a:t>Redwood: View Item Description on the Item Quantities Page</a:t>
            </a:r>
            <a:endParaRPr sz="900">
              <a:solidFill>
                <a:srgbClr val="161513"/>
              </a:solidFill>
              <a:latin typeface="Calibri"/>
              <a:ea typeface="Calibri"/>
              <a:cs typeface="Calibri"/>
              <a:sym typeface="Calibri"/>
            </a:endParaRPr>
          </a:p>
          <a:p>
            <a:pPr indent="-317491" lvl="0" marL="457189" marR="0" rtl="0" algn="l">
              <a:lnSpc>
                <a:spcPct val="100000"/>
              </a:lnSpc>
              <a:spcBef>
                <a:spcPts val="0"/>
              </a:spcBef>
              <a:spcAft>
                <a:spcPts val="0"/>
              </a:spcAft>
              <a:buSzPts val="1400"/>
              <a:buFont typeface="Calibri"/>
              <a:buChar char="●"/>
            </a:pPr>
            <a:r>
              <a:rPr lang="en-US" sz="900">
                <a:solidFill>
                  <a:srgbClr val="161513"/>
                </a:solidFill>
                <a:latin typeface="Calibri"/>
                <a:ea typeface="Calibri"/>
                <a:cs typeface="Calibri"/>
                <a:sym typeface="Calibri"/>
              </a:rPr>
              <a:t>Redwood: Use Document Output Preferences for Label Printing</a:t>
            </a:r>
            <a:endParaRPr sz="900">
              <a:solidFill>
                <a:srgbClr val="161513"/>
              </a:solidFill>
              <a:latin typeface="Calibri"/>
              <a:ea typeface="Calibri"/>
              <a:cs typeface="Calibri"/>
              <a:sym typeface="Calibri"/>
            </a:endParaRPr>
          </a:p>
          <a:p>
            <a:pPr indent="-317491" lvl="0" marL="457189" marR="0" rtl="0" algn="l">
              <a:lnSpc>
                <a:spcPct val="100000"/>
              </a:lnSpc>
              <a:spcBef>
                <a:spcPts val="0"/>
              </a:spcBef>
              <a:spcAft>
                <a:spcPts val="0"/>
              </a:spcAft>
              <a:buSzPts val="1400"/>
              <a:buFont typeface="Calibri"/>
              <a:buChar char="●"/>
            </a:pPr>
            <a:r>
              <a:rPr lang="en-US" sz="900">
                <a:solidFill>
                  <a:srgbClr val="161513"/>
                </a:solidFill>
                <a:latin typeface="Calibri"/>
                <a:ea typeface="Calibri"/>
                <a:cs typeface="Calibri"/>
                <a:sym typeface="Calibri"/>
              </a:rPr>
              <a:t>Redwood: Release Pick Waves by Sales Order Type</a:t>
            </a:r>
            <a:endParaRPr b="0" i="0" sz="1400" u="none" cap="none" strike="noStrike">
              <a:solidFill>
                <a:srgbClr val="000000"/>
              </a:solidFill>
              <a:latin typeface="Calibri"/>
              <a:ea typeface="Calibri"/>
              <a:cs typeface="Calibri"/>
              <a:sym typeface="Calibri"/>
            </a:endParaRPr>
          </a:p>
          <a:p>
            <a:pPr indent="-317492" lvl="0" marL="457189" marR="0" rtl="0" algn="l">
              <a:lnSpc>
                <a:spcPct val="100000"/>
              </a:lnSpc>
              <a:spcBef>
                <a:spcPts val="0"/>
              </a:spcBef>
              <a:spcAft>
                <a:spcPts val="0"/>
              </a:spcAft>
              <a:buClr>
                <a:srgbClr val="000000"/>
              </a:buClr>
              <a:buSzPts val="1400"/>
              <a:buFont typeface="Calibri"/>
              <a:buChar char="●"/>
            </a:pPr>
            <a:r>
              <a:rPr b="0" i="0" lang="en-US" sz="900" u="none" cap="none" strike="noStrike">
                <a:solidFill>
                  <a:srgbClr val="000000"/>
                </a:solidFill>
                <a:latin typeface="Calibri"/>
                <a:ea typeface="Calibri"/>
                <a:cs typeface="Calibri"/>
                <a:sym typeface="Calibri"/>
              </a:rPr>
              <a:t>Redwood: Use Alternate Language Translations for Subinventories and Zones</a:t>
            </a:r>
            <a:endParaRPr b="0" i="0" sz="1400" u="none" cap="none" strike="noStrike">
              <a:solidFill>
                <a:srgbClr val="000000"/>
              </a:solidFill>
              <a:latin typeface="Calibri"/>
              <a:ea typeface="Calibri"/>
              <a:cs typeface="Calibri"/>
              <a:sym typeface="Calibri"/>
            </a:endParaRPr>
          </a:p>
          <a:p>
            <a:pPr indent="-317492" lvl="0" marL="457189" marR="0" rtl="0" algn="l">
              <a:lnSpc>
                <a:spcPct val="100000"/>
              </a:lnSpc>
              <a:spcBef>
                <a:spcPts val="0"/>
              </a:spcBef>
              <a:spcAft>
                <a:spcPts val="0"/>
              </a:spcAft>
              <a:buClr>
                <a:srgbClr val="000000"/>
              </a:buClr>
              <a:buSzPts val="1400"/>
              <a:buFont typeface="Calibri"/>
              <a:buChar char="●"/>
            </a:pPr>
            <a:r>
              <a:rPr b="0" i="0" lang="en-US" sz="900" u="none" cap="none" strike="noStrike">
                <a:solidFill>
                  <a:srgbClr val="000000"/>
                </a:solidFill>
                <a:latin typeface="Calibri"/>
                <a:ea typeface="Calibri"/>
                <a:cs typeface="Calibri"/>
                <a:sym typeface="Calibri"/>
              </a:rPr>
              <a:t>Redwood: Review Min-Max Quantities and PAR Levels Before Updating Current Values</a:t>
            </a:r>
            <a:endParaRPr b="0" i="0" sz="1400" u="none" cap="none" strike="noStrike">
              <a:solidFill>
                <a:srgbClr val="000000"/>
              </a:solidFill>
              <a:latin typeface="Calibri"/>
              <a:ea typeface="Calibri"/>
              <a:cs typeface="Calibri"/>
              <a:sym typeface="Calibri"/>
            </a:endParaRPr>
          </a:p>
          <a:p>
            <a:pPr indent="-317492" lvl="0" marL="457189" marR="0" rtl="0" algn="l">
              <a:lnSpc>
                <a:spcPct val="100000"/>
              </a:lnSpc>
              <a:spcBef>
                <a:spcPts val="0"/>
              </a:spcBef>
              <a:spcAft>
                <a:spcPts val="0"/>
              </a:spcAft>
              <a:buClr>
                <a:srgbClr val="000000"/>
              </a:buClr>
              <a:buSzPts val="1400"/>
              <a:buFont typeface="Calibri"/>
              <a:buChar char="●"/>
            </a:pPr>
            <a:r>
              <a:rPr b="0" i="0" lang="en-US" sz="900" u="none" cap="none" strike="noStrike">
                <a:solidFill>
                  <a:srgbClr val="000000"/>
                </a:solidFill>
                <a:latin typeface="Calibri"/>
                <a:ea typeface="Calibri"/>
                <a:cs typeface="Calibri"/>
                <a:sym typeface="Calibri"/>
              </a:rPr>
              <a:t>Redwood: Use Lot-Specific Unit of Measure Conversions</a:t>
            </a:r>
            <a:endParaRPr b="0" i="0" sz="1400" u="none" cap="none" strike="noStrike">
              <a:solidFill>
                <a:srgbClr val="000000"/>
              </a:solidFill>
              <a:latin typeface="Calibri"/>
              <a:ea typeface="Calibri"/>
              <a:cs typeface="Calibri"/>
              <a:sym typeface="Calibri"/>
            </a:endParaRPr>
          </a:p>
          <a:p>
            <a:pPr indent="-317492" lvl="0" marL="457189" marR="0" rtl="0" algn="l">
              <a:lnSpc>
                <a:spcPct val="100000"/>
              </a:lnSpc>
              <a:spcBef>
                <a:spcPts val="0"/>
              </a:spcBef>
              <a:spcAft>
                <a:spcPts val="0"/>
              </a:spcAft>
              <a:buClr>
                <a:srgbClr val="000000"/>
              </a:buClr>
              <a:buSzPts val="1400"/>
              <a:buFont typeface="Calibri"/>
              <a:buChar char="●"/>
            </a:pPr>
            <a:r>
              <a:rPr b="0" i="0" lang="en-US" sz="900" u="none" cap="none" strike="noStrike">
                <a:solidFill>
                  <a:srgbClr val="000000"/>
                </a:solidFill>
                <a:latin typeface="Calibri"/>
                <a:ea typeface="Calibri"/>
                <a:cs typeface="Calibri"/>
                <a:sym typeface="Calibri"/>
              </a:rPr>
              <a:t>Redwood: Capture Lot and Serial Numbers During Receiving Only</a:t>
            </a:r>
            <a:endParaRPr b="0" i="0" sz="1400" u="none" cap="none" strike="noStrike">
              <a:solidFill>
                <a:srgbClr val="000000"/>
              </a:solidFill>
              <a:latin typeface="Calibri"/>
              <a:ea typeface="Calibri"/>
              <a:cs typeface="Calibri"/>
              <a:sym typeface="Calibri"/>
            </a:endParaRPr>
          </a:p>
          <a:p>
            <a:pPr indent="-317492" lvl="0" marL="457189" marR="0" rtl="0" algn="l">
              <a:lnSpc>
                <a:spcPct val="100000"/>
              </a:lnSpc>
              <a:spcBef>
                <a:spcPts val="0"/>
              </a:spcBef>
              <a:spcAft>
                <a:spcPts val="0"/>
              </a:spcAft>
              <a:buClr>
                <a:srgbClr val="000000"/>
              </a:buClr>
              <a:buSzPts val="1400"/>
              <a:buFont typeface="Calibri"/>
              <a:buChar char="●"/>
            </a:pPr>
            <a:r>
              <a:rPr b="0" i="0" lang="en-US" sz="900" u="none" cap="none" strike="noStrike">
                <a:solidFill>
                  <a:srgbClr val="000000"/>
                </a:solidFill>
                <a:latin typeface="Calibri"/>
                <a:ea typeface="Calibri"/>
                <a:cs typeface="Calibri"/>
                <a:sym typeface="Calibri"/>
              </a:rPr>
              <a:t>Redwood: Configure Document Output Preferences for Receiving Documents</a:t>
            </a:r>
            <a:endParaRPr b="0" i="0" sz="1400" u="none" cap="none" strike="noStrike">
              <a:solidFill>
                <a:srgbClr val="000000"/>
              </a:solidFill>
              <a:latin typeface="Calibri"/>
              <a:ea typeface="Calibri"/>
              <a:cs typeface="Calibri"/>
              <a:sym typeface="Calibri"/>
            </a:endParaRPr>
          </a:p>
          <a:p>
            <a:pPr indent="-317492" lvl="0" marL="457189" marR="0" rtl="0" algn="l">
              <a:lnSpc>
                <a:spcPct val="100000"/>
              </a:lnSpc>
              <a:spcBef>
                <a:spcPts val="0"/>
              </a:spcBef>
              <a:spcAft>
                <a:spcPts val="0"/>
              </a:spcAft>
              <a:buClr>
                <a:srgbClr val="000000"/>
              </a:buClr>
              <a:buSzPts val="1400"/>
              <a:buFont typeface="Calibri"/>
              <a:buChar char="●"/>
            </a:pPr>
            <a:r>
              <a:rPr b="0" i="0" lang="en-US" sz="900" u="none" cap="none" strike="noStrike">
                <a:solidFill>
                  <a:srgbClr val="000000"/>
                </a:solidFill>
                <a:latin typeface="Calibri"/>
                <a:ea typeface="Calibri"/>
                <a:cs typeface="Calibri"/>
                <a:sym typeface="Calibri"/>
              </a:rPr>
              <a:t>Redwood: Use Additional Capabilities for Receipt Delivery Carts</a:t>
            </a:r>
            <a:endParaRPr b="0" i="0" sz="1400" u="none" cap="none" strike="noStrike">
              <a:solidFill>
                <a:srgbClr val="000000"/>
              </a:solidFill>
              <a:latin typeface="Calibri"/>
              <a:ea typeface="Calibri"/>
              <a:cs typeface="Calibri"/>
              <a:sym typeface="Calibri"/>
            </a:endParaRPr>
          </a:p>
          <a:p>
            <a:pPr indent="-317492" lvl="0" marL="457189" marR="0" rtl="0" algn="l">
              <a:lnSpc>
                <a:spcPct val="100000"/>
              </a:lnSpc>
              <a:spcBef>
                <a:spcPts val="0"/>
              </a:spcBef>
              <a:spcAft>
                <a:spcPts val="0"/>
              </a:spcAft>
              <a:buClr>
                <a:srgbClr val="000000"/>
              </a:buClr>
              <a:buSzPts val="1400"/>
              <a:buFont typeface="Calibri"/>
              <a:buChar char="●"/>
            </a:pPr>
            <a:r>
              <a:rPr b="0" i="0" lang="en-US" sz="900" u="none" cap="none" strike="noStrike">
                <a:solidFill>
                  <a:srgbClr val="000000"/>
                </a:solidFill>
                <a:latin typeface="Calibri"/>
                <a:ea typeface="Calibri"/>
                <a:cs typeface="Calibri"/>
                <a:sym typeface="Calibri"/>
              </a:rPr>
              <a:t>Redwood: Extract Application Data from a Read-Optimized Data Store Using a Redwood Page</a:t>
            </a:r>
            <a:endParaRPr b="0" i="0" sz="1400" u="none" cap="none" strike="noStrike">
              <a:solidFill>
                <a:srgbClr val="000000"/>
              </a:solidFill>
              <a:latin typeface="Calibri"/>
              <a:ea typeface="Calibri"/>
              <a:cs typeface="Calibri"/>
              <a:sym typeface="Calibri"/>
            </a:endParaRPr>
          </a:p>
          <a:p>
            <a:pPr indent="-317491" lvl="0" marL="457188" marR="0" rtl="0" algn="l">
              <a:lnSpc>
                <a:spcPct val="100000"/>
              </a:lnSpc>
              <a:spcBef>
                <a:spcPts val="0"/>
              </a:spcBef>
              <a:spcAft>
                <a:spcPts val="0"/>
              </a:spcAft>
              <a:buClr>
                <a:srgbClr val="000000"/>
              </a:buClr>
              <a:buSzPts val="1400"/>
              <a:buFont typeface="Calibri"/>
              <a:buChar char="●"/>
            </a:pPr>
            <a:r>
              <a:rPr b="0" i="0" lang="en-US" sz="900" u="none" cap="none" strike="noStrike">
                <a:solidFill>
                  <a:srgbClr val="161513"/>
                </a:solidFill>
                <a:latin typeface="Calibri"/>
                <a:ea typeface="Calibri"/>
                <a:cs typeface="Calibri"/>
                <a:sym typeface="Calibri"/>
              </a:rPr>
              <a:t>Redwood: View License Plate Number in Electronic Records</a:t>
            </a:r>
            <a:endParaRPr b="0" i="0" sz="1400" u="none" cap="none" strike="noStrike">
              <a:solidFill>
                <a:srgbClr val="000000"/>
              </a:solidFill>
              <a:latin typeface="Calibri"/>
              <a:ea typeface="Calibri"/>
              <a:cs typeface="Calibri"/>
              <a:sym typeface="Calibri"/>
            </a:endParaRPr>
          </a:p>
          <a:p>
            <a:pPr indent="-228592" lvl="0" marL="457189" marR="0" rtl="0" algn="l">
              <a:lnSpc>
                <a:spcPct val="115000"/>
              </a:lnSpc>
              <a:spcBef>
                <a:spcPts val="0"/>
              </a:spcBef>
              <a:spcAft>
                <a:spcPts val="0"/>
              </a:spcAft>
              <a:buClr>
                <a:srgbClr val="000000"/>
              </a:buClr>
              <a:buSzPts val="1400"/>
              <a:buFont typeface="Calibri"/>
              <a:buNone/>
            </a:pPr>
            <a:r>
              <a:t/>
            </a:r>
            <a:endParaRPr b="1" i="0" sz="900" u="none" cap="none" strike="noStrike">
              <a:solidFill>
                <a:srgbClr val="000000"/>
              </a:solidFill>
              <a:latin typeface="Arial"/>
              <a:ea typeface="Arial"/>
              <a:cs typeface="Arial"/>
              <a:sym typeface="Arial"/>
            </a:endParaRPr>
          </a:p>
          <a:p>
            <a:pPr indent="-228592" lvl="0" marL="457189" marR="0" rtl="0" algn="l">
              <a:lnSpc>
                <a:spcPct val="115000"/>
              </a:lnSpc>
              <a:spcBef>
                <a:spcPts val="0"/>
              </a:spcBef>
              <a:spcAft>
                <a:spcPts val="0"/>
              </a:spcAft>
              <a:buClr>
                <a:srgbClr val="000000"/>
              </a:buClr>
              <a:buSzPts val="1400"/>
              <a:buFont typeface="Calibri"/>
              <a:buNone/>
            </a:pPr>
            <a:r>
              <a:t/>
            </a:r>
            <a:endParaRPr b="1" i="0" sz="900" u="none" cap="none" strike="noStrike">
              <a:solidFill>
                <a:srgbClr val="161513"/>
              </a:solidFill>
              <a:latin typeface="Arial"/>
              <a:ea typeface="Arial"/>
              <a:cs typeface="Arial"/>
              <a:sym typeface="Arial"/>
            </a:endParaRPr>
          </a:p>
          <a:p>
            <a:pPr indent="-228592" lvl="0" marL="457189" marR="0" rtl="0" algn="l">
              <a:lnSpc>
                <a:spcPct val="115000"/>
              </a:lnSpc>
              <a:spcBef>
                <a:spcPts val="0"/>
              </a:spcBef>
              <a:spcAft>
                <a:spcPts val="0"/>
              </a:spcAft>
              <a:buClr>
                <a:srgbClr val="000000"/>
              </a:buClr>
              <a:buSzPts val="1400"/>
              <a:buFont typeface="Calibri"/>
              <a:buNone/>
            </a:pPr>
            <a:r>
              <a:t/>
            </a:r>
            <a:endParaRPr b="1" i="0" sz="900" u="none" cap="none" strike="noStrike">
              <a:solidFill>
                <a:srgbClr val="000000"/>
              </a:solidFill>
              <a:latin typeface="Calibri"/>
              <a:ea typeface="Calibri"/>
              <a:cs typeface="Calibri"/>
              <a:sym typeface="Calibri"/>
            </a:endParaRPr>
          </a:p>
        </p:txBody>
      </p:sp>
      <p:sp>
        <p:nvSpPr>
          <p:cNvPr id="148" name="Google Shape;148;p26"/>
          <p:cNvSpPr txBox="1"/>
          <p:nvPr>
            <p:ph idx="4294967295" type="title"/>
          </p:nvPr>
        </p:nvSpPr>
        <p:spPr>
          <a:xfrm>
            <a:off x="0" y="102546"/>
            <a:ext cx="8520600" cy="376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990"/>
              <a:buNone/>
            </a:pPr>
            <a:r>
              <a:rPr b="1" lang="en-US" sz="1220"/>
              <a:t>Index</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ph idx="4294967295" type="title"/>
          </p:nvPr>
        </p:nvSpPr>
        <p:spPr>
          <a:xfrm>
            <a:off x="0" y="102546"/>
            <a:ext cx="8520600" cy="376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990"/>
              <a:buNone/>
            </a:pPr>
            <a:r>
              <a:rPr b="1" lang="en-US" sz="1220"/>
              <a:t>Index</a:t>
            </a:r>
            <a:endParaRPr/>
          </a:p>
        </p:txBody>
      </p:sp>
      <p:sp>
        <p:nvSpPr>
          <p:cNvPr id="155" name="Google Shape;155;p27"/>
          <p:cNvSpPr txBox="1"/>
          <p:nvPr/>
        </p:nvSpPr>
        <p:spPr>
          <a:xfrm>
            <a:off x="433800" y="588725"/>
            <a:ext cx="7952700" cy="23826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5000"/>
              </a:lnSpc>
              <a:spcBef>
                <a:spcPts val="0"/>
              </a:spcBef>
              <a:spcAft>
                <a:spcPts val="0"/>
              </a:spcAft>
              <a:buClr>
                <a:srgbClr val="000000"/>
              </a:buClr>
              <a:buSzPts val="1400"/>
              <a:buFont typeface="Calibri"/>
              <a:buChar char="●"/>
            </a:pPr>
            <a:r>
              <a:rPr b="0" i="0" lang="en-US" sz="900" u="none" cap="none" strike="noStrike">
                <a:solidFill>
                  <a:srgbClr val="161513"/>
                </a:solidFill>
                <a:latin typeface="Calibri"/>
                <a:ea typeface="Calibri"/>
                <a:cs typeface="Calibri"/>
                <a:sym typeface="Calibri"/>
              </a:rPr>
              <a:t>Redwood: Allocate Picks to License Plate Numbers</a:t>
            </a:r>
            <a:endParaRPr b="0" i="0" sz="900" u="none" cap="none" strike="noStrike">
              <a:solidFill>
                <a:srgbClr val="161513"/>
              </a:solidFill>
              <a:latin typeface="Calibri"/>
              <a:ea typeface="Calibri"/>
              <a:cs typeface="Calibri"/>
              <a:sym typeface="Calibri"/>
            </a:endParaRPr>
          </a:p>
          <a:p>
            <a:pPr indent="-317500" lvl="0" marL="457200" marR="0" rtl="0" algn="l">
              <a:lnSpc>
                <a:spcPct val="115000"/>
              </a:lnSpc>
              <a:spcBef>
                <a:spcPts val="0"/>
              </a:spcBef>
              <a:spcAft>
                <a:spcPts val="0"/>
              </a:spcAft>
              <a:buClr>
                <a:srgbClr val="000000"/>
              </a:buClr>
              <a:buSzPts val="1400"/>
              <a:buFont typeface="Calibri"/>
              <a:buChar char="●"/>
            </a:pPr>
            <a:r>
              <a:rPr b="0" i="0" lang="en-US" sz="900" u="none" cap="none" strike="noStrike">
                <a:solidFill>
                  <a:srgbClr val="161513"/>
                </a:solidFill>
                <a:latin typeface="Calibri"/>
                <a:ea typeface="Calibri"/>
                <a:cs typeface="Calibri"/>
                <a:sym typeface="Calibri"/>
              </a:rPr>
              <a:t>AI Agent: Inventory Aging Advisor</a:t>
            </a:r>
            <a:endParaRPr b="0" i="0" sz="900" u="none" cap="none" strike="noStrike">
              <a:solidFill>
                <a:srgbClr val="161513"/>
              </a:solidFill>
              <a:latin typeface="Calibri"/>
              <a:ea typeface="Calibri"/>
              <a:cs typeface="Calibri"/>
              <a:sym typeface="Calibri"/>
            </a:endParaRPr>
          </a:p>
          <a:p>
            <a:pPr indent="-317500" lvl="0" marL="457200" marR="0" rtl="0" algn="l">
              <a:lnSpc>
                <a:spcPct val="115000"/>
              </a:lnSpc>
              <a:spcBef>
                <a:spcPts val="0"/>
              </a:spcBef>
              <a:spcAft>
                <a:spcPts val="0"/>
              </a:spcAft>
              <a:buClr>
                <a:srgbClr val="000000"/>
              </a:buClr>
              <a:buSzPts val="1400"/>
              <a:buFont typeface="Calibri"/>
              <a:buChar char="●"/>
            </a:pPr>
            <a:r>
              <a:rPr b="0" i="0" lang="en-US" sz="900" u="none" cap="none" strike="noStrike">
                <a:solidFill>
                  <a:srgbClr val="161513"/>
                </a:solidFill>
                <a:latin typeface="Calibri"/>
                <a:ea typeface="Calibri"/>
                <a:cs typeface="Calibri"/>
                <a:sym typeface="Calibri"/>
              </a:rPr>
              <a:t>AI Agent: Inventory Reservation Assistant</a:t>
            </a:r>
            <a:endParaRPr b="0" i="0" sz="900" u="none" cap="none" strike="noStrike">
              <a:solidFill>
                <a:srgbClr val="161513"/>
              </a:solidFill>
              <a:latin typeface="Calibri"/>
              <a:ea typeface="Calibri"/>
              <a:cs typeface="Calibri"/>
              <a:sym typeface="Calibri"/>
            </a:endParaRPr>
          </a:p>
          <a:p>
            <a:pPr indent="-317500" lvl="0" marL="457200" marR="0" rtl="0" algn="l">
              <a:lnSpc>
                <a:spcPct val="115000"/>
              </a:lnSpc>
              <a:spcBef>
                <a:spcPts val="0"/>
              </a:spcBef>
              <a:spcAft>
                <a:spcPts val="0"/>
              </a:spcAft>
              <a:buClr>
                <a:srgbClr val="000000"/>
              </a:buClr>
              <a:buSzPts val="1400"/>
              <a:buFont typeface="Calibri"/>
              <a:buChar char="●"/>
            </a:pPr>
            <a:r>
              <a:rPr b="0" i="0" lang="en-US" sz="900" u="none" cap="none" strike="noStrike">
                <a:solidFill>
                  <a:srgbClr val="161513"/>
                </a:solidFill>
                <a:latin typeface="Calibri"/>
                <a:ea typeface="Calibri"/>
                <a:cs typeface="Calibri"/>
                <a:sym typeface="Calibri"/>
              </a:rPr>
              <a:t>AI Agent: Cycle Count Analysis Advisor</a:t>
            </a:r>
            <a:endParaRPr b="0" i="0" sz="900" u="none" cap="none" strike="noStrike">
              <a:solidFill>
                <a:srgbClr val="161513"/>
              </a:solidFill>
              <a:latin typeface="Calibri"/>
              <a:ea typeface="Calibri"/>
              <a:cs typeface="Calibri"/>
              <a:sym typeface="Calibri"/>
            </a:endParaRPr>
          </a:p>
          <a:p>
            <a:pPr indent="-317500" lvl="0" marL="457200" marR="0" rtl="0" algn="l">
              <a:lnSpc>
                <a:spcPct val="115000"/>
              </a:lnSpc>
              <a:spcBef>
                <a:spcPts val="0"/>
              </a:spcBef>
              <a:spcAft>
                <a:spcPts val="0"/>
              </a:spcAft>
              <a:buClr>
                <a:srgbClr val="000000"/>
              </a:buClr>
              <a:buSzPts val="1400"/>
              <a:buFont typeface="Calibri"/>
              <a:buChar char="●"/>
            </a:pPr>
            <a:r>
              <a:rPr b="0" i="0" lang="en-US" sz="900" u="none" cap="none" strike="noStrike">
                <a:solidFill>
                  <a:srgbClr val="161513"/>
                </a:solidFill>
                <a:latin typeface="Calibri"/>
                <a:ea typeface="Calibri"/>
                <a:cs typeface="Calibri"/>
                <a:sym typeface="Calibri"/>
              </a:rPr>
              <a:t>AI Agent: Stock Location Advisor</a:t>
            </a:r>
            <a:endParaRPr b="0" i="0" sz="900" u="none" cap="none" strike="noStrike">
              <a:solidFill>
                <a:srgbClr val="161513"/>
              </a:solidFill>
              <a:latin typeface="Calibri"/>
              <a:ea typeface="Calibri"/>
              <a:cs typeface="Calibri"/>
              <a:sym typeface="Calibri"/>
            </a:endParaRPr>
          </a:p>
          <a:p>
            <a:pPr indent="-317500" lvl="0" marL="457200" marR="0" rtl="0" algn="l">
              <a:lnSpc>
                <a:spcPct val="115000"/>
              </a:lnSpc>
              <a:spcBef>
                <a:spcPts val="0"/>
              </a:spcBef>
              <a:spcAft>
                <a:spcPts val="0"/>
              </a:spcAft>
              <a:buClr>
                <a:srgbClr val="000000"/>
              </a:buClr>
              <a:buSzPts val="1400"/>
              <a:buFont typeface="Calibri"/>
              <a:buChar char="●"/>
            </a:pPr>
            <a:r>
              <a:rPr b="0" i="0" lang="en-US" sz="900" u="none" cap="none" strike="noStrike">
                <a:solidFill>
                  <a:srgbClr val="161513"/>
                </a:solidFill>
                <a:latin typeface="Calibri"/>
                <a:ea typeface="Calibri"/>
                <a:cs typeface="Calibri"/>
                <a:sym typeface="Calibri"/>
              </a:rPr>
              <a:t>AI Agent: Fulfillment Processing Assistant - Use Additional Picking and Shipping Logic</a:t>
            </a:r>
            <a:endParaRPr b="0" i="0" sz="900" u="none" cap="none" strike="noStrike">
              <a:solidFill>
                <a:srgbClr val="161513"/>
              </a:solidFill>
              <a:latin typeface="Calibri"/>
              <a:ea typeface="Calibri"/>
              <a:cs typeface="Calibri"/>
              <a:sym typeface="Calibri"/>
            </a:endParaRPr>
          </a:p>
          <a:p>
            <a:pPr indent="-317500" lvl="0" marL="457200" marR="0" rtl="0" algn="l">
              <a:lnSpc>
                <a:spcPct val="115000"/>
              </a:lnSpc>
              <a:spcBef>
                <a:spcPts val="0"/>
              </a:spcBef>
              <a:spcAft>
                <a:spcPts val="0"/>
              </a:spcAft>
              <a:buClr>
                <a:srgbClr val="000000"/>
              </a:buClr>
              <a:buSzPts val="1400"/>
              <a:buFont typeface="Calibri"/>
              <a:buChar char="●"/>
            </a:pPr>
            <a:r>
              <a:rPr b="0" i="0" lang="en-US" sz="900" u="none" cap="none" strike="noStrike">
                <a:solidFill>
                  <a:srgbClr val="161513"/>
                </a:solidFill>
                <a:latin typeface="Calibri"/>
                <a:ea typeface="Calibri"/>
                <a:cs typeface="Calibri"/>
                <a:sym typeface="Calibri"/>
              </a:rPr>
              <a:t>AI Agent: Receipt Creation Assistant</a:t>
            </a:r>
            <a:endParaRPr b="0" i="0" sz="900" u="none" cap="none" strike="noStrike">
              <a:solidFill>
                <a:srgbClr val="161513"/>
              </a:solidFill>
              <a:latin typeface="Calibri"/>
              <a:ea typeface="Calibri"/>
              <a:cs typeface="Calibri"/>
              <a:sym typeface="Calibri"/>
            </a:endParaRPr>
          </a:p>
          <a:p>
            <a:pPr indent="-317500" lvl="0" marL="457200" marR="0" rtl="0" algn="l">
              <a:lnSpc>
                <a:spcPct val="115000"/>
              </a:lnSpc>
              <a:spcBef>
                <a:spcPts val="0"/>
              </a:spcBef>
              <a:spcAft>
                <a:spcPts val="0"/>
              </a:spcAft>
              <a:buClr>
                <a:srgbClr val="000000"/>
              </a:buClr>
              <a:buSzPts val="1400"/>
              <a:buFont typeface="Calibri"/>
              <a:buChar char="●"/>
            </a:pPr>
            <a:r>
              <a:rPr b="0" i="0" lang="en-US" sz="900" u="none" cap="none" strike="noStrike">
                <a:solidFill>
                  <a:srgbClr val="161513"/>
                </a:solidFill>
                <a:latin typeface="Calibri"/>
                <a:ea typeface="Calibri"/>
                <a:cs typeface="Calibri"/>
                <a:sym typeface="Calibri"/>
              </a:rPr>
              <a:t>AI Agent: Inventory Organization Update Assistant</a:t>
            </a:r>
            <a:endParaRPr b="0" i="0" sz="900" u="none" cap="none" strike="noStrike">
              <a:solidFill>
                <a:srgbClr val="161513"/>
              </a:solidFill>
              <a:latin typeface="Calibri"/>
              <a:ea typeface="Calibri"/>
              <a:cs typeface="Calibri"/>
              <a:sym typeface="Calibri"/>
            </a:endParaRPr>
          </a:p>
          <a:p>
            <a:pPr indent="-317500" lvl="0" marL="457200" marR="0" rtl="0" algn="l">
              <a:lnSpc>
                <a:spcPct val="115000"/>
              </a:lnSpc>
              <a:spcBef>
                <a:spcPts val="0"/>
              </a:spcBef>
              <a:spcAft>
                <a:spcPts val="0"/>
              </a:spcAft>
              <a:buClr>
                <a:srgbClr val="000000"/>
              </a:buClr>
              <a:buSzPts val="1400"/>
              <a:buFont typeface="Calibri"/>
              <a:buChar char="●"/>
            </a:pPr>
            <a:r>
              <a:rPr b="0" i="0" lang="en-US" sz="900" u="none" cap="none" strike="noStrike">
                <a:solidFill>
                  <a:srgbClr val="161513"/>
                </a:solidFill>
                <a:latin typeface="Calibri"/>
                <a:ea typeface="Calibri"/>
                <a:cs typeface="Calibri"/>
                <a:sym typeface="Calibri"/>
              </a:rPr>
              <a:t>AI Agent: Inventory Tasking Assistant</a:t>
            </a:r>
            <a:endParaRPr b="0" i="0" sz="900" u="none" cap="none" strike="noStrike">
              <a:solidFill>
                <a:srgbClr val="161513"/>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idx="4294967295" type="title"/>
          </p:nvPr>
        </p:nvSpPr>
        <p:spPr>
          <a:xfrm>
            <a:off x="0" y="102546"/>
            <a:ext cx="8520600" cy="376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990"/>
              <a:buFont typeface="Arial"/>
              <a:buNone/>
            </a:pPr>
            <a:r>
              <a:rPr b="1" lang="en-US" sz="1220"/>
              <a:t>Inventory Management</a:t>
            </a:r>
            <a:endParaRPr>
              <a:highlight>
                <a:schemeClr val="accent6"/>
              </a:highlight>
            </a:endParaRPr>
          </a:p>
        </p:txBody>
      </p:sp>
      <p:graphicFrame>
        <p:nvGraphicFramePr>
          <p:cNvPr id="161" name="Google Shape;161;p28"/>
          <p:cNvGraphicFramePr/>
          <p:nvPr/>
        </p:nvGraphicFramePr>
        <p:xfrm>
          <a:off x="288868" y="534406"/>
          <a:ext cx="3000000" cy="3000000"/>
        </p:xfrm>
        <a:graphic>
          <a:graphicData uri="http://schemas.openxmlformats.org/drawingml/2006/table">
            <a:tbl>
              <a:tblPr>
                <a:noFill/>
                <a:tableStyleId>{7CE1E117-5442-4E1C-B7FE-E79694003765}</a:tableStyleId>
              </a:tblPr>
              <a:tblGrid>
                <a:gridCol w="545625"/>
                <a:gridCol w="2351275"/>
                <a:gridCol w="2351275"/>
                <a:gridCol w="2279100"/>
                <a:gridCol w="826300"/>
              </a:tblGrid>
              <a:tr h="239725">
                <a:tc>
                  <a:txBody>
                    <a:bodyPr/>
                    <a:lstStyle/>
                    <a:p>
                      <a:pPr indent="0" lvl="0" marL="0" marR="0" rtl="0" algn="ctr">
                        <a:lnSpc>
                          <a:spcPct val="100000"/>
                        </a:lnSpc>
                        <a:spcBef>
                          <a:spcPts val="0"/>
                        </a:spcBef>
                        <a:spcAft>
                          <a:spcPts val="0"/>
                        </a:spcAft>
                        <a:buClr>
                          <a:srgbClr val="000000"/>
                        </a:buClr>
                        <a:buSzPts val="794"/>
                        <a:buFont typeface="Arial"/>
                        <a:buNone/>
                      </a:pPr>
                      <a:r>
                        <a:rPr b="1" lang="en-US" sz="1000" u="none" cap="none" strike="noStrike">
                          <a:solidFill>
                            <a:srgbClr val="FFFFFF"/>
                          </a:solidFill>
                          <a:latin typeface="Calibri"/>
                          <a:ea typeface="Calibri"/>
                          <a:cs typeface="Calibri"/>
                          <a:sym typeface="Calibri"/>
                        </a:rPr>
                        <a:t>Sr. No.</a:t>
                      </a:r>
                      <a:endParaRPr b="1" sz="10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26A Release Feature</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US" sz="900" u="none" cap="none" strike="noStrike">
                          <a:solidFill>
                            <a:srgbClr val="FFFFFF"/>
                          </a:solidFill>
                          <a:latin typeface="Calibri"/>
                          <a:ea typeface="Calibri"/>
                          <a:cs typeface="Calibri"/>
                          <a:sym typeface="Calibri"/>
                        </a:rPr>
                        <a:t>Business Benefit</a:t>
                      </a:r>
                      <a:endParaRPr b="1" sz="9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Business Impact</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Mandatory (Yes/No)</a:t>
                      </a:r>
                      <a:endParaRPr sz="14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r>
              <a:tr h="1049475">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1</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61513"/>
                          </a:solidFill>
                          <a:latin typeface="Calibri"/>
                          <a:ea typeface="Calibri"/>
                          <a:cs typeface="Calibri"/>
                          <a:sym typeface="Calibri"/>
                        </a:rPr>
                        <a:t>Read Subinventory Descriptions in Your Language</a:t>
                      </a:r>
                      <a:endParaRPr sz="1400" u="none" cap="none" strike="noStrike">
                        <a:latin typeface="Calibri"/>
                        <a:ea typeface="Calibri"/>
                        <a:cs typeface="Calibri"/>
                        <a:sym typeface="Calibri"/>
                      </a:endParaRPr>
                    </a:p>
                    <a:p>
                      <a:pPr indent="0" lvl="0" marL="0" marR="0" rtl="0" algn="just">
                        <a:lnSpc>
                          <a:spcPct val="100000"/>
                        </a:lnSpc>
                        <a:spcBef>
                          <a:spcPts val="750"/>
                        </a:spcBef>
                        <a:spcAft>
                          <a:spcPts val="0"/>
                        </a:spcAft>
                        <a:buClr>
                          <a:srgbClr val="000000"/>
                        </a:buClr>
                        <a:buSzPts val="900"/>
                        <a:buFont typeface="Arial"/>
                        <a:buNone/>
                      </a:pPr>
                      <a:r>
                        <a:rPr lang="en-US" sz="900" u="none" cap="none" strike="noStrike">
                          <a:latin typeface="Calibri"/>
                          <a:ea typeface="Calibri"/>
                          <a:cs typeface="Calibri"/>
                          <a:sym typeface="Calibri"/>
                        </a:rPr>
                        <a:t>The feature enables users to view subinventory descriptions in their preferred language on redesigned Supply Chain Orchestration pages such as New Supply Request and Supply Requests. It helps users more easily identify source and destination subinventories during supply request creation and review.</a:t>
                      </a:r>
                      <a:endParaRPr i="0" sz="900" u="none" cap="none" strike="noStrike">
                        <a:solidFill>
                          <a:srgbClr val="161513"/>
                        </a:solidFill>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This feature enables multilingual support for subinventory descriptions, allowing users to view them in their preferred language. It improves the user experience for global teams by making navigation more intuitive and reducing errors caused by language barriers. It also ensures a consistent and localized experience across Oracle Supply Chain applications.</a:t>
                      </a:r>
                      <a:endParaRPr sz="14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 BUSINESS IMPACT unless business users have a preferred language</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N/A</a:t>
                      </a:r>
                      <a:endParaRPr sz="900">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Yes</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r h="1660625">
                <a:tc>
                  <a:txBody>
                    <a:bodyPr/>
                    <a:lstStyle/>
                    <a:p>
                      <a:pPr indent="0" lvl="0" marL="0" marR="0" rtl="0" algn="ctr">
                        <a:lnSpc>
                          <a:spcPct val="100000"/>
                        </a:lnSpc>
                        <a:spcBef>
                          <a:spcPts val="0"/>
                        </a:spcBef>
                        <a:spcAft>
                          <a:spcPts val="0"/>
                        </a:spcAft>
                        <a:buNone/>
                      </a:pPr>
                      <a:r>
                        <a:rPr lang="en-US" sz="900">
                          <a:latin typeface="Calibri"/>
                          <a:ea typeface="Calibri"/>
                          <a:cs typeface="Calibri"/>
                          <a:sym typeface="Calibri"/>
                        </a:rPr>
                        <a:t>2</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61513"/>
                          </a:solidFill>
                          <a:latin typeface="Calibri"/>
                          <a:ea typeface="Calibri"/>
                          <a:cs typeface="Calibri"/>
                          <a:sym typeface="Calibri"/>
                        </a:rPr>
                        <a:t>Create Intraorganization Transfer Requests Without Selecting Source Subinventory</a:t>
                      </a:r>
                      <a:endParaRPr b="1" i="0" sz="900" u="none" cap="none" strike="noStrike">
                        <a:solidFill>
                          <a:srgbClr val="161513"/>
                        </a:solidFill>
                        <a:latin typeface="Calibri"/>
                        <a:ea typeface="Calibri"/>
                        <a:cs typeface="Calibri"/>
                        <a:sym typeface="Calibri"/>
                      </a:endParaRPr>
                    </a:p>
                    <a:p>
                      <a:pPr indent="0" lvl="0" marL="0" marR="0" rtl="0" algn="just">
                        <a:lnSpc>
                          <a:spcPct val="100000"/>
                        </a:lnSpc>
                        <a:spcBef>
                          <a:spcPts val="750"/>
                        </a:spcBef>
                        <a:spcAft>
                          <a:spcPts val="0"/>
                        </a:spcAft>
                        <a:buClr>
                          <a:srgbClr val="000000"/>
                        </a:buClr>
                        <a:buSzPts val="900"/>
                        <a:buFont typeface="Arial"/>
                        <a:buNone/>
                      </a:pPr>
                      <a:r>
                        <a:rPr lang="en-US" sz="900" u="none" cap="none" strike="noStrike">
                          <a:latin typeface="Calibri"/>
                          <a:ea typeface="Calibri"/>
                          <a:cs typeface="Calibri"/>
                          <a:sym typeface="Calibri"/>
                        </a:rPr>
                        <a:t>The feature streamlines the creation of intraorganization transfer requests by removing the requirement to specify the source subinventory at the time of request entry. The system later determines the appropriate source subinventory during supply planning based on availability and rules, reducing upfront manual selection. </a:t>
                      </a:r>
                      <a:endParaRPr b="1" i="0" sz="900" u="none" cap="none" strike="noStrike">
                        <a:solidFill>
                          <a:srgbClr val="161513"/>
                        </a:solidFill>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228600" lvl="0" marL="228600" marR="0" rtl="0" algn="l">
                        <a:lnSpc>
                          <a:spcPct val="100000"/>
                        </a:lnSpc>
                        <a:spcBef>
                          <a:spcPts val="0"/>
                        </a:spcBef>
                        <a:spcAft>
                          <a:spcPts val="0"/>
                        </a:spcAft>
                        <a:buClr>
                          <a:srgbClr val="000000"/>
                        </a:buClr>
                        <a:buSzPts val="900"/>
                        <a:buFont typeface="Arial"/>
                        <a:buAutoNum type="arabicPeriod"/>
                      </a:pPr>
                      <a:r>
                        <a:rPr b="1" lang="en-US" sz="900" u="none" cap="none" strike="noStrike">
                          <a:latin typeface="Calibri"/>
                          <a:ea typeface="Calibri"/>
                          <a:cs typeface="Calibri"/>
                          <a:sym typeface="Calibri"/>
                        </a:rPr>
                        <a:t>Faster Request Creation</a:t>
                      </a:r>
                      <a:r>
                        <a:rPr lang="en-US" sz="900" u="none" cap="none" strike="noStrike">
                          <a:latin typeface="Calibri"/>
                          <a:ea typeface="Calibri"/>
                          <a:cs typeface="Calibri"/>
                          <a:sym typeface="Calibri"/>
                        </a:rPr>
                        <a:t> – Enables users to create transfer requests without identifying or selecting a source subinventory.</a:t>
                      </a:r>
                      <a:endParaRPr sz="1400" u="none" cap="none" strike="noStrike">
                        <a:latin typeface="Calibri"/>
                        <a:ea typeface="Calibri"/>
                        <a:cs typeface="Calibri"/>
                        <a:sym typeface="Calibri"/>
                      </a:endParaRPr>
                    </a:p>
                    <a:p>
                      <a:pPr indent="-228600" lvl="0" marL="228600" marR="0" rtl="0" algn="l">
                        <a:lnSpc>
                          <a:spcPct val="100000"/>
                        </a:lnSpc>
                        <a:spcBef>
                          <a:spcPts val="0"/>
                        </a:spcBef>
                        <a:spcAft>
                          <a:spcPts val="0"/>
                        </a:spcAft>
                        <a:buClr>
                          <a:srgbClr val="000000"/>
                        </a:buClr>
                        <a:buSzPts val="900"/>
                        <a:buFont typeface="Arial"/>
                        <a:buAutoNum type="arabicPeriod"/>
                      </a:pPr>
                      <a:r>
                        <a:rPr b="1" lang="en-US" sz="900" u="none" cap="none" strike="noStrike">
                          <a:latin typeface="Calibri"/>
                          <a:ea typeface="Calibri"/>
                          <a:cs typeface="Calibri"/>
                          <a:sym typeface="Calibri"/>
                        </a:rPr>
                        <a:t>Improved Productivity</a:t>
                      </a:r>
                      <a:r>
                        <a:rPr lang="en-US" sz="900" u="none" cap="none" strike="noStrike">
                          <a:latin typeface="Calibri"/>
                          <a:ea typeface="Calibri"/>
                          <a:cs typeface="Calibri"/>
                          <a:sym typeface="Calibri"/>
                        </a:rPr>
                        <a:t> – Reduces clicks and manual data entry during the request creation process.</a:t>
                      </a:r>
                      <a:endParaRPr sz="1400" u="none" cap="none" strike="noStrike">
                        <a:latin typeface="Calibri"/>
                        <a:ea typeface="Calibri"/>
                        <a:cs typeface="Calibri"/>
                        <a:sym typeface="Calibri"/>
                      </a:endParaRPr>
                    </a:p>
                    <a:p>
                      <a:pPr indent="-228600" lvl="0" marL="228600" marR="0" rtl="0" algn="l">
                        <a:lnSpc>
                          <a:spcPct val="100000"/>
                        </a:lnSpc>
                        <a:spcBef>
                          <a:spcPts val="0"/>
                        </a:spcBef>
                        <a:spcAft>
                          <a:spcPts val="0"/>
                        </a:spcAft>
                        <a:buClr>
                          <a:srgbClr val="000000"/>
                        </a:buClr>
                        <a:buSzPts val="900"/>
                        <a:buFont typeface="Arial"/>
                        <a:buAutoNum type="arabicPeriod"/>
                      </a:pPr>
                      <a:r>
                        <a:rPr b="1" lang="en-US" sz="900" u="none" cap="none" strike="noStrike">
                          <a:latin typeface="Calibri"/>
                          <a:ea typeface="Calibri"/>
                          <a:cs typeface="Calibri"/>
                          <a:sym typeface="Calibri"/>
                        </a:rPr>
                        <a:t>Enhanced Usability</a:t>
                      </a:r>
                      <a:r>
                        <a:rPr lang="en-US" sz="900" u="none" cap="none" strike="noStrike">
                          <a:latin typeface="Calibri"/>
                          <a:ea typeface="Calibri"/>
                          <a:cs typeface="Calibri"/>
                          <a:sym typeface="Calibri"/>
                        </a:rPr>
                        <a:t> – Provides a smoother and more intuitive user experience for creating material transfers.</a:t>
                      </a:r>
                      <a:endParaRPr sz="1400" u="none" cap="none" strike="noStrike">
                        <a:latin typeface="Calibri"/>
                        <a:ea typeface="Calibri"/>
                        <a:cs typeface="Calibri"/>
                        <a:sym typeface="Calibri"/>
                      </a:endParaRPr>
                    </a:p>
                    <a:p>
                      <a:pPr indent="-228600" lvl="0" marL="228600" marR="0" rtl="0" algn="l">
                        <a:lnSpc>
                          <a:spcPct val="100000"/>
                        </a:lnSpc>
                        <a:spcBef>
                          <a:spcPts val="0"/>
                        </a:spcBef>
                        <a:spcAft>
                          <a:spcPts val="0"/>
                        </a:spcAft>
                        <a:buClr>
                          <a:srgbClr val="000000"/>
                        </a:buClr>
                        <a:buSzPts val="900"/>
                        <a:buFont typeface="Arial"/>
                        <a:buAutoNum type="arabicPeriod"/>
                      </a:pPr>
                      <a:r>
                        <a:rPr b="1" lang="en-US" sz="900" u="none" cap="none" strike="noStrike">
                          <a:latin typeface="Calibri"/>
                          <a:ea typeface="Calibri"/>
                          <a:cs typeface="Calibri"/>
                          <a:sym typeface="Calibri"/>
                        </a:rPr>
                        <a:t>Reduced Errors</a:t>
                      </a:r>
                      <a:r>
                        <a:rPr lang="en-US" sz="900" u="none" cap="none" strike="noStrike">
                          <a:latin typeface="Calibri"/>
                          <a:ea typeface="Calibri"/>
                          <a:cs typeface="Calibri"/>
                          <a:sym typeface="Calibri"/>
                        </a:rPr>
                        <a:t> – Minimizes errors by removing the need to manually select the correct source subinventory.</a:t>
                      </a:r>
                      <a:endParaRPr sz="14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Business can complete the interorganization transfer now in fewer steps</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Business wants to test this feature after 26A release</a:t>
                      </a:r>
                      <a:endParaRPr sz="900">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Yes</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bl>
          </a:graphicData>
        </a:graphic>
      </p:graphicFrame>
      <p:sp>
        <p:nvSpPr>
          <p:cNvPr id="162" name="Google Shape;162;p28"/>
          <p:cNvSpPr txBox="1"/>
          <p:nvPr/>
        </p:nvSpPr>
        <p:spPr>
          <a:xfrm>
            <a:off x="288875" y="4260300"/>
            <a:ext cx="4283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u="sng">
                <a:solidFill>
                  <a:schemeClr val="hlink"/>
                </a:solidFill>
                <a:latin typeface="Calibri"/>
                <a:ea typeface="Calibri"/>
                <a:cs typeface="Calibri"/>
                <a:sym typeface="Calibri"/>
                <a:hlinkClick r:id="rId3"/>
              </a:rPr>
              <a:t>Read Subinventory Descriptions in Your Language</a:t>
            </a:r>
            <a:endParaRPr sz="800">
              <a:latin typeface="Calibri"/>
              <a:ea typeface="Calibri"/>
              <a:cs typeface="Calibri"/>
              <a:sym typeface="Calibri"/>
            </a:endParaRPr>
          </a:p>
          <a:p>
            <a:pPr indent="0" lvl="0" marL="0" rtl="0" algn="l">
              <a:spcBef>
                <a:spcPts val="0"/>
              </a:spcBef>
              <a:spcAft>
                <a:spcPts val="0"/>
              </a:spcAft>
              <a:buNone/>
            </a:pPr>
            <a:r>
              <a:rPr lang="en-US" sz="800" u="sng">
                <a:solidFill>
                  <a:schemeClr val="hlink"/>
                </a:solidFill>
                <a:latin typeface="Calibri"/>
                <a:ea typeface="Calibri"/>
                <a:cs typeface="Calibri"/>
                <a:sym typeface="Calibri"/>
                <a:hlinkClick r:id="rId4"/>
              </a:rPr>
              <a:t>Create Intraorganization Transfer Requests Without Selecting Source Subinventory</a:t>
            </a:r>
            <a:endParaRPr sz="8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9"/>
          <p:cNvSpPr txBox="1"/>
          <p:nvPr>
            <p:ph idx="4294967295" type="title"/>
          </p:nvPr>
        </p:nvSpPr>
        <p:spPr>
          <a:xfrm>
            <a:off x="0" y="102546"/>
            <a:ext cx="8520600" cy="376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990"/>
              <a:buFont typeface="Arial"/>
              <a:buNone/>
            </a:pPr>
            <a:r>
              <a:rPr b="1" lang="en-US" sz="1220"/>
              <a:t>Inventory Management</a:t>
            </a:r>
            <a:endParaRPr>
              <a:highlight>
                <a:schemeClr val="accent6"/>
              </a:highlight>
            </a:endParaRPr>
          </a:p>
        </p:txBody>
      </p:sp>
      <p:graphicFrame>
        <p:nvGraphicFramePr>
          <p:cNvPr id="168" name="Google Shape;168;p29"/>
          <p:cNvGraphicFramePr/>
          <p:nvPr/>
        </p:nvGraphicFramePr>
        <p:xfrm>
          <a:off x="288868" y="534406"/>
          <a:ext cx="3000000" cy="3000000"/>
        </p:xfrm>
        <a:graphic>
          <a:graphicData uri="http://schemas.openxmlformats.org/drawingml/2006/table">
            <a:tbl>
              <a:tblPr>
                <a:noFill/>
                <a:tableStyleId>{7CE1E117-5442-4E1C-B7FE-E79694003765}</a:tableStyleId>
              </a:tblPr>
              <a:tblGrid>
                <a:gridCol w="545625"/>
                <a:gridCol w="2351275"/>
                <a:gridCol w="2351275"/>
                <a:gridCol w="2279100"/>
                <a:gridCol w="826300"/>
              </a:tblGrid>
              <a:tr h="329975">
                <a:tc>
                  <a:txBody>
                    <a:bodyPr/>
                    <a:lstStyle/>
                    <a:p>
                      <a:pPr indent="0" lvl="0" marL="0" marR="0" rtl="0" algn="ctr">
                        <a:lnSpc>
                          <a:spcPct val="100000"/>
                        </a:lnSpc>
                        <a:spcBef>
                          <a:spcPts val="0"/>
                        </a:spcBef>
                        <a:spcAft>
                          <a:spcPts val="0"/>
                        </a:spcAft>
                        <a:buClr>
                          <a:srgbClr val="000000"/>
                        </a:buClr>
                        <a:buSzPts val="794"/>
                        <a:buFont typeface="Arial"/>
                        <a:buNone/>
                      </a:pPr>
                      <a:r>
                        <a:rPr b="1" lang="en-US" sz="1000" u="none" cap="none" strike="noStrike">
                          <a:solidFill>
                            <a:srgbClr val="FFFFFF"/>
                          </a:solidFill>
                          <a:latin typeface="Calibri"/>
                          <a:ea typeface="Calibri"/>
                          <a:cs typeface="Calibri"/>
                          <a:sym typeface="Calibri"/>
                        </a:rPr>
                        <a:t>Sr. No.</a:t>
                      </a:r>
                      <a:endParaRPr b="1" sz="10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26A Release Feature</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US" sz="900" u="none" cap="none" strike="noStrike">
                          <a:solidFill>
                            <a:srgbClr val="FFFFFF"/>
                          </a:solidFill>
                          <a:latin typeface="Calibri"/>
                          <a:ea typeface="Calibri"/>
                          <a:cs typeface="Calibri"/>
                          <a:sym typeface="Calibri"/>
                        </a:rPr>
                        <a:t>Business Benefit</a:t>
                      </a:r>
                      <a:endParaRPr b="1" sz="9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Business Impact</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Mandatory (Yes/No)</a:t>
                      </a:r>
                      <a:endParaRPr sz="14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r>
              <a:tr h="1897650">
                <a:tc>
                  <a:txBody>
                    <a:bodyPr/>
                    <a:lstStyle/>
                    <a:p>
                      <a:pPr indent="0" lvl="0" marL="0" marR="0" rtl="0" algn="ctr">
                        <a:lnSpc>
                          <a:spcPct val="100000"/>
                        </a:lnSpc>
                        <a:spcBef>
                          <a:spcPts val="0"/>
                        </a:spcBef>
                        <a:spcAft>
                          <a:spcPts val="0"/>
                        </a:spcAft>
                        <a:buClr>
                          <a:srgbClr val="000000"/>
                        </a:buClr>
                        <a:buSzPts val="900"/>
                        <a:buFont typeface="Arial"/>
                        <a:buNone/>
                      </a:pPr>
                      <a:r>
                        <a:rPr lang="en-US" sz="900">
                          <a:latin typeface="Calibri"/>
                          <a:ea typeface="Calibri"/>
                          <a:cs typeface="Calibri"/>
                          <a:sym typeface="Calibri"/>
                        </a:rPr>
                        <a:t>3</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61513"/>
                          </a:solidFill>
                          <a:latin typeface="Calibri"/>
                          <a:ea typeface="Calibri"/>
                          <a:cs typeface="Calibri"/>
                          <a:sym typeface="Calibri"/>
                        </a:rPr>
                        <a:t>Use Direct Integrations Between Supply Chain Orchestration and Inventory</a:t>
                      </a:r>
                      <a:endParaRPr b="1" i="0" sz="900" u="none" cap="none" strike="noStrike">
                        <a:solidFill>
                          <a:srgbClr val="161513"/>
                        </a:solidFill>
                        <a:latin typeface="Calibri"/>
                        <a:ea typeface="Calibri"/>
                        <a:cs typeface="Calibri"/>
                        <a:sym typeface="Calibri"/>
                      </a:endParaRPr>
                    </a:p>
                    <a:p>
                      <a:pPr indent="0" lvl="0" marL="0" marR="0" rtl="0" algn="just">
                        <a:lnSpc>
                          <a:spcPct val="100000"/>
                        </a:lnSpc>
                        <a:spcBef>
                          <a:spcPts val="750"/>
                        </a:spcBef>
                        <a:spcAft>
                          <a:spcPts val="0"/>
                        </a:spcAft>
                        <a:buClr>
                          <a:srgbClr val="000000"/>
                        </a:buClr>
                        <a:buSzPts val="900"/>
                        <a:buFont typeface="Arial"/>
                        <a:buNone/>
                      </a:pPr>
                      <a:r>
                        <a:rPr lang="en-US" sz="900" u="none" cap="none" strike="noStrike">
                          <a:latin typeface="Calibri"/>
                          <a:ea typeface="Calibri"/>
                          <a:cs typeface="Calibri"/>
                          <a:sym typeface="Calibri"/>
                        </a:rPr>
                        <a:t>The feature enhances operational efficiency by enabling seamless, real‑time integration between Supply Chain Orchestration and Inventory Management. With this integration, inventory transactions such as issuances, receipts, and movements initiated in Supply Chain Orchestration are automatically reflected in Inventory without requiring manual data entry or intermediate steps. </a:t>
                      </a:r>
                      <a:endParaRPr b="1" i="0" sz="900" u="none" cap="none" strike="noStrike">
                        <a:solidFill>
                          <a:srgbClr val="161513"/>
                        </a:solidFill>
                        <a:latin typeface="Calibri"/>
                        <a:ea typeface="Calibri"/>
                        <a:cs typeface="Calibri"/>
                        <a:sym typeface="Calibri"/>
                      </a:endParaRPr>
                    </a:p>
                    <a:p>
                      <a:pPr indent="0" lvl="0" marL="0" marR="0" rtl="0" algn="l">
                        <a:lnSpc>
                          <a:spcPct val="100000"/>
                        </a:lnSpc>
                        <a:spcBef>
                          <a:spcPts val="750"/>
                        </a:spcBef>
                        <a:spcAft>
                          <a:spcPts val="0"/>
                        </a:spcAft>
                        <a:buClr>
                          <a:srgbClr val="000000"/>
                        </a:buClr>
                        <a:buSzPts val="900"/>
                        <a:buFont typeface="Arial"/>
                        <a:buNone/>
                      </a:pPr>
                      <a:r>
                        <a:t/>
                      </a:r>
                      <a:endParaRPr b="1" i="0" sz="900" u="none" cap="none" strike="noStrike">
                        <a:solidFill>
                          <a:srgbClr val="161513"/>
                        </a:solidFill>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The feature introduces a direct integration between Inventory and Supply Chain Orchestration, </a:t>
                      </a:r>
                      <a:r>
                        <a:rPr b="1" lang="en-US" sz="900" u="none" cap="none" strike="noStrike">
                          <a:latin typeface="Calibri"/>
                          <a:ea typeface="Calibri"/>
                          <a:cs typeface="Calibri"/>
                          <a:sym typeface="Calibri"/>
                        </a:rPr>
                        <a:t>reducing latency and improving the performance </a:t>
                      </a:r>
                      <a:r>
                        <a:rPr lang="en-US" sz="900" u="none" cap="none" strike="noStrike">
                          <a:latin typeface="Calibri"/>
                          <a:ea typeface="Calibri"/>
                          <a:cs typeface="Calibri"/>
                          <a:sym typeface="Calibri"/>
                        </a:rPr>
                        <a:t>of reservation transactions. It enables </a:t>
                      </a:r>
                      <a:r>
                        <a:rPr b="1" lang="en-US" sz="900" u="none" cap="none" strike="noStrike">
                          <a:latin typeface="Calibri"/>
                          <a:ea typeface="Calibri"/>
                          <a:cs typeface="Calibri"/>
                          <a:sym typeface="Calibri"/>
                        </a:rPr>
                        <a:t>faster order fulfillment</a:t>
                      </a:r>
                      <a:r>
                        <a:rPr lang="en-US" sz="900" u="none" cap="none" strike="noStrike">
                          <a:latin typeface="Calibri"/>
                          <a:ea typeface="Calibri"/>
                          <a:cs typeface="Calibri"/>
                          <a:sym typeface="Calibri"/>
                        </a:rPr>
                        <a:t> in back-to-back flows while providing real-time notifications for reservation updates and exceptions. This also </a:t>
                      </a:r>
                      <a:r>
                        <a:rPr b="1" lang="en-US" sz="900" u="none" cap="none" strike="noStrike">
                          <a:latin typeface="Calibri"/>
                          <a:ea typeface="Calibri"/>
                          <a:cs typeface="Calibri"/>
                          <a:sym typeface="Calibri"/>
                        </a:rPr>
                        <a:t>improves reliability and simplifies integration</a:t>
                      </a:r>
                      <a:r>
                        <a:rPr lang="en-US" sz="900" u="none" cap="none" strike="noStrike">
                          <a:latin typeface="Calibri"/>
                          <a:ea typeface="Calibri"/>
                          <a:cs typeface="Calibri"/>
                          <a:sym typeface="Calibri"/>
                        </a:rPr>
                        <a:t> by removing dependency on business events.</a:t>
                      </a:r>
                      <a:endParaRPr sz="14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 BUSINESS IMPACT as manufacturing module not in scope</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N/A</a:t>
                      </a:r>
                      <a:endParaRPr sz="900">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bl>
          </a:graphicData>
        </a:graphic>
      </p:graphicFrame>
      <p:sp>
        <p:nvSpPr>
          <p:cNvPr id="169" name="Google Shape;169;p29"/>
          <p:cNvSpPr txBox="1"/>
          <p:nvPr/>
        </p:nvSpPr>
        <p:spPr>
          <a:xfrm>
            <a:off x="288875" y="2864325"/>
            <a:ext cx="4283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u="sng">
                <a:solidFill>
                  <a:schemeClr val="hlink"/>
                </a:solidFill>
                <a:latin typeface="Calibri"/>
                <a:ea typeface="Calibri"/>
                <a:cs typeface="Calibri"/>
                <a:sym typeface="Calibri"/>
                <a:hlinkClick r:id="rId3"/>
              </a:rPr>
              <a:t>Use Direct Integrations Between Supply Chain Orchestration and Inventory</a:t>
            </a:r>
            <a:endParaRPr sz="9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0"/>
          <p:cNvSpPr txBox="1"/>
          <p:nvPr>
            <p:ph idx="4294967295" type="title"/>
          </p:nvPr>
        </p:nvSpPr>
        <p:spPr>
          <a:xfrm>
            <a:off x="0" y="102546"/>
            <a:ext cx="8520600" cy="376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990"/>
              <a:buFont typeface="Arial"/>
              <a:buNone/>
            </a:pPr>
            <a:r>
              <a:rPr b="1" lang="en-US" sz="1220"/>
              <a:t>Inventory Management</a:t>
            </a:r>
            <a:endParaRPr>
              <a:highlight>
                <a:schemeClr val="accent6"/>
              </a:highlight>
            </a:endParaRPr>
          </a:p>
        </p:txBody>
      </p:sp>
      <p:graphicFrame>
        <p:nvGraphicFramePr>
          <p:cNvPr id="175" name="Google Shape;175;p30"/>
          <p:cNvGraphicFramePr/>
          <p:nvPr/>
        </p:nvGraphicFramePr>
        <p:xfrm>
          <a:off x="288868" y="534406"/>
          <a:ext cx="3000000" cy="3000000"/>
        </p:xfrm>
        <a:graphic>
          <a:graphicData uri="http://schemas.openxmlformats.org/drawingml/2006/table">
            <a:tbl>
              <a:tblPr>
                <a:noFill/>
                <a:tableStyleId>{7CE1E117-5442-4E1C-B7FE-E79694003765}</a:tableStyleId>
              </a:tblPr>
              <a:tblGrid>
                <a:gridCol w="545625"/>
                <a:gridCol w="2351275"/>
                <a:gridCol w="2351275"/>
                <a:gridCol w="2191625"/>
                <a:gridCol w="913775"/>
              </a:tblGrid>
              <a:tr h="328500">
                <a:tc>
                  <a:txBody>
                    <a:bodyPr/>
                    <a:lstStyle/>
                    <a:p>
                      <a:pPr indent="0" lvl="0" marL="0" marR="0" rtl="0" algn="ctr">
                        <a:lnSpc>
                          <a:spcPct val="100000"/>
                        </a:lnSpc>
                        <a:spcBef>
                          <a:spcPts val="0"/>
                        </a:spcBef>
                        <a:spcAft>
                          <a:spcPts val="0"/>
                        </a:spcAft>
                        <a:buClr>
                          <a:srgbClr val="000000"/>
                        </a:buClr>
                        <a:buSzPts val="794"/>
                        <a:buFont typeface="Arial"/>
                        <a:buNone/>
                      </a:pPr>
                      <a:r>
                        <a:rPr b="1" lang="en-US" sz="1000" u="none" cap="none" strike="noStrike">
                          <a:solidFill>
                            <a:srgbClr val="FFFFFF"/>
                          </a:solidFill>
                          <a:latin typeface="Calibri"/>
                          <a:ea typeface="Calibri"/>
                          <a:cs typeface="Calibri"/>
                          <a:sym typeface="Calibri"/>
                        </a:rPr>
                        <a:t>Sr. No.</a:t>
                      </a:r>
                      <a:endParaRPr b="1" sz="10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26A Release Feature</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000" u="none" cap="none" strike="noStrike">
                          <a:solidFill>
                            <a:srgbClr val="FFFFFF"/>
                          </a:solidFill>
                          <a:latin typeface="Calibri"/>
                          <a:ea typeface="Calibri"/>
                          <a:cs typeface="Calibri"/>
                          <a:sym typeface="Calibri"/>
                        </a:rPr>
                        <a:t>Business Benefit</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Business Impact</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Mandatory (Yes/No)</a:t>
                      </a:r>
                      <a:endParaRPr sz="14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r>
              <a:tr h="1478775">
                <a:tc>
                  <a:txBody>
                    <a:bodyPr/>
                    <a:lstStyle/>
                    <a:p>
                      <a:pPr indent="0" lvl="0" marL="0" marR="0" rtl="0" algn="ctr">
                        <a:lnSpc>
                          <a:spcPct val="100000"/>
                        </a:lnSpc>
                        <a:spcBef>
                          <a:spcPts val="0"/>
                        </a:spcBef>
                        <a:spcAft>
                          <a:spcPts val="0"/>
                        </a:spcAft>
                        <a:buClr>
                          <a:srgbClr val="000000"/>
                        </a:buClr>
                        <a:buSzPts val="900"/>
                        <a:buFont typeface="Arial"/>
                        <a:buNone/>
                      </a:pPr>
                      <a:r>
                        <a:rPr lang="en-US" sz="900">
                          <a:latin typeface="Calibri"/>
                          <a:ea typeface="Calibri"/>
                          <a:cs typeface="Calibri"/>
                          <a:sym typeface="Calibri"/>
                        </a:rPr>
                        <a:t>4</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latin typeface="Calibri"/>
                          <a:ea typeface="Calibri"/>
                          <a:cs typeface="Calibri"/>
                          <a:sym typeface="Calibri"/>
                        </a:rPr>
                        <a:t>Redwood: Purge Cycle Count Schedules for a Specific Cycle Count</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1" sz="900" u="none" cap="none" strike="noStrike">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This feature allows users to purge existing cycle count schedules for a specific cycle count using the Redwood Cycle Counts page. It helps remove outdated or incorrect schedules that may accumulate over time due to operational changes or adjustments in counting frequency.</a:t>
                      </a:r>
                      <a:endParaRPr sz="14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The feature enables organizations to purge outdated or incorrect cycle count schedules while keeping the main cycle count definitions intact in Oracle Fusion Inventory Management within Oracle Fusion Cloud Applications. This reduces manual maintenance, improves scheduling accuracy based on updated criteria, and gives users more flexible control over managing cycle count schedules.</a:t>
                      </a:r>
                      <a:endParaRPr sz="14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Purging outdated cycle count schedules helps maintain accurate and relevant inventory counting while improving operational efficiency.</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Business wants to test this feature after 26A upgrade</a:t>
                      </a:r>
                      <a:endParaRPr sz="900">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Yes</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r h="1722200">
                <a:tc>
                  <a:txBody>
                    <a:bodyPr/>
                    <a:lstStyle/>
                    <a:p>
                      <a:pPr indent="0" lvl="0" marL="0" marR="0" rtl="0" algn="ctr">
                        <a:lnSpc>
                          <a:spcPct val="100000"/>
                        </a:lnSpc>
                        <a:spcBef>
                          <a:spcPts val="0"/>
                        </a:spcBef>
                        <a:spcAft>
                          <a:spcPts val="0"/>
                        </a:spcAft>
                        <a:buClr>
                          <a:srgbClr val="000000"/>
                        </a:buClr>
                        <a:buSzPts val="900"/>
                        <a:buFont typeface="Arial"/>
                        <a:buNone/>
                      </a:pPr>
                      <a:r>
                        <a:rPr lang="en-US" sz="900">
                          <a:latin typeface="Calibri"/>
                          <a:ea typeface="Calibri"/>
                          <a:cs typeface="Calibri"/>
                          <a:sym typeface="Calibri"/>
                        </a:rPr>
                        <a:t>5</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latin typeface="Calibri"/>
                          <a:ea typeface="Calibri"/>
                          <a:cs typeface="Calibri"/>
                          <a:sym typeface="Calibri"/>
                        </a:rPr>
                        <a:t>Redwood: View Shortages and Stockouts for Kanban Locations on the Item Shortages Page</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1" sz="900" u="none" cap="none" strike="noStrike">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The Redwood: View Shortages and Stockouts for Kanban Locations on the Item Shortages Page feature enhances inventory visibility by allowing users to monitor shortages and stockouts specifically at Kanban locations directly from the Redwood Item Shortages page.</a:t>
                      </a:r>
                      <a:endParaRPr b="1"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Displaying Kanban locations in the Item Shortages Workbench improves inventory visibility across the organization and helps managers quickly identify shortages or </a:t>
                      </a:r>
                      <a:r>
                        <a:rPr lang="en-US" sz="900">
                          <a:latin typeface="Calibri"/>
                          <a:ea typeface="Calibri"/>
                          <a:cs typeface="Calibri"/>
                          <a:sym typeface="Calibri"/>
                        </a:rPr>
                        <a:t>stock outs</a:t>
                      </a:r>
                      <a:r>
                        <a:rPr lang="en-US" sz="900" u="none" cap="none" strike="noStrike">
                          <a:latin typeface="Calibri"/>
                          <a:ea typeface="Calibri"/>
                          <a:cs typeface="Calibri"/>
                          <a:sym typeface="Calibri"/>
                        </a:rPr>
                        <a:t> at supply points. </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 BUSINESS IMPACT unless Kanban replenishment is used.</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N/A</a:t>
                      </a:r>
                      <a:endParaRPr sz="900">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bl>
          </a:graphicData>
        </a:graphic>
      </p:graphicFrame>
      <p:sp>
        <p:nvSpPr>
          <p:cNvPr id="176" name="Google Shape;176;p30"/>
          <p:cNvSpPr txBox="1"/>
          <p:nvPr/>
        </p:nvSpPr>
        <p:spPr>
          <a:xfrm>
            <a:off x="288875" y="4162350"/>
            <a:ext cx="4582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u="sng">
                <a:solidFill>
                  <a:schemeClr val="hlink"/>
                </a:solidFill>
                <a:latin typeface="Calibri"/>
                <a:ea typeface="Calibri"/>
                <a:cs typeface="Calibri"/>
                <a:sym typeface="Calibri"/>
                <a:hlinkClick r:id="rId3"/>
              </a:rPr>
              <a:t>Redwood: Purge Cycle Count Schedules for a Specific Cycle Count</a:t>
            </a:r>
            <a:endParaRPr sz="900">
              <a:latin typeface="Calibri"/>
              <a:ea typeface="Calibri"/>
              <a:cs typeface="Calibri"/>
              <a:sym typeface="Calibri"/>
            </a:endParaRPr>
          </a:p>
          <a:p>
            <a:pPr indent="0" lvl="0" marL="0" rtl="0" algn="l">
              <a:spcBef>
                <a:spcPts val="0"/>
              </a:spcBef>
              <a:spcAft>
                <a:spcPts val="0"/>
              </a:spcAft>
              <a:buNone/>
            </a:pPr>
            <a:r>
              <a:rPr lang="en-US" sz="900" u="sng">
                <a:solidFill>
                  <a:schemeClr val="hlink"/>
                </a:solidFill>
                <a:latin typeface="Calibri"/>
                <a:ea typeface="Calibri"/>
                <a:cs typeface="Calibri"/>
                <a:sym typeface="Calibri"/>
                <a:hlinkClick r:id="rId4"/>
              </a:rPr>
              <a:t>Redwood: View Shortages and Stockouts for Kanban Locations on the Item Shortages Page</a:t>
            </a:r>
            <a:endParaRPr sz="9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1"/>
          <p:cNvSpPr txBox="1"/>
          <p:nvPr>
            <p:ph idx="4294967295" type="title"/>
          </p:nvPr>
        </p:nvSpPr>
        <p:spPr>
          <a:xfrm>
            <a:off x="0" y="102546"/>
            <a:ext cx="8520600" cy="376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990"/>
              <a:buFont typeface="Arial"/>
              <a:buNone/>
            </a:pPr>
            <a:r>
              <a:rPr b="1" lang="en-US" sz="1220"/>
              <a:t>Inventory Management</a:t>
            </a:r>
            <a:endParaRPr>
              <a:highlight>
                <a:schemeClr val="accent6"/>
              </a:highlight>
            </a:endParaRPr>
          </a:p>
        </p:txBody>
      </p:sp>
      <p:graphicFrame>
        <p:nvGraphicFramePr>
          <p:cNvPr id="182" name="Google Shape;182;p31"/>
          <p:cNvGraphicFramePr/>
          <p:nvPr/>
        </p:nvGraphicFramePr>
        <p:xfrm>
          <a:off x="288868" y="534406"/>
          <a:ext cx="3000000" cy="3000000"/>
        </p:xfrm>
        <a:graphic>
          <a:graphicData uri="http://schemas.openxmlformats.org/drawingml/2006/table">
            <a:tbl>
              <a:tblPr>
                <a:noFill/>
                <a:tableStyleId>{7CE1E117-5442-4E1C-B7FE-E79694003765}</a:tableStyleId>
              </a:tblPr>
              <a:tblGrid>
                <a:gridCol w="545625"/>
                <a:gridCol w="2351275"/>
                <a:gridCol w="2351275"/>
                <a:gridCol w="2191625"/>
                <a:gridCol w="913775"/>
              </a:tblGrid>
              <a:tr h="388900">
                <a:tc>
                  <a:txBody>
                    <a:bodyPr/>
                    <a:lstStyle/>
                    <a:p>
                      <a:pPr indent="0" lvl="0" marL="0" marR="0" rtl="0" algn="ctr">
                        <a:lnSpc>
                          <a:spcPct val="100000"/>
                        </a:lnSpc>
                        <a:spcBef>
                          <a:spcPts val="0"/>
                        </a:spcBef>
                        <a:spcAft>
                          <a:spcPts val="0"/>
                        </a:spcAft>
                        <a:buClr>
                          <a:srgbClr val="000000"/>
                        </a:buClr>
                        <a:buSzPts val="794"/>
                        <a:buFont typeface="Arial"/>
                        <a:buNone/>
                      </a:pPr>
                      <a:r>
                        <a:rPr b="1" lang="en-US" sz="1000" u="none" cap="none" strike="noStrike">
                          <a:solidFill>
                            <a:srgbClr val="FFFFFF"/>
                          </a:solidFill>
                          <a:latin typeface="Calibri"/>
                          <a:ea typeface="Calibri"/>
                          <a:cs typeface="Calibri"/>
                          <a:sym typeface="Calibri"/>
                        </a:rPr>
                        <a:t>Sr. No.</a:t>
                      </a:r>
                      <a:endParaRPr b="1" sz="10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26A Release Feature</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a:solidFill>
                            <a:srgbClr val="FFFFFF"/>
                          </a:solidFill>
                          <a:latin typeface="Calibri"/>
                          <a:ea typeface="Calibri"/>
                          <a:cs typeface="Calibri"/>
                          <a:sym typeface="Calibri"/>
                        </a:rPr>
                        <a:t>Business Benefit</a:t>
                      </a:r>
                      <a:endParaRPr b="1" sz="1000">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a:solidFill>
                            <a:srgbClr val="FFFFFF"/>
                          </a:solidFill>
                          <a:latin typeface="Calibri"/>
                          <a:ea typeface="Calibri"/>
                          <a:cs typeface="Calibri"/>
                          <a:sym typeface="Calibri"/>
                        </a:rPr>
                        <a:t>Business Impact</a:t>
                      </a:r>
                      <a:endParaRPr b="1" sz="1000">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a:solidFill>
                            <a:srgbClr val="FFFFFF"/>
                          </a:solidFill>
                          <a:latin typeface="Calibri"/>
                          <a:ea typeface="Calibri"/>
                          <a:cs typeface="Calibri"/>
                          <a:sym typeface="Calibri"/>
                        </a:rPr>
                        <a:t>Mandatory (Yes/No)</a:t>
                      </a:r>
                      <a:endParaRPr b="1" sz="1000">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r>
              <a:tr h="1539650">
                <a:tc>
                  <a:txBody>
                    <a:bodyPr/>
                    <a:lstStyle/>
                    <a:p>
                      <a:pPr indent="0" lvl="0" marL="0" marR="0" rtl="0" algn="ctr">
                        <a:lnSpc>
                          <a:spcPct val="100000"/>
                        </a:lnSpc>
                        <a:spcBef>
                          <a:spcPts val="0"/>
                        </a:spcBef>
                        <a:spcAft>
                          <a:spcPts val="0"/>
                        </a:spcAft>
                        <a:buClr>
                          <a:srgbClr val="000000"/>
                        </a:buClr>
                        <a:buSzPts val="900"/>
                        <a:buFont typeface="Arial"/>
                        <a:buNone/>
                      </a:pPr>
                      <a:r>
                        <a:rPr lang="en-US" sz="900">
                          <a:latin typeface="Calibri"/>
                          <a:ea typeface="Calibri"/>
                          <a:cs typeface="Calibri"/>
                          <a:sym typeface="Calibri"/>
                        </a:rPr>
                        <a:t>6</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latin typeface="Calibri"/>
                          <a:ea typeface="Calibri"/>
                          <a:cs typeface="Calibri"/>
                          <a:sym typeface="Calibri"/>
                        </a:rPr>
                        <a:t>Redwood: View Item Description on the Item Quantities Page</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1" sz="900" u="none" cap="none" strike="noStrike">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The Redwood: View Item Description on the Item Quantities Page allows users to view the item description alongside the item number on the Redwood Item Quantities page.</a:t>
                      </a:r>
                      <a:endParaRPr sz="14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1. Displaying the item description along with the item number improves item identification, especially in environments that use automatic item numbering. </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1. It enhances visibility across different inventory views and Item Quantities pages, helping users quickly understand item details during inventory review. </a:t>
                      </a:r>
                      <a:endParaRPr sz="14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 BUSINESS IMPACT</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Business wants to test this feature after 26A upgrade</a:t>
                      </a:r>
                      <a:endParaRPr sz="900">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Yes</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r h="1349325">
                <a:tc>
                  <a:txBody>
                    <a:bodyPr/>
                    <a:lstStyle/>
                    <a:p>
                      <a:pPr indent="0" lvl="0" marL="0" marR="0" rtl="0" algn="ctr">
                        <a:lnSpc>
                          <a:spcPct val="100000"/>
                        </a:lnSpc>
                        <a:spcBef>
                          <a:spcPts val="0"/>
                        </a:spcBef>
                        <a:spcAft>
                          <a:spcPts val="0"/>
                        </a:spcAft>
                        <a:buClr>
                          <a:srgbClr val="000000"/>
                        </a:buClr>
                        <a:buSzPts val="900"/>
                        <a:buFont typeface="Arial"/>
                        <a:buNone/>
                      </a:pPr>
                      <a:r>
                        <a:rPr lang="en-US" sz="900">
                          <a:latin typeface="Calibri"/>
                          <a:ea typeface="Calibri"/>
                          <a:cs typeface="Calibri"/>
                          <a:sym typeface="Calibri"/>
                        </a:rPr>
                        <a:t>7</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latin typeface="Calibri"/>
                          <a:ea typeface="Calibri"/>
                          <a:cs typeface="Calibri"/>
                          <a:sym typeface="Calibri"/>
                        </a:rPr>
                        <a:t>Redwood: Use Document Output Preferences for Label Printing</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1" sz="900" u="none" cap="none" strike="noStrike">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This feature allows organizations to configure document output preferences for label printing so that labels are automatically routed to a predefined printer, email, or fax destination.</a:t>
                      </a:r>
                      <a:endParaRPr b="1"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This simplifies the label printing process by eliminating the need for manual configuration each time a label is printed. It also provides flexible configuration and easy management of output preferences while still allowing users to override default settings when necessary.</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 BUSINESS IMPACT unless business is printing</a:t>
                      </a:r>
                      <a:r>
                        <a:rPr lang="en-US" sz="900">
                          <a:latin typeface="Calibri"/>
                          <a:ea typeface="Calibri"/>
                          <a:cs typeface="Calibri"/>
                          <a:sym typeface="Calibri"/>
                        </a:rPr>
                        <a:t> </a:t>
                      </a:r>
                      <a:r>
                        <a:rPr lang="en-US" sz="900" u="none" cap="none" strike="noStrike">
                          <a:latin typeface="Calibri"/>
                          <a:ea typeface="Calibri"/>
                          <a:cs typeface="Calibri"/>
                          <a:sym typeface="Calibri"/>
                        </a:rPr>
                        <a:t> labels in warehouse operations</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a:t>
                      </a:r>
                      <a:r>
                        <a:rPr lang="en-US" sz="900">
                          <a:solidFill>
                            <a:schemeClr val="dk1"/>
                          </a:solidFill>
                          <a:latin typeface="Calibri"/>
                          <a:ea typeface="Calibri"/>
                          <a:cs typeface="Calibri"/>
                          <a:sym typeface="Calibri"/>
                        </a:rPr>
                        <a:t>Business wants to test this feature after 26A upgrade</a:t>
                      </a:r>
                      <a:endParaRPr sz="900">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bl>
          </a:graphicData>
        </a:graphic>
      </p:graphicFrame>
      <p:sp>
        <p:nvSpPr>
          <p:cNvPr id="183" name="Google Shape;183;p31"/>
          <p:cNvSpPr txBox="1"/>
          <p:nvPr/>
        </p:nvSpPr>
        <p:spPr>
          <a:xfrm>
            <a:off x="288875" y="3867925"/>
            <a:ext cx="356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u="sng">
                <a:solidFill>
                  <a:schemeClr val="hlink"/>
                </a:solidFill>
                <a:latin typeface="Calibri"/>
                <a:ea typeface="Calibri"/>
                <a:cs typeface="Calibri"/>
                <a:sym typeface="Calibri"/>
                <a:hlinkClick r:id="rId3"/>
              </a:rPr>
              <a:t>Redwood: View Item Description on the Item Quantities Page</a:t>
            </a:r>
            <a:endParaRPr sz="900">
              <a:latin typeface="Calibri"/>
              <a:ea typeface="Calibri"/>
              <a:cs typeface="Calibri"/>
              <a:sym typeface="Calibri"/>
            </a:endParaRPr>
          </a:p>
          <a:p>
            <a:pPr indent="0" lvl="0" marL="0" rtl="0" algn="l">
              <a:spcBef>
                <a:spcPts val="0"/>
              </a:spcBef>
              <a:spcAft>
                <a:spcPts val="0"/>
              </a:spcAft>
              <a:buNone/>
            </a:pPr>
            <a:r>
              <a:rPr lang="en-US" sz="900" u="sng">
                <a:solidFill>
                  <a:schemeClr val="hlink"/>
                </a:solidFill>
                <a:latin typeface="Calibri"/>
                <a:ea typeface="Calibri"/>
                <a:cs typeface="Calibri"/>
                <a:sym typeface="Calibri"/>
                <a:hlinkClick r:id="rId4"/>
              </a:rPr>
              <a:t>Redwood: Use Document Output Preferences for Label Printing</a:t>
            </a:r>
            <a:endParaRPr sz="9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ph idx="4294967295" type="title"/>
          </p:nvPr>
        </p:nvSpPr>
        <p:spPr>
          <a:xfrm>
            <a:off x="0" y="102546"/>
            <a:ext cx="8520600" cy="376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990"/>
              <a:buFont typeface="Arial"/>
              <a:buNone/>
            </a:pPr>
            <a:r>
              <a:rPr b="1" lang="en-US" sz="1220"/>
              <a:t>Inventory Management</a:t>
            </a:r>
            <a:endParaRPr>
              <a:highlight>
                <a:schemeClr val="accent6"/>
              </a:highlight>
            </a:endParaRPr>
          </a:p>
        </p:txBody>
      </p:sp>
      <p:graphicFrame>
        <p:nvGraphicFramePr>
          <p:cNvPr id="189" name="Google Shape;189;p32"/>
          <p:cNvGraphicFramePr/>
          <p:nvPr/>
        </p:nvGraphicFramePr>
        <p:xfrm>
          <a:off x="288868" y="534406"/>
          <a:ext cx="3000000" cy="3000000"/>
        </p:xfrm>
        <a:graphic>
          <a:graphicData uri="http://schemas.openxmlformats.org/drawingml/2006/table">
            <a:tbl>
              <a:tblPr>
                <a:noFill/>
                <a:tableStyleId>{7CE1E117-5442-4E1C-B7FE-E79694003765}</a:tableStyleId>
              </a:tblPr>
              <a:tblGrid>
                <a:gridCol w="545625"/>
                <a:gridCol w="2351275"/>
                <a:gridCol w="2351275"/>
                <a:gridCol w="2215475"/>
                <a:gridCol w="889925"/>
              </a:tblGrid>
              <a:tr h="330125">
                <a:tc>
                  <a:txBody>
                    <a:bodyPr/>
                    <a:lstStyle/>
                    <a:p>
                      <a:pPr indent="0" lvl="0" marL="0" marR="0" rtl="0" algn="ctr">
                        <a:lnSpc>
                          <a:spcPct val="100000"/>
                        </a:lnSpc>
                        <a:spcBef>
                          <a:spcPts val="0"/>
                        </a:spcBef>
                        <a:spcAft>
                          <a:spcPts val="0"/>
                        </a:spcAft>
                        <a:buClr>
                          <a:srgbClr val="000000"/>
                        </a:buClr>
                        <a:buSzPts val="794"/>
                        <a:buFont typeface="Arial"/>
                        <a:buNone/>
                      </a:pPr>
                      <a:r>
                        <a:rPr b="1" lang="en-US" sz="1000" u="none" cap="none" strike="noStrike">
                          <a:solidFill>
                            <a:srgbClr val="FFFFFF"/>
                          </a:solidFill>
                          <a:latin typeface="Calibri"/>
                          <a:ea typeface="Calibri"/>
                          <a:cs typeface="Calibri"/>
                          <a:sym typeface="Calibri"/>
                        </a:rPr>
                        <a:t>Sr. No.</a:t>
                      </a:r>
                      <a:endParaRPr b="1" sz="10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26A Release Feature</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000" u="none" cap="none" strike="noStrike">
                          <a:solidFill>
                            <a:srgbClr val="FFFFFF"/>
                          </a:solidFill>
                          <a:latin typeface="Calibri"/>
                          <a:ea typeface="Calibri"/>
                          <a:cs typeface="Calibri"/>
                          <a:sym typeface="Calibri"/>
                        </a:rPr>
                        <a:t>Business Benefit</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Business Impact</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Mandatory (Yes/No)</a:t>
                      </a:r>
                      <a:endParaRPr sz="14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r>
              <a:tr h="1400475">
                <a:tc>
                  <a:txBody>
                    <a:bodyPr/>
                    <a:lstStyle/>
                    <a:p>
                      <a:pPr indent="0" lvl="0" marL="0" marR="0" rtl="0" algn="ctr">
                        <a:lnSpc>
                          <a:spcPct val="100000"/>
                        </a:lnSpc>
                        <a:spcBef>
                          <a:spcPts val="0"/>
                        </a:spcBef>
                        <a:spcAft>
                          <a:spcPts val="0"/>
                        </a:spcAft>
                        <a:buClr>
                          <a:srgbClr val="000000"/>
                        </a:buClr>
                        <a:buSzPts val="900"/>
                        <a:buFont typeface="Arial"/>
                        <a:buNone/>
                      </a:pPr>
                      <a:r>
                        <a:rPr lang="en-US" sz="900">
                          <a:latin typeface="Calibri"/>
                          <a:ea typeface="Calibri"/>
                          <a:cs typeface="Calibri"/>
                          <a:sym typeface="Calibri"/>
                        </a:rPr>
                        <a:t>8</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latin typeface="Calibri"/>
                          <a:ea typeface="Calibri"/>
                          <a:cs typeface="Calibri"/>
                          <a:sym typeface="Calibri"/>
                        </a:rPr>
                        <a:t>Redwood: Release Pick Waves by Sales Order Type</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1" sz="900" u="none" cap="none" strike="noStrike">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This feature allows organizations to release pick waves based on specific sales order types in Oracle Fusion Inventory Management. When creating pick wave release rules, pick waves, or outbound shipment requests, users can now select the relevant sales order type to control which orders are included in the picking process.</a:t>
                      </a:r>
                      <a:endParaRPr sz="14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Using sales order types in fulfillment processes allows organizations to better classify and manage different sales orders based on specific business requirements.</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This improves control over the order fulfillment process and ensures that picking and shipping operations align more effectively with the order type and operational requirements.</a:t>
                      </a:r>
                      <a:endParaRPr sz="14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 BUSINESS IMPACT as </a:t>
                      </a:r>
                      <a:r>
                        <a:rPr lang="en-US" sz="900">
                          <a:latin typeface="Calibri"/>
                          <a:ea typeface="Calibri"/>
                          <a:cs typeface="Calibri"/>
                          <a:sym typeface="Calibri"/>
                        </a:rPr>
                        <a:t>Sales orders not in scope</a:t>
                      </a:r>
                      <a:endParaRPr sz="9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N/A</a:t>
                      </a:r>
                      <a:endParaRPr sz="9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r h="1792525">
                <a:tc>
                  <a:txBody>
                    <a:bodyPr/>
                    <a:lstStyle/>
                    <a:p>
                      <a:pPr indent="0" lvl="0" marL="0" marR="0" rtl="0" algn="ctr">
                        <a:lnSpc>
                          <a:spcPct val="100000"/>
                        </a:lnSpc>
                        <a:spcBef>
                          <a:spcPts val="0"/>
                        </a:spcBef>
                        <a:spcAft>
                          <a:spcPts val="0"/>
                        </a:spcAft>
                        <a:buClr>
                          <a:srgbClr val="000000"/>
                        </a:buClr>
                        <a:buSzPts val="900"/>
                        <a:buFont typeface="Arial"/>
                        <a:buNone/>
                      </a:pPr>
                      <a:r>
                        <a:rPr lang="en-US" sz="900">
                          <a:latin typeface="Calibri"/>
                          <a:ea typeface="Calibri"/>
                          <a:cs typeface="Calibri"/>
                          <a:sym typeface="Calibri"/>
                        </a:rPr>
                        <a:t>9</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latin typeface="Calibri"/>
                          <a:ea typeface="Calibri"/>
                          <a:cs typeface="Calibri"/>
                          <a:sym typeface="Calibri"/>
                        </a:rPr>
                        <a:t>Redwood: Use Alternate Language Translations for Subinventories and Zones</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1" sz="900" u="none" cap="none" strike="noStrike">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The Redwood Alternate Language Translations for Subinventories and Zones feature improves usability for global organizations by allowing inventory locations to be displayed in multiple languages. This helps users clearly understand subinventory and zone information in their preferred language, reducing the risk of operational errors.</a:t>
                      </a:r>
                      <a:endParaRPr b="1"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This feature enables multilingual visibility of warehouse data, allowing users to view subinventory and zone information in their preferred language for better clarity across global teams. </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 BUSINESS IMPACT unless business users have a preferred language.</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N/A</a:t>
                      </a:r>
                      <a:endParaRPr sz="900">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bl>
          </a:graphicData>
        </a:graphic>
      </p:graphicFrame>
      <p:sp>
        <p:nvSpPr>
          <p:cNvPr id="190" name="Google Shape;190;p32"/>
          <p:cNvSpPr txBox="1"/>
          <p:nvPr/>
        </p:nvSpPr>
        <p:spPr>
          <a:xfrm>
            <a:off x="288875" y="4329200"/>
            <a:ext cx="39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u="sng">
                <a:solidFill>
                  <a:schemeClr val="hlink"/>
                </a:solidFill>
                <a:latin typeface="Calibri"/>
                <a:ea typeface="Calibri"/>
                <a:cs typeface="Calibri"/>
                <a:sym typeface="Calibri"/>
                <a:hlinkClick r:id="rId3"/>
              </a:rPr>
              <a:t>Redwood: Release Pick Waves by Sales Order Type</a:t>
            </a:r>
            <a:endParaRPr sz="900">
              <a:latin typeface="Calibri"/>
              <a:ea typeface="Calibri"/>
              <a:cs typeface="Calibri"/>
              <a:sym typeface="Calibri"/>
            </a:endParaRPr>
          </a:p>
          <a:p>
            <a:pPr indent="0" lvl="0" marL="0" rtl="0" algn="l">
              <a:spcBef>
                <a:spcPts val="0"/>
              </a:spcBef>
              <a:spcAft>
                <a:spcPts val="0"/>
              </a:spcAft>
              <a:buNone/>
            </a:pPr>
            <a:r>
              <a:rPr lang="en-US" sz="900" u="sng">
                <a:solidFill>
                  <a:schemeClr val="hlink"/>
                </a:solidFill>
                <a:latin typeface="Calibri"/>
                <a:ea typeface="Calibri"/>
                <a:cs typeface="Calibri"/>
                <a:sym typeface="Calibri"/>
                <a:hlinkClick r:id="rId4"/>
              </a:rPr>
              <a:t>Redwood: Use Alternate Language Translations for Subinventories and Zones</a:t>
            </a:r>
            <a:endParaRPr sz="9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3"/>
          <p:cNvSpPr txBox="1"/>
          <p:nvPr>
            <p:ph idx="4294967295" type="title"/>
          </p:nvPr>
        </p:nvSpPr>
        <p:spPr>
          <a:xfrm>
            <a:off x="0" y="102546"/>
            <a:ext cx="8520600" cy="376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990"/>
              <a:buFont typeface="Arial"/>
              <a:buNone/>
            </a:pPr>
            <a:r>
              <a:rPr b="1" lang="en-US" sz="1220"/>
              <a:t>Inventory Management</a:t>
            </a:r>
            <a:endParaRPr>
              <a:highlight>
                <a:schemeClr val="accent6"/>
              </a:highlight>
            </a:endParaRPr>
          </a:p>
        </p:txBody>
      </p:sp>
      <p:graphicFrame>
        <p:nvGraphicFramePr>
          <p:cNvPr id="196" name="Google Shape;196;p33"/>
          <p:cNvGraphicFramePr/>
          <p:nvPr/>
        </p:nvGraphicFramePr>
        <p:xfrm>
          <a:off x="288868" y="534406"/>
          <a:ext cx="3000000" cy="3000000"/>
        </p:xfrm>
        <a:graphic>
          <a:graphicData uri="http://schemas.openxmlformats.org/drawingml/2006/table">
            <a:tbl>
              <a:tblPr>
                <a:noFill/>
                <a:tableStyleId>{7CE1E117-5442-4E1C-B7FE-E79694003765}</a:tableStyleId>
              </a:tblPr>
              <a:tblGrid>
                <a:gridCol w="545625"/>
                <a:gridCol w="2351275"/>
                <a:gridCol w="2351275"/>
                <a:gridCol w="2239325"/>
                <a:gridCol w="866075"/>
              </a:tblGrid>
              <a:tr h="375900">
                <a:tc>
                  <a:txBody>
                    <a:bodyPr/>
                    <a:lstStyle/>
                    <a:p>
                      <a:pPr indent="0" lvl="0" marL="0" marR="0" rtl="0" algn="ctr">
                        <a:lnSpc>
                          <a:spcPct val="100000"/>
                        </a:lnSpc>
                        <a:spcBef>
                          <a:spcPts val="0"/>
                        </a:spcBef>
                        <a:spcAft>
                          <a:spcPts val="0"/>
                        </a:spcAft>
                        <a:buClr>
                          <a:srgbClr val="000000"/>
                        </a:buClr>
                        <a:buSzPts val="794"/>
                        <a:buFont typeface="Arial"/>
                        <a:buNone/>
                      </a:pPr>
                      <a:r>
                        <a:rPr b="1" lang="en-US" sz="1000" u="none" cap="none" strike="noStrike">
                          <a:solidFill>
                            <a:srgbClr val="FFFFFF"/>
                          </a:solidFill>
                          <a:latin typeface="Calibri"/>
                          <a:ea typeface="Calibri"/>
                          <a:cs typeface="Calibri"/>
                          <a:sym typeface="Calibri"/>
                        </a:rPr>
                        <a:t>Sr. No.</a:t>
                      </a:r>
                      <a:endParaRPr b="1" sz="10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26A Release Feature</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000" u="none" cap="none" strike="noStrike">
                          <a:solidFill>
                            <a:srgbClr val="FFFFFF"/>
                          </a:solidFill>
                          <a:latin typeface="Calibri"/>
                          <a:ea typeface="Calibri"/>
                          <a:cs typeface="Calibri"/>
                          <a:sym typeface="Calibri"/>
                        </a:rPr>
                        <a:t>Business Benefit</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Business Impact</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Mandatory (Yes/No)</a:t>
                      </a:r>
                      <a:endParaRPr sz="14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r>
              <a:tr h="1464475">
                <a:tc>
                  <a:txBody>
                    <a:bodyPr/>
                    <a:lstStyle/>
                    <a:p>
                      <a:pPr indent="0" lvl="0" marL="0" marR="0" rtl="0" algn="ctr">
                        <a:lnSpc>
                          <a:spcPct val="100000"/>
                        </a:lnSpc>
                        <a:spcBef>
                          <a:spcPts val="0"/>
                        </a:spcBef>
                        <a:spcAft>
                          <a:spcPts val="0"/>
                        </a:spcAft>
                        <a:buClr>
                          <a:srgbClr val="000000"/>
                        </a:buClr>
                        <a:buSzPts val="900"/>
                        <a:buFont typeface="Arial"/>
                        <a:buNone/>
                      </a:pPr>
                      <a:r>
                        <a:rPr lang="en-US" sz="900">
                          <a:latin typeface="Calibri"/>
                          <a:ea typeface="Calibri"/>
                          <a:cs typeface="Calibri"/>
                          <a:sym typeface="Calibri"/>
                        </a:rPr>
                        <a:t>10</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latin typeface="Calibri"/>
                          <a:ea typeface="Calibri"/>
                          <a:cs typeface="Calibri"/>
                          <a:sym typeface="Calibri"/>
                        </a:rPr>
                        <a:t>Redwood: Review Min-Max Quantities and PAR Levels Before Updating Current Values</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1" sz="900" u="none" cap="none" strike="noStrike">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This feature allows users to review automatically calculated Min-Max quantities and PAR levels before they update the existing replenishment values.</a:t>
                      </a:r>
                      <a:endParaRPr sz="14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This feature enables organizations to review and validate calculated replenishment levels before updating them, ensuring more accurate inventory planning. It allows users to override suggested values when necessary, providing flexibility to adjust parameters based on business needs. </a:t>
                      </a:r>
                      <a:endParaRPr sz="14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Business needs to configure setups such as Min-Max Classification groups, Min-Max policy profiles, Policy profile assignments, Notifications to enable this functionality</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a:t>
                      </a:r>
                      <a:r>
                        <a:rPr lang="en-US" sz="900">
                          <a:solidFill>
                            <a:schemeClr val="dk1"/>
                          </a:solidFill>
                          <a:latin typeface="Calibri"/>
                          <a:ea typeface="Calibri"/>
                          <a:cs typeface="Calibri"/>
                          <a:sym typeface="Calibri"/>
                        </a:rPr>
                        <a:t>Business wants to test this feature after 26A upgrade</a:t>
                      </a:r>
                      <a:endParaRPr sz="900">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r h="1702550">
                <a:tc>
                  <a:txBody>
                    <a:bodyPr/>
                    <a:lstStyle/>
                    <a:p>
                      <a:pPr indent="0" lvl="0" marL="0" marR="0" rtl="0" algn="ctr">
                        <a:lnSpc>
                          <a:spcPct val="100000"/>
                        </a:lnSpc>
                        <a:spcBef>
                          <a:spcPts val="0"/>
                        </a:spcBef>
                        <a:spcAft>
                          <a:spcPts val="0"/>
                        </a:spcAft>
                        <a:buClr>
                          <a:srgbClr val="000000"/>
                        </a:buClr>
                        <a:buSzPts val="900"/>
                        <a:buFont typeface="Arial"/>
                        <a:buNone/>
                      </a:pPr>
                      <a:r>
                        <a:rPr lang="en-US" sz="900">
                          <a:latin typeface="Calibri"/>
                          <a:ea typeface="Calibri"/>
                          <a:cs typeface="Calibri"/>
                          <a:sym typeface="Calibri"/>
                        </a:rPr>
                        <a:t>11</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latin typeface="Calibri"/>
                          <a:ea typeface="Calibri"/>
                          <a:cs typeface="Calibri"/>
                          <a:sym typeface="Calibri"/>
                        </a:rPr>
                        <a:t>Redwood: Use Lot-Specific Unit of Measure Conversions</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1" sz="900" u="none" cap="none" strike="noStrike">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The Redwood: Use Lot-Specific Unit of Measure Conversions feature enables organizations to define unique unit-of-measure (UOM) conversion rates for individual inventory lots. This allows the system to use lot-specific conversion factors instead of standard item-level conversions when processing transactions.</a:t>
                      </a:r>
                      <a:endParaRPr b="1"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Lot-specific UOM conversions enable more accurate inventory tracking by accounting for variations in characteristics such as weight, potency, or volume across different lots. This improves inventory precision and costing accuracy by using lot-level conversion rates instead of item-level conversions.</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Business needs to enable lot specific conversions in inventory organization parameters page.</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a:t>
                      </a:r>
                      <a:r>
                        <a:rPr lang="en-US" sz="900">
                          <a:solidFill>
                            <a:schemeClr val="dk1"/>
                          </a:solidFill>
                          <a:latin typeface="Calibri"/>
                          <a:ea typeface="Calibri"/>
                          <a:cs typeface="Calibri"/>
                          <a:sym typeface="Calibri"/>
                        </a:rPr>
                        <a:t>Business to review whether this scenario is applicable for any of their lot controlled items for ex:- cable</a:t>
                      </a:r>
                      <a:endParaRPr sz="900">
                        <a:solidFill>
                          <a:schemeClr val="dk1"/>
                        </a:solidFill>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bl>
          </a:graphicData>
        </a:graphic>
      </p:graphicFrame>
      <p:sp>
        <p:nvSpPr>
          <p:cNvPr id="197" name="Google Shape;197;p33"/>
          <p:cNvSpPr txBox="1"/>
          <p:nvPr/>
        </p:nvSpPr>
        <p:spPr>
          <a:xfrm>
            <a:off x="288875" y="4132975"/>
            <a:ext cx="4283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u="sng">
                <a:solidFill>
                  <a:schemeClr val="hlink"/>
                </a:solidFill>
                <a:latin typeface="Calibri"/>
                <a:ea typeface="Calibri"/>
                <a:cs typeface="Calibri"/>
                <a:sym typeface="Calibri"/>
                <a:hlinkClick r:id="rId3"/>
              </a:rPr>
              <a:t>Redwood: Review Min-Max Quantities and PAR Levels Before Updating Current Values</a:t>
            </a:r>
            <a:endParaRPr sz="900">
              <a:latin typeface="Calibri"/>
              <a:ea typeface="Calibri"/>
              <a:cs typeface="Calibri"/>
              <a:sym typeface="Calibri"/>
            </a:endParaRPr>
          </a:p>
          <a:p>
            <a:pPr indent="0" lvl="0" marL="0" rtl="0" algn="l">
              <a:spcBef>
                <a:spcPts val="0"/>
              </a:spcBef>
              <a:spcAft>
                <a:spcPts val="0"/>
              </a:spcAft>
              <a:buNone/>
            </a:pPr>
            <a:r>
              <a:rPr lang="en-US" sz="900" u="sng">
                <a:solidFill>
                  <a:schemeClr val="hlink"/>
                </a:solidFill>
                <a:latin typeface="Calibri"/>
                <a:ea typeface="Calibri"/>
                <a:cs typeface="Calibri"/>
                <a:sym typeface="Calibri"/>
                <a:hlinkClick r:id="rId4"/>
              </a:rPr>
              <a:t>Redwood: Use Lot-Specific Unit of Measure Conversions</a:t>
            </a:r>
            <a:endParaRPr sz="9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4"/>
          <p:cNvSpPr txBox="1"/>
          <p:nvPr>
            <p:ph idx="4294967295" type="title"/>
          </p:nvPr>
        </p:nvSpPr>
        <p:spPr>
          <a:xfrm>
            <a:off x="0" y="102546"/>
            <a:ext cx="8520600" cy="376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990"/>
              <a:buFont typeface="Arial"/>
              <a:buNone/>
            </a:pPr>
            <a:r>
              <a:rPr b="1" lang="en-US" sz="1220"/>
              <a:t>Inventory Management</a:t>
            </a:r>
            <a:endParaRPr>
              <a:highlight>
                <a:schemeClr val="accent6"/>
              </a:highlight>
            </a:endParaRPr>
          </a:p>
        </p:txBody>
      </p:sp>
      <p:graphicFrame>
        <p:nvGraphicFramePr>
          <p:cNvPr id="203" name="Google Shape;203;p34"/>
          <p:cNvGraphicFramePr/>
          <p:nvPr/>
        </p:nvGraphicFramePr>
        <p:xfrm>
          <a:off x="288868" y="534406"/>
          <a:ext cx="3000000" cy="3000000"/>
        </p:xfrm>
        <a:graphic>
          <a:graphicData uri="http://schemas.openxmlformats.org/drawingml/2006/table">
            <a:tbl>
              <a:tblPr>
                <a:noFill/>
                <a:tableStyleId>{7CE1E117-5442-4E1C-B7FE-E79694003765}</a:tableStyleId>
              </a:tblPr>
              <a:tblGrid>
                <a:gridCol w="545625"/>
                <a:gridCol w="2351275"/>
                <a:gridCol w="2351275"/>
                <a:gridCol w="2231375"/>
                <a:gridCol w="874025"/>
              </a:tblGrid>
              <a:tr h="105100">
                <a:tc>
                  <a:txBody>
                    <a:bodyPr/>
                    <a:lstStyle/>
                    <a:p>
                      <a:pPr indent="0" lvl="0" marL="0" marR="0" rtl="0" algn="ctr">
                        <a:lnSpc>
                          <a:spcPct val="100000"/>
                        </a:lnSpc>
                        <a:spcBef>
                          <a:spcPts val="0"/>
                        </a:spcBef>
                        <a:spcAft>
                          <a:spcPts val="0"/>
                        </a:spcAft>
                        <a:buClr>
                          <a:srgbClr val="000000"/>
                        </a:buClr>
                        <a:buSzPts val="794"/>
                        <a:buFont typeface="Arial"/>
                        <a:buNone/>
                      </a:pPr>
                      <a:r>
                        <a:rPr b="1" lang="en-US" sz="1000" u="none" cap="none" strike="noStrike">
                          <a:solidFill>
                            <a:srgbClr val="FFFFFF"/>
                          </a:solidFill>
                          <a:latin typeface="Calibri"/>
                          <a:ea typeface="Calibri"/>
                          <a:cs typeface="Calibri"/>
                          <a:sym typeface="Calibri"/>
                        </a:rPr>
                        <a:t>Sr. No.</a:t>
                      </a:r>
                      <a:endParaRPr b="1" sz="10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26A Release Feature</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US" sz="900" u="none" cap="none" strike="noStrike">
                          <a:solidFill>
                            <a:srgbClr val="FFFFFF"/>
                          </a:solidFill>
                          <a:latin typeface="Calibri"/>
                          <a:ea typeface="Calibri"/>
                          <a:cs typeface="Calibri"/>
                          <a:sym typeface="Calibri"/>
                        </a:rPr>
                        <a:t>Business Benefit</a:t>
                      </a:r>
                      <a:endParaRPr b="1" sz="9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Business Impact</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Mandatory (Yes/No)</a:t>
                      </a:r>
                      <a:endParaRPr sz="14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r>
              <a:tr h="2255775">
                <a:tc>
                  <a:txBody>
                    <a:bodyPr/>
                    <a:lstStyle/>
                    <a:p>
                      <a:pPr indent="0" lvl="0" marL="0" marR="0" rtl="0" algn="ctr">
                        <a:lnSpc>
                          <a:spcPct val="100000"/>
                        </a:lnSpc>
                        <a:spcBef>
                          <a:spcPts val="0"/>
                        </a:spcBef>
                        <a:spcAft>
                          <a:spcPts val="0"/>
                        </a:spcAft>
                        <a:buClr>
                          <a:srgbClr val="000000"/>
                        </a:buClr>
                        <a:buSzPts val="900"/>
                        <a:buFont typeface="Arial"/>
                        <a:buNone/>
                      </a:pPr>
                      <a:r>
                        <a:rPr lang="en-US" sz="900">
                          <a:latin typeface="Calibri"/>
                          <a:ea typeface="Calibri"/>
                          <a:cs typeface="Calibri"/>
                          <a:sym typeface="Calibri"/>
                        </a:rPr>
                        <a:t>12</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latin typeface="Calibri"/>
                          <a:ea typeface="Calibri"/>
                          <a:cs typeface="Calibri"/>
                          <a:sym typeface="Calibri"/>
                        </a:rPr>
                        <a:t>Redwood: Capture Lot and Serial Numbers During Receiving Only</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1" sz="900" u="none" cap="none" strike="noStrike">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This feature allows users to capture lot and serial numbers directly during the receiving process using the Redwood receiving pages. Warehouse operators can record lot and serial details at the receiving dock along with the received quantity and item condition, eliminating the need to capture them later during put-away.</a:t>
                      </a:r>
                      <a:endParaRPr b="1"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228600" lvl="0" marL="228600" marR="0" rtl="0" algn="l">
                        <a:lnSpc>
                          <a:spcPct val="100000"/>
                        </a:lnSpc>
                        <a:spcBef>
                          <a:spcPts val="0"/>
                        </a:spcBef>
                        <a:spcAft>
                          <a:spcPts val="0"/>
                        </a:spcAft>
                        <a:buClr>
                          <a:srgbClr val="000000"/>
                        </a:buClr>
                        <a:buSzPts val="900"/>
                        <a:buFont typeface="Arial"/>
                        <a:buAutoNum type="arabicPeriod"/>
                      </a:pPr>
                      <a:r>
                        <a:rPr b="1" lang="en-US" sz="900" u="none" cap="none" strike="noStrike">
                          <a:latin typeface="Calibri"/>
                          <a:ea typeface="Calibri"/>
                          <a:cs typeface="Calibri"/>
                          <a:sym typeface="Calibri"/>
                        </a:rPr>
                        <a:t>Faster Receiving Process</a:t>
                      </a:r>
                      <a:r>
                        <a:rPr lang="en-US" sz="900" u="none" cap="none" strike="noStrike">
                          <a:latin typeface="Calibri"/>
                          <a:ea typeface="Calibri"/>
                          <a:cs typeface="Calibri"/>
                          <a:sym typeface="Calibri"/>
                        </a:rPr>
                        <a:t> – Lot and serial numbers can be captured at the receiving dock along with item quantity and condition, helping warehouse operators store items more efficiently.</a:t>
                      </a:r>
                      <a:endParaRPr sz="1400" u="none" cap="none" strike="noStrike">
                        <a:latin typeface="Calibri"/>
                        <a:ea typeface="Calibri"/>
                        <a:cs typeface="Calibri"/>
                        <a:sym typeface="Calibri"/>
                      </a:endParaRPr>
                    </a:p>
                    <a:p>
                      <a:pPr indent="-228600" lvl="0" marL="228600" marR="0" rtl="0" algn="l">
                        <a:lnSpc>
                          <a:spcPct val="100000"/>
                        </a:lnSpc>
                        <a:spcBef>
                          <a:spcPts val="0"/>
                        </a:spcBef>
                        <a:spcAft>
                          <a:spcPts val="0"/>
                        </a:spcAft>
                        <a:buClr>
                          <a:srgbClr val="000000"/>
                        </a:buClr>
                        <a:buSzPts val="900"/>
                        <a:buFont typeface="Arial"/>
                        <a:buAutoNum type="arabicPeriod"/>
                      </a:pPr>
                      <a:r>
                        <a:rPr b="1" lang="en-US" sz="900" u="none" cap="none" strike="noStrike">
                          <a:latin typeface="Calibri"/>
                          <a:ea typeface="Calibri"/>
                          <a:cs typeface="Calibri"/>
                          <a:sym typeface="Calibri"/>
                        </a:rPr>
                        <a:t>Reduced Effort During Put Away</a:t>
                      </a:r>
                      <a:r>
                        <a:rPr lang="en-US" sz="900" u="none" cap="none" strike="noStrike">
                          <a:latin typeface="Calibri"/>
                          <a:ea typeface="Calibri"/>
                          <a:cs typeface="Calibri"/>
                          <a:sym typeface="Calibri"/>
                        </a:rPr>
                        <a:t> – Since lot and serial details are already recorded during receiving, operators don’t need to spend extra time collecting them during the put-away process.</a:t>
                      </a:r>
                      <a:endParaRPr sz="1400" u="none" cap="none" strike="noStrike">
                        <a:latin typeface="Calibri"/>
                        <a:ea typeface="Calibri"/>
                        <a:cs typeface="Calibri"/>
                        <a:sym typeface="Calibri"/>
                      </a:endParaRPr>
                    </a:p>
                    <a:p>
                      <a:pPr indent="-228600" lvl="0" marL="228600" marR="0" rtl="0" algn="l">
                        <a:lnSpc>
                          <a:spcPct val="100000"/>
                        </a:lnSpc>
                        <a:spcBef>
                          <a:spcPts val="0"/>
                        </a:spcBef>
                        <a:spcAft>
                          <a:spcPts val="0"/>
                        </a:spcAft>
                        <a:buClr>
                          <a:srgbClr val="000000"/>
                        </a:buClr>
                        <a:buSzPts val="900"/>
                        <a:buFont typeface="Arial"/>
                        <a:buAutoNum type="arabicPeriod"/>
                      </a:pPr>
                      <a:r>
                        <a:rPr b="1" lang="en-US" sz="900" u="none" cap="none" strike="noStrike">
                          <a:latin typeface="Calibri"/>
                          <a:ea typeface="Calibri"/>
                          <a:cs typeface="Calibri"/>
                          <a:sym typeface="Calibri"/>
                        </a:rPr>
                        <a:t>Improved Regulatory Compliance</a:t>
                      </a:r>
                      <a:r>
                        <a:rPr lang="en-US" sz="900" u="none" cap="none" strike="noStrike">
                          <a:latin typeface="Calibri"/>
                          <a:ea typeface="Calibri"/>
                          <a:cs typeface="Calibri"/>
                          <a:sym typeface="Calibri"/>
                        </a:rPr>
                        <a:t> – Capturing lot and serial numbers during receiving supports compliance requirements such as the Drug Supply Chain Security Act for reporting purposes.</a:t>
                      </a:r>
                      <a:endParaRPr sz="14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Business needs to enable ‘Capture lot and serial numbers at receipt’  checkbox in receiving parameters page.</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a:t>
                      </a:r>
                      <a:r>
                        <a:rPr lang="en-US" sz="900">
                          <a:solidFill>
                            <a:schemeClr val="dk1"/>
                          </a:solidFill>
                          <a:latin typeface="Calibri"/>
                          <a:ea typeface="Calibri"/>
                          <a:cs typeface="Calibri"/>
                          <a:sym typeface="Calibri"/>
                        </a:rPr>
                        <a:t>Business wants to test this feature after 26A upgrade</a:t>
                      </a:r>
                      <a:endParaRPr sz="900">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Yes</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bl>
          </a:graphicData>
        </a:graphic>
      </p:graphicFrame>
      <p:sp>
        <p:nvSpPr>
          <p:cNvPr id="204" name="Google Shape;204;p34"/>
          <p:cNvSpPr txBox="1"/>
          <p:nvPr/>
        </p:nvSpPr>
        <p:spPr>
          <a:xfrm>
            <a:off x="288875" y="3217150"/>
            <a:ext cx="4283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u="sng">
                <a:solidFill>
                  <a:schemeClr val="hlink"/>
                </a:solidFill>
                <a:latin typeface="Calibri"/>
                <a:ea typeface="Calibri"/>
                <a:cs typeface="Calibri"/>
                <a:sym typeface="Calibri"/>
                <a:hlinkClick r:id="rId3"/>
              </a:rPr>
              <a:t>Redwood: Capture Lot and Serial Numbers During Receiving Only</a:t>
            </a:r>
            <a:endParaRPr sz="900">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5"/>
          <p:cNvSpPr txBox="1"/>
          <p:nvPr>
            <p:ph idx="4294967295" type="title"/>
          </p:nvPr>
        </p:nvSpPr>
        <p:spPr>
          <a:xfrm>
            <a:off x="0" y="102546"/>
            <a:ext cx="8520600" cy="376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990"/>
              <a:buFont typeface="Arial"/>
              <a:buNone/>
            </a:pPr>
            <a:r>
              <a:rPr b="1" lang="en-US" sz="1220"/>
              <a:t>Inventory Management</a:t>
            </a:r>
            <a:endParaRPr>
              <a:highlight>
                <a:schemeClr val="accent6"/>
              </a:highlight>
            </a:endParaRPr>
          </a:p>
        </p:txBody>
      </p:sp>
      <p:graphicFrame>
        <p:nvGraphicFramePr>
          <p:cNvPr id="210" name="Google Shape;210;p35"/>
          <p:cNvGraphicFramePr/>
          <p:nvPr/>
        </p:nvGraphicFramePr>
        <p:xfrm>
          <a:off x="288868" y="534406"/>
          <a:ext cx="3000000" cy="3000000"/>
        </p:xfrm>
        <a:graphic>
          <a:graphicData uri="http://schemas.openxmlformats.org/drawingml/2006/table">
            <a:tbl>
              <a:tblPr>
                <a:noFill/>
                <a:tableStyleId>{7CE1E117-5442-4E1C-B7FE-E79694003765}</a:tableStyleId>
              </a:tblPr>
              <a:tblGrid>
                <a:gridCol w="545625"/>
                <a:gridCol w="2351275"/>
                <a:gridCol w="2351275"/>
                <a:gridCol w="2223425"/>
                <a:gridCol w="881975"/>
              </a:tblGrid>
              <a:tr h="332825">
                <a:tc>
                  <a:txBody>
                    <a:bodyPr/>
                    <a:lstStyle/>
                    <a:p>
                      <a:pPr indent="0" lvl="0" marL="0" marR="0" rtl="0" algn="ctr">
                        <a:lnSpc>
                          <a:spcPct val="100000"/>
                        </a:lnSpc>
                        <a:spcBef>
                          <a:spcPts val="0"/>
                        </a:spcBef>
                        <a:spcAft>
                          <a:spcPts val="0"/>
                        </a:spcAft>
                        <a:buClr>
                          <a:srgbClr val="000000"/>
                        </a:buClr>
                        <a:buSzPts val="794"/>
                        <a:buFont typeface="Arial"/>
                        <a:buNone/>
                      </a:pPr>
                      <a:r>
                        <a:rPr b="1" lang="en-US" sz="1000" u="none" cap="none" strike="noStrike">
                          <a:solidFill>
                            <a:srgbClr val="FFFFFF"/>
                          </a:solidFill>
                          <a:latin typeface="Calibri"/>
                          <a:ea typeface="Calibri"/>
                          <a:cs typeface="Calibri"/>
                          <a:sym typeface="Calibri"/>
                        </a:rPr>
                        <a:t>Sr. No.</a:t>
                      </a:r>
                      <a:endParaRPr b="1" sz="10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26A Release Feature</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US" sz="900" u="none" cap="none" strike="noStrike">
                          <a:solidFill>
                            <a:srgbClr val="FFFFFF"/>
                          </a:solidFill>
                          <a:latin typeface="Calibri"/>
                          <a:ea typeface="Calibri"/>
                          <a:cs typeface="Calibri"/>
                          <a:sym typeface="Calibri"/>
                        </a:rPr>
                        <a:t>Business Benefit</a:t>
                      </a:r>
                      <a:endParaRPr b="1" sz="9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Business Impact</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Mandatory (Yes/No)</a:t>
                      </a:r>
                      <a:endParaRPr sz="14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r>
              <a:tr h="1289000">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1</a:t>
                      </a:r>
                      <a:r>
                        <a:rPr lang="en-US" sz="900">
                          <a:latin typeface="Calibri"/>
                          <a:ea typeface="Calibri"/>
                          <a:cs typeface="Calibri"/>
                          <a:sym typeface="Calibri"/>
                        </a:rPr>
                        <a:t>3</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latin typeface="Calibri"/>
                          <a:ea typeface="Calibri"/>
                          <a:cs typeface="Calibri"/>
                          <a:sym typeface="Calibri"/>
                        </a:rPr>
                        <a:t>Redwood: Configure Document Output Preferences for Receiving Documents</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1" sz="900" u="none" cap="none" strike="noStrike">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This feature allows organizations to configure document output preferences for receiving documents using a Redwood user interface. Users can automatically route receiving documents, such as receipt traveler reports, to specific delivery methods like printers, email addresses, or fax destinations. </a:t>
                      </a:r>
                      <a:endParaRPr sz="14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Automatic routing of receiving documents streamlines the distribution of receipt-related reports by sending them directly to the appropriate output channel such as printer, email, or fax. Centralized management of output preferences simplifies administration and reduces manual effort. This improves operational efficiency, accuracy, and consistency in receiving document handling.</a:t>
                      </a:r>
                      <a:endParaRPr sz="14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Business can access and configure this feature using Receiving Document Output Preferences task from the Setup and Maintenance work area. However, it becomes functional after they configure it.</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9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Business to confirm if they are using “Receipt Traveler Report” or any other reports at time of receiving and consider this feature accordingly.</a:t>
                      </a:r>
                      <a:endParaRPr sz="900">
                        <a:solidFill>
                          <a:schemeClr val="dk1"/>
                        </a:solidFill>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Yes</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r h="1582225">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1</a:t>
                      </a:r>
                      <a:r>
                        <a:rPr lang="en-US" sz="900">
                          <a:latin typeface="Calibri"/>
                          <a:ea typeface="Calibri"/>
                          <a:cs typeface="Calibri"/>
                          <a:sym typeface="Calibri"/>
                        </a:rPr>
                        <a:t>4</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latin typeface="Calibri"/>
                          <a:ea typeface="Calibri"/>
                          <a:cs typeface="Calibri"/>
                          <a:sym typeface="Calibri"/>
                        </a:rPr>
                        <a:t>Redwood: Use Additional Capabilities for Receipt Delivery Carts</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1" sz="900" u="none" cap="none" strike="noStrike">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This feature enhances the Redwood user experience for managing receipt delivery carts by allowing users to search and view receipt deliveries based on the delivery cart assigned to them. Users can easily track deliveries associated with a specific cart and monitor their status, such as pending deliveries. </a:t>
                      </a:r>
                      <a:endParaRPr b="1"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This feature improves visibility and tracking of receipt deliveries by allowing users to search deliveries using the delivery cart name. It also helps investigate delivery issues more efficiently and supports integration with automated or robotic material handling systems by capturing additional cart details through descriptive flexfields.</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 BUSINESS IMPACT</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N/A</a:t>
                      </a:r>
                      <a:endParaRPr sz="900">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bl>
          </a:graphicData>
        </a:graphic>
      </p:graphicFrame>
      <p:sp>
        <p:nvSpPr>
          <p:cNvPr id="211" name="Google Shape;211;p35"/>
          <p:cNvSpPr txBox="1"/>
          <p:nvPr/>
        </p:nvSpPr>
        <p:spPr>
          <a:xfrm>
            <a:off x="288875" y="3981750"/>
            <a:ext cx="4283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u="sng">
                <a:solidFill>
                  <a:schemeClr val="hlink"/>
                </a:solidFill>
                <a:latin typeface="Calibri"/>
                <a:ea typeface="Calibri"/>
                <a:cs typeface="Calibri"/>
                <a:sym typeface="Calibri"/>
                <a:hlinkClick r:id="rId3"/>
              </a:rPr>
              <a:t>Redwood: Configure Document Output Preferences for Receiving Documents</a:t>
            </a:r>
            <a:endParaRPr sz="900">
              <a:latin typeface="Calibri"/>
              <a:ea typeface="Calibri"/>
              <a:cs typeface="Calibri"/>
              <a:sym typeface="Calibri"/>
            </a:endParaRPr>
          </a:p>
          <a:p>
            <a:pPr indent="0" lvl="0" marL="0" rtl="0" algn="l">
              <a:spcBef>
                <a:spcPts val="0"/>
              </a:spcBef>
              <a:spcAft>
                <a:spcPts val="0"/>
              </a:spcAft>
              <a:buNone/>
            </a:pPr>
            <a:r>
              <a:rPr lang="en-US" sz="900" u="sng">
                <a:solidFill>
                  <a:schemeClr val="hlink"/>
                </a:solidFill>
                <a:latin typeface="Calibri"/>
                <a:ea typeface="Calibri"/>
                <a:cs typeface="Calibri"/>
                <a:sym typeface="Calibri"/>
                <a:hlinkClick r:id="rId4"/>
              </a:rPr>
              <a:t>Redwood: Use Additional Capabilities for Receipt Delivery Carts</a:t>
            </a:r>
            <a:endParaRPr sz="90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6"/>
          <p:cNvSpPr txBox="1"/>
          <p:nvPr>
            <p:ph idx="4294967295" type="title"/>
          </p:nvPr>
        </p:nvSpPr>
        <p:spPr>
          <a:xfrm>
            <a:off x="0" y="102546"/>
            <a:ext cx="8520600" cy="376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990"/>
              <a:buFont typeface="Arial"/>
              <a:buNone/>
            </a:pPr>
            <a:r>
              <a:rPr b="1" lang="en-US" sz="1220"/>
              <a:t>Inventory Management</a:t>
            </a:r>
            <a:endParaRPr>
              <a:highlight>
                <a:schemeClr val="accent6"/>
              </a:highlight>
            </a:endParaRPr>
          </a:p>
        </p:txBody>
      </p:sp>
      <p:graphicFrame>
        <p:nvGraphicFramePr>
          <p:cNvPr id="217" name="Google Shape;217;p36"/>
          <p:cNvGraphicFramePr/>
          <p:nvPr/>
        </p:nvGraphicFramePr>
        <p:xfrm>
          <a:off x="288868" y="534406"/>
          <a:ext cx="3000000" cy="3000000"/>
        </p:xfrm>
        <a:graphic>
          <a:graphicData uri="http://schemas.openxmlformats.org/drawingml/2006/table">
            <a:tbl>
              <a:tblPr>
                <a:noFill/>
                <a:tableStyleId>{7CE1E117-5442-4E1C-B7FE-E79694003765}</a:tableStyleId>
              </a:tblPr>
              <a:tblGrid>
                <a:gridCol w="545625"/>
                <a:gridCol w="2351275"/>
                <a:gridCol w="2351275"/>
                <a:gridCol w="2279100"/>
                <a:gridCol w="826300"/>
              </a:tblGrid>
              <a:tr h="351550">
                <a:tc>
                  <a:txBody>
                    <a:bodyPr/>
                    <a:lstStyle/>
                    <a:p>
                      <a:pPr indent="0" lvl="0" marL="0" marR="0" rtl="0" algn="ctr">
                        <a:lnSpc>
                          <a:spcPct val="100000"/>
                        </a:lnSpc>
                        <a:spcBef>
                          <a:spcPts val="0"/>
                        </a:spcBef>
                        <a:spcAft>
                          <a:spcPts val="0"/>
                        </a:spcAft>
                        <a:buClr>
                          <a:srgbClr val="000000"/>
                        </a:buClr>
                        <a:buSzPts val="794"/>
                        <a:buFont typeface="Arial"/>
                        <a:buNone/>
                      </a:pPr>
                      <a:r>
                        <a:rPr b="1" lang="en-US" sz="1000" u="none" cap="none" strike="noStrike">
                          <a:solidFill>
                            <a:srgbClr val="FFFFFF"/>
                          </a:solidFill>
                          <a:latin typeface="Calibri"/>
                          <a:ea typeface="Calibri"/>
                          <a:cs typeface="Calibri"/>
                          <a:sym typeface="Calibri"/>
                        </a:rPr>
                        <a:t>Sr. No.</a:t>
                      </a:r>
                      <a:endParaRPr b="1" sz="10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26A Release Feature</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US" sz="900" u="none" cap="none" strike="noStrike">
                          <a:solidFill>
                            <a:srgbClr val="FFFFFF"/>
                          </a:solidFill>
                          <a:latin typeface="Calibri"/>
                          <a:ea typeface="Calibri"/>
                          <a:cs typeface="Calibri"/>
                          <a:sym typeface="Calibri"/>
                        </a:rPr>
                        <a:t>Business Benefit</a:t>
                      </a:r>
                      <a:endParaRPr b="1" sz="9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Business Impact</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Mandatory (Yes/No)</a:t>
                      </a:r>
                      <a:endParaRPr sz="14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r>
              <a:tr h="1478775">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1</a:t>
                      </a:r>
                      <a:r>
                        <a:rPr lang="en-US" sz="900">
                          <a:latin typeface="Calibri"/>
                          <a:ea typeface="Calibri"/>
                          <a:cs typeface="Calibri"/>
                          <a:sym typeface="Calibri"/>
                        </a:rPr>
                        <a:t>5</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latin typeface="Calibri"/>
                          <a:ea typeface="Calibri"/>
                          <a:cs typeface="Calibri"/>
                          <a:sym typeface="Calibri"/>
                        </a:rPr>
                        <a:t>Redwood: Extract Application Data from a Read-Optimized Data Store Using a Redwood Page</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1" sz="900" u="none" cap="none" strike="noStrike">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This feature allows customers to extract application data from a read-optimized data store instead of the transactional database, improving reporting and integration performance. </a:t>
                      </a:r>
                      <a:endParaRPr sz="14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The feature improves data extraction and retrieval performance by using a read-optimized data store, enabling faster reporting and integrations. With near real-time synchronization of transactional data, organizations can access up-to-date information for analytics. This ensures more reliable and efficient reporting and integration capabilities.</a:t>
                      </a:r>
                      <a:endParaRPr sz="14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 BUSINESS IMPACT</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rPr b="1" lang="en-US" sz="900">
                          <a:latin typeface="Calibri"/>
                          <a:ea typeface="Calibri"/>
                          <a:cs typeface="Calibri"/>
                          <a:sym typeface="Calibri"/>
                        </a:rPr>
                        <a:t>18/03-</a:t>
                      </a:r>
                      <a:r>
                        <a:rPr lang="en-US" sz="900">
                          <a:latin typeface="Calibri"/>
                          <a:ea typeface="Calibri"/>
                          <a:cs typeface="Calibri"/>
                          <a:sym typeface="Calibri"/>
                        </a:rPr>
                        <a:t> N/A</a:t>
                      </a:r>
                      <a:endParaRPr sz="900">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r h="1941825">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1</a:t>
                      </a:r>
                      <a:r>
                        <a:rPr lang="en-US" sz="900">
                          <a:latin typeface="Calibri"/>
                          <a:ea typeface="Calibri"/>
                          <a:cs typeface="Calibri"/>
                          <a:sym typeface="Calibri"/>
                        </a:rPr>
                        <a:t>6</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61513"/>
                          </a:solidFill>
                          <a:latin typeface="Calibri"/>
                          <a:ea typeface="Calibri"/>
                          <a:cs typeface="Calibri"/>
                          <a:sym typeface="Calibri"/>
                        </a:rPr>
                        <a:t>Redwood: View License Plate Number in Electronic Records</a:t>
                      </a:r>
                      <a:endParaRPr sz="1400" u="none" cap="none" strike="noStrike">
                        <a:latin typeface="Calibri"/>
                        <a:ea typeface="Calibri"/>
                        <a:cs typeface="Calibri"/>
                        <a:sym typeface="Calibri"/>
                      </a:endParaRPr>
                    </a:p>
                    <a:p>
                      <a:pPr indent="0" lvl="0" marL="0" marR="0" rtl="0" algn="l">
                        <a:lnSpc>
                          <a:spcPct val="100000"/>
                        </a:lnSpc>
                        <a:spcBef>
                          <a:spcPts val="750"/>
                        </a:spcBef>
                        <a:spcAft>
                          <a:spcPts val="0"/>
                        </a:spcAft>
                        <a:buClr>
                          <a:srgbClr val="000000"/>
                        </a:buClr>
                        <a:buSzPts val="900"/>
                        <a:buFont typeface="Arial"/>
                        <a:buNone/>
                      </a:pPr>
                      <a:r>
                        <a:t/>
                      </a:r>
                      <a:endParaRPr b="1" i="0" sz="900" u="none" cap="none" strike="noStrike">
                        <a:solidFill>
                          <a:srgbClr val="161513"/>
                        </a:solidFill>
                        <a:latin typeface="Calibri"/>
                        <a:ea typeface="Calibri"/>
                        <a:cs typeface="Calibri"/>
                        <a:sym typeface="Calibri"/>
                      </a:endParaRPr>
                    </a:p>
                    <a:p>
                      <a:pPr indent="0" lvl="0" marL="0" marR="0" rtl="0" algn="l">
                        <a:lnSpc>
                          <a:spcPct val="100000"/>
                        </a:lnSpc>
                        <a:spcBef>
                          <a:spcPts val="750"/>
                        </a:spcBef>
                        <a:spcAft>
                          <a:spcPts val="0"/>
                        </a:spcAft>
                        <a:buClr>
                          <a:srgbClr val="000000"/>
                        </a:buClr>
                        <a:buSzPts val="900"/>
                        <a:buFont typeface="Arial"/>
                        <a:buNone/>
                      </a:pPr>
                      <a:r>
                        <a:rPr lang="en-US" sz="900" u="none" cap="none" strike="noStrike">
                          <a:latin typeface="Calibri"/>
                          <a:ea typeface="Calibri"/>
                          <a:cs typeface="Calibri"/>
                          <a:sym typeface="Calibri"/>
                        </a:rPr>
                        <a:t>This feature enables users to view License Plate Number (LPN) details directly in electronic records (E-Records) during inventory transaction reviews and approvals. LPN information is now included in electronic record reports for transactions such as receiving, put away, shipping, and miscellaneous inventory transactions.</a:t>
                      </a:r>
                      <a:endParaRPr b="1" i="0" sz="900" u="none" cap="none" strike="noStrike">
                        <a:solidFill>
                          <a:srgbClr val="161513"/>
                        </a:solidFill>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This feature enhances electronic records by including LPN transaction details, improving data integrity and transaction transparency. </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It helps organizations in regulated industries support compliance requirements and maintain audit-ready records by enabling easy review of LPN information in electronic record reports..</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 BUSINESS IMPACT unless LPN’s are used in inventory operations</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9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N/A</a:t>
                      </a:r>
                      <a:endParaRPr sz="900">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bl>
          </a:graphicData>
        </a:graphic>
      </p:graphicFrame>
      <p:sp>
        <p:nvSpPr>
          <p:cNvPr id="218" name="Google Shape;218;p36"/>
          <p:cNvSpPr txBox="1"/>
          <p:nvPr/>
        </p:nvSpPr>
        <p:spPr>
          <a:xfrm>
            <a:off x="288875" y="4381975"/>
            <a:ext cx="4611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u="sng">
                <a:solidFill>
                  <a:schemeClr val="hlink"/>
                </a:solidFill>
                <a:latin typeface="Calibri"/>
                <a:ea typeface="Calibri"/>
                <a:cs typeface="Calibri"/>
                <a:sym typeface="Calibri"/>
                <a:hlinkClick r:id="rId3"/>
              </a:rPr>
              <a:t>Redwood: Extract Application Data from a Read-Optimized Data Store Using a Redwood Page</a:t>
            </a:r>
            <a:endParaRPr sz="900">
              <a:latin typeface="Calibri"/>
              <a:ea typeface="Calibri"/>
              <a:cs typeface="Calibri"/>
              <a:sym typeface="Calibri"/>
            </a:endParaRPr>
          </a:p>
          <a:p>
            <a:pPr indent="0" lvl="0" marL="0" rtl="0" algn="l">
              <a:spcBef>
                <a:spcPts val="0"/>
              </a:spcBef>
              <a:spcAft>
                <a:spcPts val="0"/>
              </a:spcAft>
              <a:buNone/>
            </a:pPr>
            <a:r>
              <a:rPr lang="en-US" sz="900" u="sng">
                <a:solidFill>
                  <a:schemeClr val="hlink"/>
                </a:solidFill>
                <a:latin typeface="Calibri"/>
                <a:ea typeface="Calibri"/>
                <a:cs typeface="Calibri"/>
                <a:sym typeface="Calibri"/>
                <a:hlinkClick r:id="rId4"/>
              </a:rPr>
              <a:t>Redwood: View License Plate Number in Electronic Records</a:t>
            </a:r>
            <a:endParaRPr sz="9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7"/>
          <p:cNvSpPr txBox="1"/>
          <p:nvPr>
            <p:ph idx="4294967295" type="title"/>
          </p:nvPr>
        </p:nvSpPr>
        <p:spPr>
          <a:xfrm>
            <a:off x="0" y="102546"/>
            <a:ext cx="8520600" cy="376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990"/>
              <a:buFont typeface="Arial"/>
              <a:buNone/>
            </a:pPr>
            <a:r>
              <a:rPr b="1" lang="en-US" sz="1220"/>
              <a:t>Inventory Management</a:t>
            </a:r>
            <a:endParaRPr>
              <a:highlight>
                <a:schemeClr val="accent6"/>
              </a:highlight>
            </a:endParaRPr>
          </a:p>
        </p:txBody>
      </p:sp>
      <p:graphicFrame>
        <p:nvGraphicFramePr>
          <p:cNvPr id="224" name="Google Shape;224;p37"/>
          <p:cNvGraphicFramePr/>
          <p:nvPr/>
        </p:nvGraphicFramePr>
        <p:xfrm>
          <a:off x="288868" y="534406"/>
          <a:ext cx="3000000" cy="3000000"/>
        </p:xfrm>
        <a:graphic>
          <a:graphicData uri="http://schemas.openxmlformats.org/drawingml/2006/table">
            <a:tbl>
              <a:tblPr>
                <a:noFill/>
                <a:tableStyleId>{7CE1E117-5442-4E1C-B7FE-E79694003765}</a:tableStyleId>
              </a:tblPr>
              <a:tblGrid>
                <a:gridCol w="545625"/>
                <a:gridCol w="2351275"/>
                <a:gridCol w="2351275"/>
                <a:gridCol w="2279100"/>
                <a:gridCol w="826300"/>
              </a:tblGrid>
              <a:tr h="105100">
                <a:tc>
                  <a:txBody>
                    <a:bodyPr/>
                    <a:lstStyle/>
                    <a:p>
                      <a:pPr indent="0" lvl="0" marL="0" marR="0" rtl="0" algn="ctr">
                        <a:lnSpc>
                          <a:spcPct val="100000"/>
                        </a:lnSpc>
                        <a:spcBef>
                          <a:spcPts val="0"/>
                        </a:spcBef>
                        <a:spcAft>
                          <a:spcPts val="0"/>
                        </a:spcAft>
                        <a:buClr>
                          <a:srgbClr val="000000"/>
                        </a:buClr>
                        <a:buSzPts val="794"/>
                        <a:buFont typeface="Arial"/>
                        <a:buNone/>
                      </a:pPr>
                      <a:r>
                        <a:rPr b="1" lang="en-US" sz="1000" u="none" cap="none" strike="noStrike">
                          <a:solidFill>
                            <a:srgbClr val="FFFFFF"/>
                          </a:solidFill>
                          <a:latin typeface="Calibri"/>
                          <a:ea typeface="Calibri"/>
                          <a:cs typeface="Calibri"/>
                          <a:sym typeface="Calibri"/>
                        </a:rPr>
                        <a:t>Sr. No.</a:t>
                      </a:r>
                      <a:endParaRPr b="1" sz="10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26A Release Feature</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000">
                          <a:solidFill>
                            <a:srgbClr val="FFFFFF"/>
                          </a:solidFill>
                          <a:latin typeface="Calibri"/>
                          <a:ea typeface="Calibri"/>
                          <a:cs typeface="Calibri"/>
                          <a:sym typeface="Calibri"/>
                        </a:rPr>
                        <a:t>Business Benefit</a:t>
                      </a:r>
                      <a:endParaRPr b="1" sz="9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Business Impact</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Mandatory (Yes/No)</a:t>
                      </a:r>
                      <a:endParaRPr sz="14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r>
              <a:tr h="1666025">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1</a:t>
                      </a:r>
                      <a:r>
                        <a:rPr lang="en-US" sz="900">
                          <a:latin typeface="Calibri"/>
                          <a:ea typeface="Calibri"/>
                          <a:cs typeface="Calibri"/>
                          <a:sym typeface="Calibri"/>
                        </a:rPr>
                        <a:t>7</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61513"/>
                          </a:solidFill>
                          <a:latin typeface="Calibri"/>
                          <a:ea typeface="Calibri"/>
                          <a:cs typeface="Calibri"/>
                          <a:sym typeface="Calibri"/>
                        </a:rPr>
                        <a:t>Redwood: Allocate Picks to License Plate Numbers</a:t>
                      </a:r>
                      <a:endParaRPr sz="1400" u="none" cap="none" strike="noStrike">
                        <a:latin typeface="Calibri"/>
                        <a:ea typeface="Calibri"/>
                        <a:cs typeface="Calibri"/>
                        <a:sym typeface="Calibri"/>
                      </a:endParaRPr>
                    </a:p>
                    <a:p>
                      <a:pPr indent="0" lvl="0" marL="0" marR="0" rtl="0" algn="just">
                        <a:lnSpc>
                          <a:spcPct val="100000"/>
                        </a:lnSpc>
                        <a:spcBef>
                          <a:spcPts val="750"/>
                        </a:spcBef>
                        <a:spcAft>
                          <a:spcPts val="0"/>
                        </a:spcAft>
                        <a:buClr>
                          <a:srgbClr val="000000"/>
                        </a:buClr>
                        <a:buSzPts val="900"/>
                        <a:buFont typeface="Arial"/>
                        <a:buNone/>
                      </a:pPr>
                      <a:r>
                        <a:rPr lang="en-US" sz="900" u="none" cap="none" strike="noStrike">
                          <a:latin typeface="Calibri"/>
                          <a:ea typeface="Calibri"/>
                          <a:cs typeface="Calibri"/>
                          <a:sym typeface="Calibri"/>
                        </a:rPr>
                        <a:t>The feature improves warehouse picking efficiency by allowing the system to allocate picks directly to License Plate Numbers (LPNs) during the pick wave process. Instead of selecting items individually, the system automatically assigns the appropriate LPN based on defined picking rules and inventory availability.</a:t>
                      </a:r>
                      <a:endParaRPr i="0" sz="900" u="none" cap="none" strike="noStrike">
                        <a:solidFill>
                          <a:srgbClr val="161513"/>
                        </a:solidFill>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This feature improves warehouse picking efficiency by allocating requested quantities directly to LPNs, simplifying and accelerating the picking process. </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It reduces manual effort for operators, optimizes inventory handling using standard order quantities, and helps minimize picking errors during order fulfillment.</a:t>
                      </a:r>
                      <a:endParaRPr sz="14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900"/>
                        <a:buFont typeface="Arial"/>
                        <a:buNone/>
                      </a:pPr>
                      <a:r>
                        <a:rPr i="0" lang="en-US" sz="900" u="none" cap="none" strike="noStrike">
                          <a:solidFill>
                            <a:srgbClr val="000000"/>
                          </a:solidFill>
                          <a:latin typeface="Calibri"/>
                          <a:ea typeface="Calibri"/>
                          <a:cs typeface="Calibri"/>
                          <a:sym typeface="Calibri"/>
                        </a:rPr>
                        <a:t>NO BUSINESS IMPACT unless LPN’s are used in inventory operations</a:t>
                      </a:r>
                      <a:endParaRPr i="0" sz="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9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N/A</a:t>
                      </a:r>
                      <a:endParaRPr sz="900">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bl>
          </a:graphicData>
        </a:graphic>
      </p:graphicFrame>
      <p:sp>
        <p:nvSpPr>
          <p:cNvPr id="225" name="Google Shape;225;p37"/>
          <p:cNvSpPr txBox="1"/>
          <p:nvPr/>
        </p:nvSpPr>
        <p:spPr>
          <a:xfrm>
            <a:off x="288875" y="2627400"/>
            <a:ext cx="4283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u="sng">
                <a:solidFill>
                  <a:schemeClr val="hlink"/>
                </a:solidFill>
                <a:latin typeface="Calibri"/>
                <a:ea typeface="Calibri"/>
                <a:cs typeface="Calibri"/>
                <a:sym typeface="Calibri"/>
                <a:hlinkClick r:id="rId3"/>
              </a:rPr>
              <a:t>Redwood: Allocate Picks to License Plate Numbers</a:t>
            </a:r>
            <a:endParaRPr sz="9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8"/>
          <p:cNvSpPr txBox="1"/>
          <p:nvPr/>
        </p:nvSpPr>
        <p:spPr>
          <a:xfrm>
            <a:off x="5323" y="1226500"/>
            <a:ext cx="9144000" cy="886200"/>
          </a:xfrm>
          <a:prstGeom prst="rect">
            <a:avLst/>
          </a:prstGeom>
          <a:noFill/>
          <a:ln>
            <a:noFill/>
          </a:ln>
        </p:spPr>
        <p:txBody>
          <a:bodyPr anchorCtr="0" anchor="ctr" bIns="45700" lIns="91425" spcFirstLastPara="1" rIns="91425" wrap="square" tIns="45700">
            <a:normAutofit/>
          </a:bodyPr>
          <a:lstStyle/>
          <a:p>
            <a:pPr indent="0" lvl="0" marL="180000" marR="0" rtl="0" algn="l">
              <a:lnSpc>
                <a:spcPct val="80000"/>
              </a:lnSpc>
              <a:spcBef>
                <a:spcPts val="0"/>
              </a:spcBef>
              <a:spcAft>
                <a:spcPts val="0"/>
              </a:spcAft>
              <a:buClr>
                <a:srgbClr val="000000"/>
              </a:buClr>
              <a:buSzPts val="1400"/>
              <a:buFont typeface="Arial"/>
              <a:buNone/>
            </a:pPr>
            <a:r>
              <a:rPr b="1" lang="en-US">
                <a:solidFill>
                  <a:schemeClr val="lt1"/>
                </a:solidFill>
                <a:latin typeface="Calibri"/>
                <a:ea typeface="Calibri"/>
                <a:cs typeface="Calibri"/>
                <a:sym typeface="Calibri"/>
              </a:rPr>
              <a:t>Turlock Irrigation District : 26A Oracle Upgrades</a:t>
            </a:r>
            <a:br>
              <a:rPr b="1" i="0" lang="en-US" sz="1400" u="none" cap="none" strike="noStrike">
                <a:solidFill>
                  <a:srgbClr val="FFFFFF"/>
                </a:solidFill>
                <a:latin typeface="Calibri"/>
                <a:ea typeface="Calibri"/>
                <a:cs typeface="Calibri"/>
                <a:sym typeface="Calibri"/>
              </a:rPr>
            </a:br>
            <a:br>
              <a:rPr b="1" i="0" lang="en-US" sz="1400" u="none" cap="none" strike="noStrike">
                <a:solidFill>
                  <a:srgbClr val="FFFFFF"/>
                </a:solidFill>
                <a:latin typeface="Calibri"/>
                <a:ea typeface="Calibri"/>
                <a:cs typeface="Calibri"/>
                <a:sym typeface="Calibri"/>
              </a:rPr>
            </a:br>
            <a:r>
              <a:rPr b="1" i="0" lang="en-US" sz="2800" u="none" cap="none" strike="noStrike">
                <a:solidFill>
                  <a:srgbClr val="FFFFFF"/>
                </a:solidFill>
                <a:latin typeface="Calibri"/>
                <a:ea typeface="Calibri"/>
                <a:cs typeface="Calibri"/>
                <a:sym typeface="Calibri"/>
              </a:rPr>
              <a:t>Oracle Cloud Inventory </a:t>
            </a:r>
            <a:r>
              <a:rPr b="1" lang="en-US" sz="2800">
                <a:solidFill>
                  <a:srgbClr val="FFFFFF"/>
                </a:solidFill>
                <a:latin typeface="Calibri"/>
                <a:ea typeface="Calibri"/>
                <a:cs typeface="Calibri"/>
                <a:sym typeface="Calibri"/>
              </a:rPr>
              <a:t>: AI Agents</a:t>
            </a:r>
            <a:endParaRPr b="1" i="0" sz="1400" u="none" cap="none" strike="noStrik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9"/>
          <p:cNvSpPr txBox="1"/>
          <p:nvPr>
            <p:ph idx="4294967295" type="title"/>
          </p:nvPr>
        </p:nvSpPr>
        <p:spPr>
          <a:xfrm>
            <a:off x="0" y="102546"/>
            <a:ext cx="8520600" cy="376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990"/>
              <a:buFont typeface="Arial"/>
              <a:buNone/>
            </a:pPr>
            <a:r>
              <a:rPr b="1" lang="en-US" sz="1220"/>
              <a:t>Inventory Management</a:t>
            </a:r>
            <a:endParaRPr>
              <a:highlight>
                <a:schemeClr val="accent6"/>
              </a:highlight>
            </a:endParaRPr>
          </a:p>
        </p:txBody>
      </p:sp>
      <p:graphicFrame>
        <p:nvGraphicFramePr>
          <p:cNvPr id="236" name="Google Shape;236;p39"/>
          <p:cNvGraphicFramePr/>
          <p:nvPr/>
        </p:nvGraphicFramePr>
        <p:xfrm>
          <a:off x="288868" y="534406"/>
          <a:ext cx="3000000" cy="3000000"/>
        </p:xfrm>
        <a:graphic>
          <a:graphicData uri="http://schemas.openxmlformats.org/drawingml/2006/table">
            <a:tbl>
              <a:tblPr>
                <a:noFill/>
                <a:tableStyleId>{7CE1E117-5442-4E1C-B7FE-E79694003765}</a:tableStyleId>
              </a:tblPr>
              <a:tblGrid>
                <a:gridCol w="545625"/>
                <a:gridCol w="2351275"/>
                <a:gridCol w="3138100"/>
                <a:gridCol w="1904650"/>
              </a:tblGrid>
              <a:tr h="345250">
                <a:tc>
                  <a:txBody>
                    <a:bodyPr/>
                    <a:lstStyle/>
                    <a:p>
                      <a:pPr indent="0" lvl="0" marL="0" marR="0" rtl="0" algn="ctr">
                        <a:lnSpc>
                          <a:spcPct val="100000"/>
                        </a:lnSpc>
                        <a:spcBef>
                          <a:spcPts val="0"/>
                        </a:spcBef>
                        <a:spcAft>
                          <a:spcPts val="0"/>
                        </a:spcAft>
                        <a:buClr>
                          <a:srgbClr val="000000"/>
                        </a:buClr>
                        <a:buSzPts val="794"/>
                        <a:buFont typeface="Arial"/>
                        <a:buNone/>
                      </a:pPr>
                      <a:r>
                        <a:rPr b="1" lang="en-US" sz="1000" u="none" cap="none" strike="noStrike">
                          <a:solidFill>
                            <a:srgbClr val="FFFFFF"/>
                          </a:solidFill>
                          <a:latin typeface="Calibri"/>
                          <a:ea typeface="Calibri"/>
                          <a:cs typeface="Calibri"/>
                          <a:sym typeface="Calibri"/>
                        </a:rPr>
                        <a:t>Sr. No.</a:t>
                      </a:r>
                      <a:endParaRPr b="1" sz="10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26A Release Feature</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000" u="none" cap="none" strike="noStrike">
                          <a:solidFill>
                            <a:srgbClr val="FFFFFF"/>
                          </a:solidFill>
                          <a:latin typeface="Calibri"/>
                          <a:ea typeface="Calibri"/>
                          <a:cs typeface="Calibri"/>
                          <a:sym typeface="Calibri"/>
                        </a:rPr>
                        <a:t>Business Benefit</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Mandatory (Yes/No)</a:t>
                      </a:r>
                      <a:endParaRPr sz="14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r>
              <a:tr h="825525">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1</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latin typeface="Calibri"/>
                          <a:ea typeface="Calibri"/>
                          <a:cs typeface="Calibri"/>
                          <a:sym typeface="Calibri"/>
                        </a:rPr>
                        <a:t>AI Agent: Inventory Aging Advisor</a:t>
                      </a:r>
                      <a:endParaRPr sz="14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The agent enables businesses to optimize inventory utilization and reduce excess stock. This improves inventory visibility across organizations, supports better decision-making, and ensures that inventory is positioned where demand exists, ultimately improving operational efficiency.</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Business wants to see this functionality after 26A upgrade</a:t>
                      </a:r>
                      <a:endParaRPr sz="9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r h="781875">
                <a:tc>
                  <a:txBody>
                    <a:bodyPr/>
                    <a:lstStyle/>
                    <a:p>
                      <a:pPr indent="0" lvl="0" marL="0" marR="0" rtl="0" algn="ctr">
                        <a:lnSpc>
                          <a:spcPct val="100000"/>
                        </a:lnSpc>
                        <a:spcBef>
                          <a:spcPts val="0"/>
                        </a:spcBef>
                        <a:spcAft>
                          <a:spcPts val="0"/>
                        </a:spcAft>
                        <a:buClr>
                          <a:srgbClr val="000000"/>
                        </a:buClr>
                        <a:buSzPts val="900"/>
                        <a:buFont typeface="Arial"/>
                        <a:buNone/>
                      </a:pPr>
                      <a:r>
                        <a:rPr lang="en-US" sz="900">
                          <a:latin typeface="Calibri"/>
                          <a:ea typeface="Calibri"/>
                          <a:cs typeface="Calibri"/>
                          <a:sym typeface="Calibri"/>
                        </a:rPr>
                        <a:t>2</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latin typeface="Calibri"/>
                          <a:ea typeface="Calibri"/>
                          <a:cs typeface="Calibri"/>
                          <a:sym typeface="Calibri"/>
                        </a:rPr>
                        <a:t>AI Agent: Inventory Reservation Assistant</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1" sz="900" u="none" cap="none" strike="noStrike">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900"/>
                        <a:buFont typeface="Arial"/>
                        <a:buNone/>
                      </a:pPr>
                      <a:r>
                        <a:t/>
                      </a:r>
                      <a:endParaRPr b="1"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It enables users to quickly check reservation status, manage reservations, and view unreserved lines without navigating multiple screens. This improves operational efficiency and allows order managers to respond faster to urgent demand changes.</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N/A</a:t>
                      </a:r>
                      <a:endParaRPr sz="900">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r h="646525">
                <a:tc>
                  <a:txBody>
                    <a:bodyPr/>
                    <a:lstStyle/>
                    <a:p>
                      <a:pPr indent="0" lvl="0" marL="0" marR="0" rtl="0" algn="ctr">
                        <a:lnSpc>
                          <a:spcPct val="100000"/>
                        </a:lnSpc>
                        <a:spcBef>
                          <a:spcPts val="0"/>
                        </a:spcBef>
                        <a:spcAft>
                          <a:spcPts val="0"/>
                        </a:spcAft>
                        <a:buClr>
                          <a:srgbClr val="000000"/>
                        </a:buClr>
                        <a:buSzPts val="900"/>
                        <a:buFont typeface="Arial"/>
                        <a:buNone/>
                      </a:pPr>
                      <a:r>
                        <a:rPr lang="en-US" sz="900">
                          <a:latin typeface="Calibri"/>
                          <a:ea typeface="Calibri"/>
                          <a:cs typeface="Calibri"/>
                          <a:sym typeface="Calibri"/>
                        </a:rPr>
                        <a:t>3</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latin typeface="Calibri"/>
                          <a:ea typeface="Calibri"/>
                          <a:cs typeface="Calibri"/>
                          <a:sym typeface="Calibri"/>
                        </a:rPr>
                        <a:t>AI Agent: Cycle Count Analysis Advisor</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u="none" cap="none" strike="noStrike">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900"/>
                        <a:buFont typeface="Arial"/>
                        <a:buNone/>
                      </a:pPr>
                      <a:r>
                        <a:t/>
                      </a:r>
                      <a:endParaRPr b="1"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The agent provides actionable insights on recurring discrepancies and highlights high-value items contributing to shrinkage. This helps organizations improve inventory accuracy and make informed decisions through data-driven analysis without modifying transactions.</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Business wants to see this functionality after 26A upgrade</a:t>
                      </a:r>
                      <a:endParaRPr b="1" sz="900">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bl>
          </a:graphicData>
        </a:graphic>
      </p:graphicFrame>
      <p:sp>
        <p:nvSpPr>
          <p:cNvPr id="237" name="Google Shape;237;p39"/>
          <p:cNvSpPr txBox="1"/>
          <p:nvPr/>
        </p:nvSpPr>
        <p:spPr>
          <a:xfrm>
            <a:off x="288875" y="4341400"/>
            <a:ext cx="4283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u="sng">
                <a:solidFill>
                  <a:schemeClr val="hlink"/>
                </a:solidFill>
                <a:latin typeface="Calibri"/>
                <a:ea typeface="Calibri"/>
                <a:cs typeface="Calibri"/>
                <a:sym typeface="Calibri"/>
                <a:hlinkClick r:id="rId3"/>
              </a:rPr>
              <a:t>AI Agent: Inventory Aging Advisor</a:t>
            </a:r>
            <a:endParaRPr sz="900">
              <a:latin typeface="Calibri"/>
              <a:ea typeface="Calibri"/>
              <a:cs typeface="Calibri"/>
              <a:sym typeface="Calibri"/>
            </a:endParaRPr>
          </a:p>
          <a:p>
            <a:pPr indent="0" lvl="0" marL="0" rtl="0" algn="l">
              <a:spcBef>
                <a:spcPts val="0"/>
              </a:spcBef>
              <a:spcAft>
                <a:spcPts val="0"/>
              </a:spcAft>
              <a:buNone/>
            </a:pPr>
            <a:r>
              <a:rPr lang="en-US" sz="900" u="sng">
                <a:solidFill>
                  <a:schemeClr val="hlink"/>
                </a:solidFill>
                <a:latin typeface="Calibri"/>
                <a:ea typeface="Calibri"/>
                <a:cs typeface="Calibri"/>
                <a:sym typeface="Calibri"/>
                <a:hlinkClick r:id="rId4"/>
              </a:rPr>
              <a:t>AI Agent: Inventory Reservation Assistant</a:t>
            </a:r>
            <a:endParaRPr sz="900">
              <a:latin typeface="Calibri"/>
              <a:ea typeface="Calibri"/>
              <a:cs typeface="Calibri"/>
              <a:sym typeface="Calibri"/>
            </a:endParaRPr>
          </a:p>
          <a:p>
            <a:pPr indent="0" lvl="0" marL="0" rtl="0" algn="l">
              <a:spcBef>
                <a:spcPts val="0"/>
              </a:spcBef>
              <a:spcAft>
                <a:spcPts val="0"/>
              </a:spcAft>
              <a:buNone/>
            </a:pPr>
            <a:r>
              <a:rPr lang="en-US" sz="900" u="sng">
                <a:solidFill>
                  <a:schemeClr val="hlink"/>
                </a:solidFill>
                <a:latin typeface="Calibri"/>
                <a:ea typeface="Calibri"/>
                <a:cs typeface="Calibri"/>
                <a:sym typeface="Calibri"/>
                <a:hlinkClick r:id="rId5"/>
              </a:rPr>
              <a:t>AI Agent: Cycle Count Analysis Advisor</a:t>
            </a:r>
            <a:endParaRPr sz="900">
              <a:latin typeface="Calibri"/>
              <a:ea typeface="Calibri"/>
              <a:cs typeface="Calibri"/>
              <a:sym typeface="Calibri"/>
            </a:endParaRPr>
          </a:p>
          <a:p>
            <a:pPr indent="0" lvl="0" marL="0" rtl="0" algn="l">
              <a:spcBef>
                <a:spcPts val="0"/>
              </a:spcBef>
              <a:spcAft>
                <a:spcPts val="0"/>
              </a:spcAft>
              <a:buNone/>
            </a:pPr>
            <a:r>
              <a:t/>
            </a:r>
            <a:endParaRPr sz="90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0"/>
          <p:cNvSpPr txBox="1"/>
          <p:nvPr>
            <p:ph idx="4294967295" type="title"/>
          </p:nvPr>
        </p:nvSpPr>
        <p:spPr>
          <a:xfrm>
            <a:off x="0" y="102546"/>
            <a:ext cx="8520600" cy="376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990"/>
              <a:buFont typeface="Arial"/>
              <a:buNone/>
            </a:pPr>
            <a:r>
              <a:rPr b="1" lang="en-US" sz="1220"/>
              <a:t>Inventory Management</a:t>
            </a:r>
            <a:endParaRPr>
              <a:highlight>
                <a:schemeClr val="accent6"/>
              </a:highlight>
            </a:endParaRPr>
          </a:p>
        </p:txBody>
      </p:sp>
      <p:graphicFrame>
        <p:nvGraphicFramePr>
          <p:cNvPr id="243" name="Google Shape;243;p40"/>
          <p:cNvGraphicFramePr/>
          <p:nvPr/>
        </p:nvGraphicFramePr>
        <p:xfrm>
          <a:off x="288868" y="534406"/>
          <a:ext cx="3000000" cy="3000000"/>
        </p:xfrm>
        <a:graphic>
          <a:graphicData uri="http://schemas.openxmlformats.org/drawingml/2006/table">
            <a:tbl>
              <a:tblPr>
                <a:noFill/>
                <a:tableStyleId>{7CE1E117-5442-4E1C-B7FE-E79694003765}</a:tableStyleId>
              </a:tblPr>
              <a:tblGrid>
                <a:gridCol w="545625"/>
                <a:gridCol w="2351275"/>
                <a:gridCol w="3108975"/>
                <a:gridCol w="2035775"/>
              </a:tblGrid>
              <a:tr h="345250">
                <a:tc>
                  <a:txBody>
                    <a:bodyPr/>
                    <a:lstStyle/>
                    <a:p>
                      <a:pPr indent="0" lvl="0" marL="0" marR="0" rtl="0" algn="ctr">
                        <a:lnSpc>
                          <a:spcPct val="100000"/>
                        </a:lnSpc>
                        <a:spcBef>
                          <a:spcPts val="0"/>
                        </a:spcBef>
                        <a:spcAft>
                          <a:spcPts val="0"/>
                        </a:spcAft>
                        <a:buClr>
                          <a:srgbClr val="000000"/>
                        </a:buClr>
                        <a:buSzPts val="794"/>
                        <a:buFont typeface="Arial"/>
                        <a:buNone/>
                      </a:pPr>
                      <a:r>
                        <a:rPr b="1" lang="en-US" sz="1000" u="none" cap="none" strike="noStrike">
                          <a:solidFill>
                            <a:srgbClr val="FFFFFF"/>
                          </a:solidFill>
                          <a:latin typeface="Calibri"/>
                          <a:ea typeface="Calibri"/>
                          <a:cs typeface="Calibri"/>
                          <a:sym typeface="Calibri"/>
                        </a:rPr>
                        <a:t>Sr. No.</a:t>
                      </a:r>
                      <a:endParaRPr b="1" sz="10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26A Release Feature</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000" u="none" cap="none" strike="noStrike">
                          <a:solidFill>
                            <a:srgbClr val="FFFFFF"/>
                          </a:solidFill>
                          <a:latin typeface="Calibri"/>
                          <a:ea typeface="Calibri"/>
                          <a:cs typeface="Calibri"/>
                          <a:sym typeface="Calibri"/>
                        </a:rPr>
                        <a:t>Business Benefit</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Mandatory (Yes/No)</a:t>
                      </a:r>
                      <a:endParaRPr sz="14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r>
              <a:tr h="837250">
                <a:tc>
                  <a:txBody>
                    <a:bodyPr/>
                    <a:lstStyle/>
                    <a:p>
                      <a:pPr indent="0" lvl="0" marL="0" marR="0" rtl="0" algn="ctr">
                        <a:lnSpc>
                          <a:spcPct val="100000"/>
                        </a:lnSpc>
                        <a:spcBef>
                          <a:spcPts val="0"/>
                        </a:spcBef>
                        <a:spcAft>
                          <a:spcPts val="0"/>
                        </a:spcAft>
                        <a:buClr>
                          <a:srgbClr val="000000"/>
                        </a:buClr>
                        <a:buSzPts val="900"/>
                        <a:buFont typeface="Arial"/>
                        <a:buNone/>
                      </a:pPr>
                      <a:r>
                        <a:rPr lang="en-US" sz="900">
                          <a:latin typeface="Calibri"/>
                          <a:ea typeface="Calibri"/>
                          <a:cs typeface="Calibri"/>
                          <a:sym typeface="Calibri"/>
                        </a:rPr>
                        <a:t>4</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latin typeface="Calibri"/>
                          <a:ea typeface="Calibri"/>
                          <a:cs typeface="Calibri"/>
                          <a:sym typeface="Calibri"/>
                        </a:rPr>
                        <a:t>AI Agent: Stock Location Advisor</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1" sz="900" u="none" cap="none" strike="noStrike">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900"/>
                        <a:buFont typeface="Arial"/>
                        <a:buNone/>
                      </a:pPr>
                      <a:r>
                        <a:t/>
                      </a:r>
                      <a:endParaRPr b="1" sz="14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The Stock Location Advisor AI agent locate alternate picking locations when items aren’t available in the originally assigned location, improving picking efficiency and reducing investigation time. It also enhances inventory visibility and supports automated corrections such as cycle counts or miscellaneous transactions, while ensuring control through human confirmation before executing transactions.</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N/A</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r h="837250">
                <a:tc>
                  <a:txBody>
                    <a:bodyPr/>
                    <a:lstStyle/>
                    <a:p>
                      <a:pPr indent="0" lvl="0" marL="0" marR="0" rtl="0" algn="ctr">
                        <a:lnSpc>
                          <a:spcPct val="100000"/>
                        </a:lnSpc>
                        <a:spcBef>
                          <a:spcPts val="0"/>
                        </a:spcBef>
                        <a:spcAft>
                          <a:spcPts val="0"/>
                        </a:spcAft>
                        <a:buClr>
                          <a:srgbClr val="000000"/>
                        </a:buClr>
                        <a:buSzPts val="900"/>
                        <a:buFont typeface="Arial"/>
                        <a:buNone/>
                      </a:pPr>
                      <a:r>
                        <a:rPr lang="en-US" sz="900">
                          <a:latin typeface="Calibri"/>
                          <a:ea typeface="Calibri"/>
                          <a:cs typeface="Calibri"/>
                          <a:sym typeface="Calibri"/>
                        </a:rPr>
                        <a:t>5</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latin typeface="Calibri"/>
                          <a:ea typeface="Calibri"/>
                          <a:cs typeface="Calibri"/>
                          <a:sym typeface="Calibri"/>
                        </a:rPr>
                        <a:t>AI Agent: Fulfillment Processing Assistant - Use Additional Picking and Shipping Logic</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1" sz="900" u="none" cap="none" strike="noStrike">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900"/>
                        <a:buFont typeface="Arial"/>
                        <a:buNone/>
                      </a:pPr>
                      <a:r>
                        <a:t/>
                      </a:r>
                      <a:endParaRPr b="1"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The feature enhances order fulfillment and shipping efficiency by enabling flexible picking, including express picking without reservations, and supporting serial- and lot-controlled items. It improves picking configuration, packing recommendations, and shipment visibility while providing automated packing options.</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N/A</a:t>
                      </a:r>
                      <a:endParaRPr sz="900">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r h="837250">
                <a:tc>
                  <a:txBody>
                    <a:bodyPr/>
                    <a:lstStyle/>
                    <a:p>
                      <a:pPr indent="0" lvl="0" marL="0" marR="0" rtl="0" algn="ctr">
                        <a:lnSpc>
                          <a:spcPct val="100000"/>
                        </a:lnSpc>
                        <a:spcBef>
                          <a:spcPts val="0"/>
                        </a:spcBef>
                        <a:spcAft>
                          <a:spcPts val="0"/>
                        </a:spcAft>
                        <a:buClr>
                          <a:srgbClr val="000000"/>
                        </a:buClr>
                        <a:buSzPts val="900"/>
                        <a:buFont typeface="Arial"/>
                        <a:buNone/>
                      </a:pPr>
                      <a:r>
                        <a:rPr lang="en-US" sz="900">
                          <a:latin typeface="Calibri"/>
                          <a:ea typeface="Calibri"/>
                          <a:cs typeface="Calibri"/>
                          <a:sym typeface="Calibri"/>
                        </a:rPr>
                        <a:t>6</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latin typeface="Calibri"/>
                          <a:ea typeface="Calibri"/>
                          <a:cs typeface="Calibri"/>
                          <a:sym typeface="Calibri"/>
                        </a:rPr>
                        <a:t>AI Agent: Receipt Creation Assistant</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1" sz="900" u="none" cap="none" strike="noStrike">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900"/>
                        <a:buFont typeface="Arial"/>
                        <a:buNone/>
                      </a:pPr>
                      <a:r>
                        <a:t/>
                      </a:r>
                      <a:endParaRPr b="1" sz="14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The AI agent enables faster and easier receipt creation by allowing users to paste delivery confirmation details instead of manually entering data. It reduces manual effort by automatically generating receipts for multiple document and item types. This improves efficiency while allowing users to quickly verify receipt details after creation.</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a:t>
                      </a: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Business wants to see this functionality after 26A upgrade</a:t>
                      </a:r>
                      <a:endParaRPr sz="900">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bl>
          </a:graphicData>
        </a:graphic>
      </p:graphicFrame>
      <p:sp>
        <p:nvSpPr>
          <p:cNvPr id="244" name="Google Shape;244;p40"/>
          <p:cNvSpPr txBox="1"/>
          <p:nvPr/>
        </p:nvSpPr>
        <p:spPr>
          <a:xfrm>
            <a:off x="212675" y="4422900"/>
            <a:ext cx="4283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900" u="sng">
                <a:solidFill>
                  <a:schemeClr val="accent5"/>
                </a:solidFill>
                <a:latin typeface="Calibri"/>
                <a:ea typeface="Calibri"/>
                <a:cs typeface="Calibri"/>
                <a:sym typeface="Calibri"/>
                <a:hlinkClick r:id="rId3">
                  <a:extLst>
                    <a:ext uri="{A12FA001-AC4F-418D-AE19-62706E023703}">
                      <ahyp:hlinkClr val="tx"/>
                    </a:ext>
                  </a:extLst>
                </a:hlinkClick>
              </a:rPr>
              <a:t>AI Agent: Stock Location Advisor</a:t>
            </a:r>
            <a:endParaRPr/>
          </a:p>
          <a:p>
            <a:pPr indent="0" lvl="0" marL="0" rtl="0" algn="l">
              <a:spcBef>
                <a:spcPts val="0"/>
              </a:spcBef>
              <a:spcAft>
                <a:spcPts val="0"/>
              </a:spcAft>
              <a:buNone/>
            </a:pPr>
            <a:r>
              <a:rPr lang="en-US" sz="900" u="sng">
                <a:solidFill>
                  <a:schemeClr val="hlink"/>
                </a:solidFill>
                <a:latin typeface="Calibri"/>
                <a:ea typeface="Calibri"/>
                <a:cs typeface="Calibri"/>
                <a:sym typeface="Calibri"/>
                <a:hlinkClick r:id="rId4"/>
              </a:rPr>
              <a:t>AI Agent: Fulfillment Processing Assistant - Use Additional Picking and Shipping Logic</a:t>
            </a:r>
            <a:endParaRPr sz="900">
              <a:latin typeface="Calibri"/>
              <a:ea typeface="Calibri"/>
              <a:cs typeface="Calibri"/>
              <a:sym typeface="Calibri"/>
            </a:endParaRPr>
          </a:p>
          <a:p>
            <a:pPr indent="0" lvl="0" marL="0" rtl="0" algn="l">
              <a:spcBef>
                <a:spcPts val="0"/>
              </a:spcBef>
              <a:spcAft>
                <a:spcPts val="0"/>
              </a:spcAft>
              <a:buNone/>
            </a:pPr>
            <a:r>
              <a:rPr lang="en-US" sz="900" u="sng">
                <a:solidFill>
                  <a:schemeClr val="hlink"/>
                </a:solidFill>
                <a:latin typeface="Calibri"/>
                <a:ea typeface="Calibri"/>
                <a:cs typeface="Calibri"/>
                <a:sym typeface="Calibri"/>
                <a:hlinkClick r:id="rId5"/>
              </a:rPr>
              <a:t>AI Agent: Receipt Creation Assistant</a:t>
            </a:r>
            <a:endParaRPr sz="900">
              <a:latin typeface="Calibri"/>
              <a:ea typeface="Calibri"/>
              <a:cs typeface="Calibri"/>
              <a:sym typeface="Calibri"/>
            </a:endParaRPr>
          </a:p>
          <a:p>
            <a:pPr indent="0" lvl="0" marL="0" rtl="0" algn="l">
              <a:spcBef>
                <a:spcPts val="0"/>
              </a:spcBef>
              <a:spcAft>
                <a:spcPts val="0"/>
              </a:spcAft>
              <a:buNone/>
            </a:pPr>
            <a:r>
              <a:t/>
            </a:r>
            <a:endParaRPr sz="9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1"/>
          <p:cNvSpPr txBox="1"/>
          <p:nvPr>
            <p:ph idx="4294967295" type="title"/>
          </p:nvPr>
        </p:nvSpPr>
        <p:spPr>
          <a:xfrm>
            <a:off x="0" y="102546"/>
            <a:ext cx="8520600" cy="376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990"/>
              <a:buFont typeface="Arial"/>
              <a:buNone/>
            </a:pPr>
            <a:r>
              <a:rPr b="1" lang="en-US" sz="1220"/>
              <a:t>Inventory Management</a:t>
            </a:r>
            <a:endParaRPr>
              <a:highlight>
                <a:schemeClr val="accent6"/>
              </a:highlight>
            </a:endParaRPr>
          </a:p>
        </p:txBody>
      </p:sp>
      <p:graphicFrame>
        <p:nvGraphicFramePr>
          <p:cNvPr id="250" name="Google Shape;250;p41"/>
          <p:cNvGraphicFramePr/>
          <p:nvPr/>
        </p:nvGraphicFramePr>
        <p:xfrm>
          <a:off x="288868" y="534406"/>
          <a:ext cx="3000000" cy="3000000"/>
        </p:xfrm>
        <a:graphic>
          <a:graphicData uri="http://schemas.openxmlformats.org/drawingml/2006/table">
            <a:tbl>
              <a:tblPr>
                <a:noFill/>
                <a:tableStyleId>{7CE1E117-5442-4E1C-B7FE-E79694003765}</a:tableStyleId>
              </a:tblPr>
              <a:tblGrid>
                <a:gridCol w="545625"/>
                <a:gridCol w="2351275"/>
                <a:gridCol w="3108975"/>
                <a:gridCol w="2035775"/>
              </a:tblGrid>
              <a:tr h="345250">
                <a:tc>
                  <a:txBody>
                    <a:bodyPr/>
                    <a:lstStyle/>
                    <a:p>
                      <a:pPr indent="0" lvl="0" marL="0" marR="0" rtl="0" algn="ctr">
                        <a:lnSpc>
                          <a:spcPct val="100000"/>
                        </a:lnSpc>
                        <a:spcBef>
                          <a:spcPts val="0"/>
                        </a:spcBef>
                        <a:spcAft>
                          <a:spcPts val="0"/>
                        </a:spcAft>
                        <a:buClr>
                          <a:srgbClr val="000000"/>
                        </a:buClr>
                        <a:buSzPts val="794"/>
                        <a:buFont typeface="Arial"/>
                        <a:buNone/>
                      </a:pPr>
                      <a:r>
                        <a:rPr b="1" lang="en-US" sz="1000" u="none" cap="none" strike="noStrike">
                          <a:solidFill>
                            <a:srgbClr val="FFFFFF"/>
                          </a:solidFill>
                          <a:latin typeface="Calibri"/>
                          <a:ea typeface="Calibri"/>
                          <a:cs typeface="Calibri"/>
                          <a:sym typeface="Calibri"/>
                        </a:rPr>
                        <a:t>Sr. No.</a:t>
                      </a:r>
                      <a:endParaRPr b="1" sz="10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26A Release Feature</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000" u="none" cap="none" strike="noStrike">
                          <a:solidFill>
                            <a:srgbClr val="FFFFFF"/>
                          </a:solidFill>
                          <a:latin typeface="Calibri"/>
                          <a:ea typeface="Calibri"/>
                          <a:cs typeface="Calibri"/>
                          <a:sym typeface="Calibri"/>
                        </a:rPr>
                        <a:t>Business Benefit</a:t>
                      </a:r>
                      <a:endParaRPr b="1" sz="1000" u="none" cap="none" strike="noStrike">
                        <a:solidFill>
                          <a:srgbClr val="FFFFFF"/>
                        </a:solidFill>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libri"/>
                          <a:ea typeface="Calibri"/>
                          <a:cs typeface="Calibri"/>
                          <a:sym typeface="Calibri"/>
                        </a:rPr>
                        <a:t>Mandatory (Yes/No)</a:t>
                      </a:r>
                      <a:endParaRPr sz="1400" u="none" cap="none" strike="noStrike">
                        <a:latin typeface="Calibri"/>
                        <a:ea typeface="Calibri"/>
                        <a:cs typeface="Calibri"/>
                        <a:sym typeface="Calibri"/>
                      </a:endParaRPr>
                    </a:p>
                  </a:txBody>
                  <a:tcPr marT="33275" marB="3327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0079A6"/>
                    </a:solidFill>
                  </a:tcPr>
                </a:tc>
              </a:tr>
              <a:tr h="837250">
                <a:tc>
                  <a:txBody>
                    <a:bodyPr/>
                    <a:lstStyle/>
                    <a:p>
                      <a:pPr indent="0" lvl="0" marL="0" marR="0" rtl="0" algn="ctr">
                        <a:lnSpc>
                          <a:spcPct val="100000"/>
                        </a:lnSpc>
                        <a:spcBef>
                          <a:spcPts val="0"/>
                        </a:spcBef>
                        <a:spcAft>
                          <a:spcPts val="0"/>
                        </a:spcAft>
                        <a:buClr>
                          <a:srgbClr val="000000"/>
                        </a:buClr>
                        <a:buSzPts val="900"/>
                        <a:buFont typeface="Arial"/>
                        <a:buNone/>
                      </a:pPr>
                      <a:r>
                        <a:rPr lang="en-US" sz="900">
                          <a:latin typeface="Calibri"/>
                          <a:ea typeface="Calibri"/>
                          <a:cs typeface="Calibri"/>
                          <a:sym typeface="Calibri"/>
                        </a:rPr>
                        <a:t>7</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latin typeface="Calibri"/>
                          <a:ea typeface="Calibri"/>
                          <a:cs typeface="Calibri"/>
                          <a:sym typeface="Calibri"/>
                        </a:rPr>
                        <a:t>AI Agent: Inventory Organization Update Assistant</a:t>
                      </a:r>
                      <a:endParaRPr sz="14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1" sz="900" u="none" cap="none" strike="noStrike">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900"/>
                        <a:buFont typeface="Arial"/>
                        <a:buNone/>
                      </a:pPr>
                      <a:r>
                        <a:t/>
                      </a:r>
                      <a:endParaRPr b="1"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The assistant saves time by enabling mass updates to multiple inventory organizations in a single operation, reducing manual configuration effort. It simplifies organization selection using search criteria and helps quickly assign access to new users based on existing profiles. This improves efficiency in managing configurations and user access across organizations.</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N/A</a:t>
                      </a:r>
                      <a:endParaRPr sz="900">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Yes</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r h="837250">
                <a:tc>
                  <a:txBody>
                    <a:bodyPr/>
                    <a:lstStyle/>
                    <a:p>
                      <a:pPr indent="0" lvl="0" marL="0" marR="0" rtl="0" algn="ctr">
                        <a:lnSpc>
                          <a:spcPct val="100000"/>
                        </a:lnSpc>
                        <a:spcBef>
                          <a:spcPts val="0"/>
                        </a:spcBef>
                        <a:spcAft>
                          <a:spcPts val="0"/>
                        </a:spcAft>
                        <a:buClr>
                          <a:srgbClr val="000000"/>
                        </a:buClr>
                        <a:buSzPts val="900"/>
                        <a:buFont typeface="Arial"/>
                        <a:buNone/>
                      </a:pPr>
                      <a:r>
                        <a:rPr lang="en-US" sz="900">
                          <a:latin typeface="Calibri"/>
                          <a:ea typeface="Calibri"/>
                          <a:cs typeface="Calibri"/>
                          <a:sym typeface="Calibri"/>
                        </a:rPr>
                        <a:t>8</a:t>
                      </a:r>
                      <a:endParaRPr sz="900" u="none" cap="none" strike="noStrike">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61513"/>
                          </a:solidFill>
                          <a:latin typeface="Calibri"/>
                          <a:ea typeface="Calibri"/>
                          <a:cs typeface="Calibri"/>
                          <a:sym typeface="Calibri"/>
                        </a:rPr>
                        <a:t>AI Agent: Inventory Tasking Assistant</a:t>
                      </a:r>
                      <a:endParaRPr sz="1400" u="none" cap="none" strike="noStrike">
                        <a:latin typeface="Calibri"/>
                        <a:ea typeface="Calibri"/>
                        <a:cs typeface="Calibri"/>
                        <a:sym typeface="Calibri"/>
                      </a:endParaRPr>
                    </a:p>
                    <a:p>
                      <a:pPr indent="0" lvl="0" marL="0" marR="0" rtl="0" algn="just">
                        <a:lnSpc>
                          <a:spcPct val="100000"/>
                        </a:lnSpc>
                        <a:spcBef>
                          <a:spcPts val="750"/>
                        </a:spcBef>
                        <a:spcAft>
                          <a:spcPts val="0"/>
                        </a:spcAft>
                        <a:buClr>
                          <a:srgbClr val="000000"/>
                        </a:buClr>
                        <a:buSzPts val="900"/>
                        <a:buFont typeface="Arial"/>
                        <a:buNone/>
                      </a:pPr>
                      <a:r>
                        <a:t/>
                      </a:r>
                      <a:endParaRPr b="1" i="0" sz="900" u="none" cap="none" strike="noStrike">
                        <a:solidFill>
                          <a:srgbClr val="161513"/>
                        </a:solidFill>
                        <a:latin typeface="Calibri"/>
                        <a:ea typeface="Calibri"/>
                        <a:cs typeface="Calibri"/>
                        <a:sym typeface="Calibri"/>
                      </a:endParaRPr>
                    </a:p>
                  </a:txBody>
                  <a:tcPr marT="33275" marB="33275" marR="91425" marL="91425">
                    <a:lnL cap="flat" cmpd="sng" w="9525">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00">
                      <a:solidFill>
                        <a:srgbClr val="000000"/>
                      </a:solidFill>
                      <a:prstDash val="solid"/>
                      <a:round/>
                      <a:headEnd len="sm" w="sm" type="none"/>
                      <a:tailEnd len="sm" w="sm" type="none"/>
                    </a:lnT>
                    <a:lnB cap="flat" cmpd="sng" w="105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This capability improves warehouse productivity and workforce utilization by intelligently assigning the right tasks to the right workers based on factors such as skills, workload, and proximity. </a:t>
                      </a:r>
                      <a:endParaRPr sz="9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900">
                          <a:solidFill>
                            <a:schemeClr val="dk1"/>
                          </a:solidFill>
                          <a:latin typeface="Calibri"/>
                          <a:ea typeface="Calibri"/>
                          <a:cs typeface="Calibri"/>
                          <a:sym typeface="Calibri"/>
                        </a:rPr>
                        <a:t>18/03-</a:t>
                      </a:r>
                      <a:r>
                        <a:rPr lang="en-US" sz="900">
                          <a:solidFill>
                            <a:schemeClr val="dk1"/>
                          </a:solidFill>
                          <a:latin typeface="Calibri"/>
                          <a:ea typeface="Calibri"/>
                          <a:cs typeface="Calibri"/>
                          <a:sym typeface="Calibri"/>
                        </a:rPr>
                        <a:t> N/A</a:t>
                      </a:r>
                      <a:endParaRPr sz="900">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US" sz="900" u="none" cap="none" strike="noStrike">
                          <a:latin typeface="Calibri"/>
                          <a:ea typeface="Calibri"/>
                          <a:cs typeface="Calibri"/>
                          <a:sym typeface="Calibri"/>
                        </a:rPr>
                        <a:t>No</a:t>
                      </a:r>
                      <a:endParaRPr sz="900" u="none" cap="none" strike="noStrike">
                        <a:latin typeface="Calibri"/>
                        <a:ea typeface="Calibri"/>
                        <a:cs typeface="Calibri"/>
                        <a:sym typeface="Calibri"/>
                      </a:endParaRPr>
                    </a:p>
                  </a:txBody>
                  <a:tcPr marT="19050" marB="19050" marR="76200" marL="76200">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r>
            </a:tbl>
          </a:graphicData>
        </a:graphic>
      </p:graphicFrame>
      <p:sp>
        <p:nvSpPr>
          <p:cNvPr id="251" name="Google Shape;251;p41"/>
          <p:cNvSpPr txBox="1"/>
          <p:nvPr/>
        </p:nvSpPr>
        <p:spPr>
          <a:xfrm>
            <a:off x="225375" y="2876075"/>
            <a:ext cx="4283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900" u="sng">
                <a:solidFill>
                  <a:schemeClr val="accent5"/>
                </a:solidFill>
                <a:latin typeface="Calibri"/>
                <a:ea typeface="Calibri"/>
                <a:cs typeface="Calibri"/>
                <a:sym typeface="Calibri"/>
                <a:hlinkClick r:id="rId3">
                  <a:extLst>
                    <a:ext uri="{A12FA001-AC4F-418D-AE19-62706E023703}">
                      <ahyp:hlinkClr val="tx"/>
                    </a:ext>
                  </a:extLst>
                </a:hlinkClick>
              </a:rPr>
              <a:t>AI Agent: Inventory Organization Update Assistant</a:t>
            </a:r>
            <a:endParaRPr sz="9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900" u="sng">
                <a:solidFill>
                  <a:schemeClr val="accent5"/>
                </a:solidFill>
                <a:latin typeface="Calibri"/>
                <a:ea typeface="Calibri"/>
                <a:cs typeface="Calibri"/>
                <a:sym typeface="Calibri"/>
                <a:hlinkClick r:id="rId4">
                  <a:extLst>
                    <a:ext uri="{A12FA001-AC4F-418D-AE19-62706E023703}">
                      <ahyp:hlinkClr val="tx"/>
                    </a:ext>
                  </a:extLst>
                </a:hlinkClick>
              </a:rPr>
              <a:t>AI Agent: Inventory Tasking Assistant</a:t>
            </a:r>
            <a:endParaRPr sz="9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