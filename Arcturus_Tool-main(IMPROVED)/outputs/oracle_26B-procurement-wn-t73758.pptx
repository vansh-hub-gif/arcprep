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docs.oracle.com/en/cloud/saas/readiness/scm/26b/proc26b/26B-procurement-wn-f43221.htm#proc26b-f43221" TargetMode="External"/><Relationship Id="rId5" Type="http://schemas.openxmlformats.org/officeDocument/2006/relationships/hyperlink" Target="https://docs.oracle.com/en/cloud/saas/readiness/scm/26b/proc26b/26B-procurement-wn-f43222.htm#proc26b-f43222" TargetMode="External"/><Relationship Id="rId6" Type="http://schemas.openxmlformats.org/officeDocument/2006/relationships/hyperlink" Target="https://docs.oracle.com/en/cloud/saas/readiness/scm/26b/proc26b/26B-procurement-wn-f43219.htm#proc26b-f43219" TargetMode="External"/><Relationship Id="rId7" Type="http://schemas.openxmlformats.org/officeDocument/2006/relationships/hyperlink" Target="https://docs.oracle.com/en/cloud/saas/readiness/scm/26b/proc26b/26B-procurement-wn-f43224.htm#proc26b-f43224" TargetMode="External"/><Relationship Id="rId8" Type="http://schemas.openxmlformats.org/officeDocument/2006/relationships/hyperlink" Target="https://docs.oracle.com/en/cloud/saas/readiness/scm/26b/proc26b/26B-procurement-wn-f43220.htm#proc26b-f43220" TargetMode="External"/><Relationship Id="rId9" Type="http://schemas.openxmlformats.org/officeDocument/2006/relationships/hyperlink" Target="https://docs.oracle.com/en/cloud/saas/readiness/scm/26b/proc26b/26B-procurement-wn-f43223.htm#proc26b-f43223" TargetMode="External"/><Relationship Id="rId10" Type="http://schemas.openxmlformats.org/officeDocument/2006/relationships/hyperlink" Target="https://docs.oracle.com/en/cloud/saas/readiness/scm/26b/proc26b/26B-procurement-wn-f43077.htm#proc26b-f43077" TargetMode="External"/><Relationship Id="rId11" Type="http://schemas.openxmlformats.org/officeDocument/2006/relationships/hyperlink" Target="https://docs.oracle.com/en/cloud/saas/readiness/scm/26b/proc26b/26B-procurement-wn-f42958.htm#proc26b-f42958" TargetMode="External"/><Relationship Id="rId12" Type="http://schemas.openxmlformats.org/officeDocument/2006/relationships/hyperlink" Target="https://docs.oracle.com/en/cloud/saas/readiness/scm/26b/proc26b/26B-procurement-wn-f43179.htm#proc26b-f43179" TargetMode="External"/><Relationship Id="rId13" Type="http://schemas.openxmlformats.org/officeDocument/2006/relationships/hyperlink" Target="https://docs.oracle.com/en/cloud/saas/readiness/scm/26b/proc26b/26B-procurement-wn-f42445.htm#proc26b-f42445" TargetMode="External"/><Relationship Id="rId14" Type="http://schemas.openxmlformats.org/officeDocument/2006/relationships/hyperlink" Target="https://docs.oracle.com/en/cloud/saas/readiness/scm/26b/proc26b/26B-procurement-wn-f43873.htm#proc26b-f43873" TargetMode="External"/><Relationship Id="rId15" Type="http://schemas.openxmlformats.org/officeDocument/2006/relationships/hyperlink" Target="https://docs.oracle.com/en/cloud/saas/readiness/scm/26b/proc26b/26B-procurement-wn-f41567.htm#proc26b-f41567" TargetMode="External"/><Relationship Id="rId16" Type="http://schemas.openxmlformats.org/officeDocument/2006/relationships/hyperlink" Target="https://docs.oracle.com/en/cloud/saas/readiness/scm/26b/proc26b/26B-procurement-wn-f42732.htm#proc26b-f42732" TargetMode="External"/><Relationship Id="rId17" Type="http://schemas.openxmlformats.org/officeDocument/2006/relationships/hyperlink" Target="https://docs.oracle.com/en/cloud/saas/readiness/scm/26b/proc26b/26B-procurement-wn-f42868.htm#proc26b-f42868"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docs.oracle.com/en/cloud/saas/readiness/scm/26b/proc26b/26B-procurement-wn-f43469.htm#proc26b-f43469" TargetMode="External"/><Relationship Id="rId5" Type="http://schemas.openxmlformats.org/officeDocument/2006/relationships/hyperlink" Target="https://docs.oracle.com/en/cloud/saas/readiness/scm/26b/proc26b/26B-procurement-wn-f42955.htm#proc26b-f42955" TargetMode="External"/><Relationship Id="rId6" Type="http://schemas.openxmlformats.org/officeDocument/2006/relationships/hyperlink" Target="https://docs.oracle.com/en/cloud/saas/readiness/scm/26b/proc26b/26B-procurement-wn-f43892.htm#proc26b-f43892" TargetMode="External"/><Relationship Id="rId7" Type="http://schemas.openxmlformats.org/officeDocument/2006/relationships/hyperlink" Target="https://docs.oracle.com/en/cloud/saas/readiness/scm/26b/proc26b/26B-procurement-wn-f42570.htm#proc26b-f42570" TargetMode="External"/><Relationship Id="rId8" Type="http://schemas.openxmlformats.org/officeDocument/2006/relationships/hyperlink" Target="https://docs.oracle.com/en/cloud/saas/readiness/scm/26b/proc26b/26B-procurement-wn-f42845.htm#proc26b-f42845" TargetMode="External"/><Relationship Id="rId9" Type="http://schemas.openxmlformats.org/officeDocument/2006/relationships/hyperlink" Target="https://docs.oracle.com/en/cloud/saas/readiness/scm/26b/proc26b/26B-procurement-wn-f42920.htm#proc26b-f42920" TargetMode="External"/><Relationship Id="rId10" Type="http://schemas.openxmlformats.org/officeDocument/2006/relationships/hyperlink" Target="https://docs.oracle.com/en/cloud/saas/readiness/scm/26b/proc26b/26B-procurement-wn-f42903.htm#proc26b-f42903" TargetMode="External"/><Relationship Id="rId11" Type="http://schemas.openxmlformats.org/officeDocument/2006/relationships/hyperlink" Target="https://docs.oracle.com/en/cloud/saas/readiness/scm/26b/proc26b/26B-procurement-wn-f42956.htm#proc26b-f42956" TargetMode="External"/><Relationship Id="rId12" Type="http://schemas.openxmlformats.org/officeDocument/2006/relationships/hyperlink" Target="https://docs.oracle.com/en/cloud/saas/readiness/scm/26b/proc26b/26B-procurement-wn-f42846.htm#proc26b-f42846" TargetMode="External"/><Relationship Id="rId13" Type="http://schemas.openxmlformats.org/officeDocument/2006/relationships/hyperlink" Target="https://docs.oracle.com/en/cloud/saas/readiness/scm/26b/proc26b/26B-procurement-wn-f42959.htm#proc26b-f42959" TargetMode="External"/><Relationship Id="rId14" Type="http://schemas.openxmlformats.org/officeDocument/2006/relationships/hyperlink" Target="https://docs.oracle.com/en/cloud/saas/readiness/scm/26b/proc26b/26B-procurement-wn-f42837.htm#proc26b-f42837" TargetMode="External"/><Relationship Id="rId15" Type="http://schemas.openxmlformats.org/officeDocument/2006/relationships/hyperlink" Target="https://docs.oracle.com/en/cloud/saas/readiness/scm/26b/proc26b/26B-procurement-wn-f42782.htm#proc26b-f42782" TargetMode="External"/><Relationship Id="rId16" Type="http://schemas.openxmlformats.org/officeDocument/2006/relationships/hyperlink" Target="https://docs.oracle.com/en/cloud/saas/readiness/scm/26b/proc26b/26B-procurement-wn-f42838.htm#proc26b-f42838" TargetMode="External"/><Relationship Id="rId17" Type="http://schemas.openxmlformats.org/officeDocument/2006/relationships/hyperlink" Target="https://docs.oracle.com/en/cloud/saas/readiness/scm/26b/proc26b/26B-procurement-wn-f42911.htm#proc26b-f42911"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docs.oracle.com/en/cloud/saas/readiness/scm/26b/proc26b/26B-procurement-wn-f42904.htm#proc26b-f42904" TargetMode="External"/><Relationship Id="rId5" Type="http://schemas.openxmlformats.org/officeDocument/2006/relationships/hyperlink" Target="https://docs.oracle.com/en/cloud/saas/readiness/scm/26b/proc26b/26B-procurement-wn-f42957.htm#proc26b-f42957" TargetMode="External"/><Relationship Id="rId6" Type="http://schemas.openxmlformats.org/officeDocument/2006/relationships/hyperlink" Target="https://docs.oracle.com/en/cloud/saas/readiness/scm/26b/proc26b/26B-procurement-wn-f42844.htm#proc26b-f42844" TargetMode="External"/><Relationship Id="rId7" Type="http://schemas.openxmlformats.org/officeDocument/2006/relationships/hyperlink" Target="https://docs.oracle.com/en/cloud/saas/readiness/scm/26b/proc26b/26B-procurement-wn-f42902.htm#proc26b-f42902" TargetMode="External"/><Relationship Id="rId8" Type="http://schemas.openxmlformats.org/officeDocument/2006/relationships/hyperlink" Target="https://docs.oracle.com/en/cloud/saas/readiness/scm/26b/proc26b/26B-procurement-wn-f42836.htm#proc26b-f42836" TargetMode="External"/><Relationship Id="rId9" Type="http://schemas.openxmlformats.org/officeDocument/2006/relationships/hyperlink" Target="https://docs.oracle.com/en/cloud/saas/readiness/scm/26b/proc26b/26B-procurement-wn-f42905.htm#proc26b-f42905" TargetMode="External"/><Relationship Id="rId10" Type="http://schemas.openxmlformats.org/officeDocument/2006/relationships/hyperlink" Target="https://docs.oracle.com/en/cloud/saas/readiness/scm/26b/proc26b/26B-procurement-wn-f43144.htm#proc26b-f43144" TargetMode="External"/><Relationship Id="rId11" Type="http://schemas.openxmlformats.org/officeDocument/2006/relationships/hyperlink" Target="https://docs.oracle.com/en/cloud/saas/readiness/scm/26b/proc26b/26B-procurement-wn-f42880.htm#proc26b-f42880" TargetMode="External"/><Relationship Id="rId12" Type="http://schemas.openxmlformats.org/officeDocument/2006/relationships/hyperlink" Target="https://docs.oracle.com/en/cloud/saas/readiness/scm/26b/proc26b/26B-procurement-wn-f42883.htm#proc26b-f42883" TargetMode="External"/><Relationship Id="rId13" Type="http://schemas.openxmlformats.org/officeDocument/2006/relationships/hyperlink" Target="https://docs.oracle.com/en/cloud/saas/readiness/scm/26b/proc26b/26B-procurement-wn-f42881.htm#proc26b-f42881" TargetMode="External"/><Relationship Id="rId14" Type="http://schemas.openxmlformats.org/officeDocument/2006/relationships/hyperlink" Target="https://docs.oracle.com/en/cloud/saas/readiness/scm/26b/proc26b/26B-procurement-wn-f42884.htm#proc26b-f42884" TargetMode="External"/><Relationship Id="rId15" Type="http://schemas.openxmlformats.org/officeDocument/2006/relationships/hyperlink" Target="https://docs.oracle.com/en/cloud/saas/readiness/scm/26b/proc26b/26B-procurement-wn-f42961.htm#proc26b-f42961" TargetMode="External"/><Relationship Id="rId16" Type="http://schemas.openxmlformats.org/officeDocument/2006/relationships/hyperlink" Target="https://docs.oracle.com/en/cloud/saas/readiness/scm/26b/proc26b/26B-procurement-wn-f43134.htm#proc26b-f43134" TargetMode="External"/><Relationship Id="rId17" Type="http://schemas.openxmlformats.org/officeDocument/2006/relationships/hyperlink" Target="https://docs.oracle.com/en/cloud/saas/readiness/scm/26b/proc26b/26B-procurement-wn-f42875.htm#proc26b-f42875"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docs.oracle.com/en/cloud/saas/readiness/scm/26b/proc26b/26B-procurement-wn-f42879.htm#proc26b-f42879" TargetMode="External"/><Relationship Id="rId5" Type="http://schemas.openxmlformats.org/officeDocument/2006/relationships/hyperlink" Target="https://docs.oracle.com/en/cloud/saas/readiness/scm/26b/proc26b/26B-procurement-wn-f42878.htm#proc26b-f42878" TargetMode="External"/><Relationship Id="rId6" Type="http://schemas.openxmlformats.org/officeDocument/2006/relationships/hyperlink" Target="https://docs.oracle.com/en/cloud/saas/readiness/scm/26b/proc26b/26B-procurement-wn-f42882.htm#proc26b-f42882" TargetMode="External"/><Relationship Id="rId7" Type="http://schemas.openxmlformats.org/officeDocument/2006/relationships/hyperlink" Target="https://docs.oracle.com/en/cloud/saas/readiness/scm/26b/proc26b/26B-procurement-wn-f43118.htm#proc26b-f43118" TargetMode="External"/><Relationship Id="rId8" Type="http://schemas.openxmlformats.org/officeDocument/2006/relationships/hyperlink" Target="https://docs.oracle.com/en/cloud/saas/readiness/scm/26b/proc26b/26B-procurement-wn-f42962.htm#proc26b-f42962" TargetMode="External"/><Relationship Id="rId9" Type="http://schemas.openxmlformats.org/officeDocument/2006/relationships/hyperlink" Target="https://docs.oracle.com/en/cloud/saas/readiness/scm/26b/proc26b/26B-procurement-wn-f43117.htm#proc26b-f43117" TargetMode="External"/><Relationship Id="rId10" Type="http://schemas.openxmlformats.org/officeDocument/2006/relationships/hyperlink" Target="https://docs.oracle.com/en/cloud/saas/readiness/scm/26b/proc26b/26B-procurement-wn-f42857.htm#proc26b-f42857" TargetMode="External"/><Relationship Id="rId11" Type="http://schemas.openxmlformats.org/officeDocument/2006/relationships/hyperlink" Target="https://docs.oracle.com/en/cloud/saas/readiness/scm/26b/proc26b/26B-procurement-wn-f42856.htm#proc26b-f42856" TargetMode="External"/><Relationship Id="rId12" Type="http://schemas.openxmlformats.org/officeDocument/2006/relationships/hyperlink" Target="https://docs.oracle.com/en/cloud/saas/readiness/scm/26b/proc26b/26B-procurement-wn-f42859.htm#proc26b-f42859" TargetMode="External"/><Relationship Id="rId13" Type="http://schemas.openxmlformats.org/officeDocument/2006/relationships/hyperlink" Target="https://docs.oracle.com/en/cloud/saas/readiness/scm/26b/proc26b/26B-procurement-wn-f42792.htm#proc26b-f42792" TargetMode="External"/><Relationship Id="rId14" Type="http://schemas.openxmlformats.org/officeDocument/2006/relationships/hyperlink" Target="https://docs.oracle.com/en/cloud/saas/readiness/scm/26b/proc26b/26B-procurement-wn-f42793.htm#proc26b-f42793" TargetMode="External"/><Relationship Id="rId15" Type="http://schemas.openxmlformats.org/officeDocument/2006/relationships/hyperlink" Target="https://docs.oracle.com/en/cloud/saas/readiness/scm/26b/proc26b/26B-procurement-wn-f43180.htm#proc26b-f43180" TargetMode="External"/><Relationship Id="rId16" Type="http://schemas.openxmlformats.org/officeDocument/2006/relationships/hyperlink" Target="https://docs.oracle.com/en/cloud/saas/readiness/scm/26b/proc26b/26B-procurement-wn-f43178.htm#proc26b-f43178"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a:t>
            </a:r>
          </a:p>
        </p:txBody>
      </p:sp>
      <p:sp>
        <p:nvSpPr>
          <p:cNvPr id="8" name="Rectangle 7"/>
          <p:cNvSpPr/>
          <p:nvPr/>
        </p:nvSpPr>
        <p:spPr>
          <a:xfrm>
            <a:off x="0" y="2084831"/>
            <a:ext cx="12191999" cy="117043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49423"/>
            <a:ext cx="10911839" cy="365760"/>
          </a:xfrm>
          <a:prstGeom prst="rect">
            <a:avLst/>
          </a:prstGeom>
          <a:noFill/>
        </p:spPr>
        <p:txBody>
          <a:bodyPr wrap="square" anchor="ctr">
            <a:spAutoFit/>
          </a:bodyPr>
          <a:lstStyle/>
          <a:p>
            <a:pPr algn="ctr"/>
            <a:r>
              <a:rPr sz="2600" b="1">
                <a:solidFill>
                  <a:srgbClr val="FFFFFF"/>
                </a:solidFill>
                <a:latin typeface="Arial"/>
              </a:rPr>
              <a:t>Turlock Irrigation District : 26B Oracle Upgrades</a:t>
            </a:r>
          </a:p>
        </p:txBody>
      </p:sp>
      <p:sp>
        <p:nvSpPr>
          <p:cNvPr id="10" name="TextBox 9"/>
          <p:cNvSpPr txBox="1"/>
          <p:nvPr/>
        </p:nvSpPr>
        <p:spPr>
          <a:xfrm>
            <a:off x="640080" y="2743199"/>
            <a:ext cx="10911839" cy="347472"/>
          </a:xfrm>
          <a:prstGeom prst="rect">
            <a:avLst/>
          </a:prstGeom>
          <a:noFill/>
        </p:spPr>
        <p:txBody>
          <a:bodyPr wrap="square" anchor="ctr">
            <a:spAutoFit/>
          </a:bodyPr>
          <a:lstStyle/>
          <a:p>
            <a:pPr algn="ctr"/>
            <a:r>
              <a:rPr sz="2200" b="1">
                <a:solidFill>
                  <a:srgbClr val="FFFFFF"/>
                </a:solidFill>
                <a:latin typeface="Arial"/>
              </a:rPr>
              <a:t>Collaboration Messaging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83127">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Collaboration Messaging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B2B Message Converter - Enrich Workflow Features Along with Upload and Download Capabilities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Configure Collaboration Messaging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Define Processing Rules for B2B Messages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Override Inbound Message Definitions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Receive an Order from Oracle Configure, Price, Quote (CPQ)</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Set up Supplier and Customer Collaboration Messaging Using a Redwood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Common Procurement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Integrate and Extend Procurement Using REST Resources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Set Up Purchasing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Configure to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Manage Configured Items and Review Their Structures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3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Configuration Advisor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83127">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Procurement Contracts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Author Contract Terms with AI Powered Word Add-In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Automatically Generate Purchasing Change Orders for Contract Amendments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Contracts AI Counsel</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Manage Structured Terms, Notes and Related Contracts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Selected Procurement Contracts and Enterprise Contracts Bug Fixes in This Update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Purchasing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Purchase Order Status Advisor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Add Ad Hoc Approvers on Purchasing Documents at Additional Positions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Add Lines from a Catalog to Purchase Orders and Agreements as a Buyer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Collaborate with Catalog Administrators and Suppliers on Catalog Authoring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3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Create and Edit Purchase Orders with Supply Chain Financial Orchestration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83127">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Purchasing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Duplicate a Purchase Order or Its Lines When Editing the Purchase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Edit Delivery Information on Multiple Purchase Order Schedules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Manage Approved Supplier Lists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Manage Purchase Agreements as a Catalog Administrator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Navigate to Master Contracts from Purchasing Documents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Navigate to Source Agreements from a Purchase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Process Credit Requisition Lines into Purchase Orders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Recalculate the Latest Purchase Order Prices from Blanket Agreement Lines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Renegotiate Blanket Purchase Agreements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3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Search When Editing Purchase Orders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83127">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Purchasing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Upload Agreement Lines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Use Extensibility Capabilities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View Budget Details with Funds Check Results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View an Expired Status for Inactive Purchase Agreements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Selected Purchasing Bug Fixes in This Update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Sourcing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Autonomous Sourcing Assistant Enhancements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 Research Suppliers with AI</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AI Agentic App: Sourcing Command Center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Capture New Supplier Items in Negotiations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3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Change Negotiation Outcome During Award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83127">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Sourcing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Confidence Rating for Suppliers Suggested by Oracle AI</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Delete Negotiations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Manage Large Negotiations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Negotiate Retainage for Services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Reopen Award Decision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Update Blanket Purchase Agreement from Award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Use Additional Capabilities in Negotiations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19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Award by Spreadsheet and Add Award Attachments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27">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Supplier Model</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Enhance Supplier Bank Account and Transaction Tax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8313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Register Suppliers with Trusted Data from Moody's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Index</a:t>
            </a:r>
          </a:p>
        </p:txBody>
      </p:sp>
      <p:pic>
        <p:nvPicPr>
          <p:cNvPr id="3" name="Picture 2"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4" name="Picture 3" descr="tid_logo.png"/>
          <p:cNvPicPr>
            <a:picLocks noChangeAspect="1"/>
          </p:cNvPicPr>
          <p:nvPr/>
        </p:nvPicPr>
        <p:blipFill>
          <a:blip r:embed="rId3"/>
          <a:stretch>
            <a:fillRect/>
          </a:stretch>
        </p:blipFill>
        <p:spPr>
          <a:xfrm>
            <a:off x="5812535" y="6345936"/>
            <a:ext cx="566928" cy="347472"/>
          </a:xfrm>
          <a:prstGeom prst="rect">
            <a:avLst/>
          </a:prstGeom>
        </p:spPr>
      </p:pic>
      <p:graphicFrame>
        <p:nvGraphicFramePr>
          <p:cNvPr id="5" name="Table 4"/>
          <p:cNvGraphicFramePr>
            <a:graphicFrameLocks noGrp="1"/>
          </p:cNvGraphicFramePr>
          <p:nvPr/>
        </p:nvGraphicFramePr>
        <p:xfrm>
          <a:off x="457200" y="1170432"/>
          <a:ext cx="11679935" cy="914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3893311"/>
                <a:gridCol w="3893311"/>
                <a:gridCol w="3893313"/>
              </a:tblGrid>
              <a:tr h="152400">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Module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Slide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5240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Supplier Model</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Support Business Rules for Business Classifications in Supplier Registration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5240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Supplier Qualification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Create Qualification Initiatives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5240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Monitor Qualification Initiatives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5240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Supply Chain Orchestration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Redwood: Enable Supply Chain Orchestration's Redesigned Landing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52400">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l">
                        <a:lnSpc>
                          <a:spcPct val="102000"/>
                        </a:lnSpc>
                        <a:spcBef>
                          <a:spcPts val="0"/>
                        </a:spcBef>
                        <a:spcAft>
                          <a:spcPts val="60"/>
                        </a:spcAft>
                      </a:pPr>
                      <a:r>
                        <a:rPr sz="900" b="0">
                          <a:solidFill>
                            <a:srgbClr val="000000"/>
                          </a:solidFill>
                          <a:latin typeface="Arial"/>
                        </a:rPr>
                        <a:t>Use Supply Chain Orchestration to Support Contract Manufacturing for Process Manufacturing In Your Plan-to-Produce Flows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ctr"/>
                    <a:lstStyle/>
                    <a:p>
                      <a:pPr algn="ctr">
                        <a:lnSpc>
                          <a:spcPct val="102000"/>
                        </a:lnSpc>
                        <a:spcBef>
                          <a:spcPts val="0"/>
                        </a:spcBef>
                        <a:spcAft>
                          <a:spcPts val="60"/>
                        </a:spcAft>
                      </a:pPr>
                      <a:r>
                        <a:rPr sz="900" b="0">
                          <a:solidFill>
                            <a:srgbClr val="000000"/>
                          </a:solidFill>
                          <a:latin typeface="Arial"/>
                        </a:rPr>
                        <a:t>23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3</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Collaboration Messaging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B2B Message Converter - Enrich Workflow Features Along with Upload and Download Capabilities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use the B2B Message Converter AI agent to streamline the conversion of B2B messages such as shipments from a Fusion Application REST resource into industry-standard formats. Users can perform a complete sequence of messaging conversion steps within the agent, including uploading and downloading mapping files.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Standardizes B2B shipment messages by converting Fusion REST resources into industry formats such as OAGIS within one workflow.</a:t>
                      </a:r>
                    </a:p>
                    <a:p>
                      <a:pPr algn="l">
                        <a:lnSpc>
                          <a:spcPct val="102000"/>
                        </a:lnSpc>
                        <a:spcBef>
                          <a:spcPts val="0"/>
                        </a:spcBef>
                        <a:spcAft>
                          <a:spcPts val="220"/>
                        </a:spcAft>
                      </a:pPr>
                      <a:r>
                        <a:rPr sz="900" b="0">
                          <a:solidFill>
                            <a:srgbClr val="000000"/>
                          </a:solidFill>
                          <a:latin typeface="Arial"/>
                        </a:rPr>
                        <a:t>• Reduces manual message-handling effort by letting users complete conversion and mapping-file upload or download activities in the same agent.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(Fai Genai Agent SCM Administrator Duty, Fai Genai Agent Runtime Duty) for shipment processing and B2B messaging.</a:t>
                      </a:r>
                    </a:p>
                    <a:p>
                      <a:pPr algn="l">
                        <a:lnSpc>
                          <a:spcPct val="102000"/>
                        </a:lnSpc>
                        <a:spcBef>
                          <a:spcPts val="0"/>
                        </a:spcBef>
                        <a:spcAft>
                          <a:spcPts val="220"/>
                        </a:spcAft>
                      </a:pPr>
                      <a:r>
                        <a:rPr sz="900" b="0">
                          <a:solidFill>
                            <a:srgbClr val="000000"/>
                          </a:solidFill>
                          <a:latin typeface="Arial"/>
                        </a:rPr>
                        <a:t>• Applies only if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Configure Collaboration Messaging</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use a Redwood page to configure parameter values that control how Collaboration Messaging processes outbound and inbound messages. These are the parameters that can be defined on the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Gives teams a centralized Redwood page for maintaining the parameters that control inbound and outbound Collaboration Messaging behavior.</a:t>
                      </a:r>
                    </a:p>
                    <a:p>
                      <a:pPr algn="l">
                        <a:lnSpc>
                          <a:spcPct val="102000"/>
                        </a:lnSpc>
                        <a:spcBef>
                          <a:spcPts val="0"/>
                        </a:spcBef>
                        <a:spcAft>
                          <a:spcPts val="220"/>
                        </a:spcAft>
                      </a:pPr>
                      <a:r>
                        <a:rPr sz="900" b="0">
                          <a:solidFill>
                            <a:srgbClr val="000000"/>
                          </a:solidFill>
                          <a:latin typeface="Arial"/>
                        </a:rPr>
                        <a:t>• Reduces repeated configuration effort by keeping message-processing settings directly within the collaboration messaging workflow.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 unless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Define Processing Rules for B2B Messages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Set up message processing rules to automatically modify inbound messages to meet your enterprise-specific collaboration requirements. You can now set default values or set fields as required, all without complex development.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Automatically applies enterprise-specific rules to inbound B2B messages, including default values and required fields.</a:t>
                      </a:r>
                    </a:p>
                    <a:p>
                      <a:pPr algn="l">
                        <a:lnSpc>
                          <a:spcPct val="102000"/>
                        </a:lnSpc>
                        <a:spcBef>
                          <a:spcPts val="0"/>
                        </a:spcBef>
                        <a:spcAft>
                          <a:spcPts val="220"/>
                        </a:spcAft>
                      </a:pPr>
                      <a:r>
                        <a:rPr sz="900" b="0">
                          <a:solidFill>
                            <a:srgbClr val="000000"/>
                          </a:solidFill>
                          <a:latin typeface="Arial"/>
                        </a:rPr>
                        <a:t>• Reduces dependence on custom development by allowing message-processing requirements to be maintained through configurable rules.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 unless electronic signatures are used and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4</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Collaboration Messaging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Override Inbound Message Definitions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override a service provider’s inbound message definition to customize how messages received from a particular trading partner are processed. Instead of using the default inbound message definition set by the service provider, you can define alternate formats, standards, or data mappings for that partner’s inbound communications.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Partner-specific inbound message formats and mappings can be tailored instead of relying on one provider definition for every trading relationship.</a:t>
                      </a:r>
                    </a:p>
                    <a:p>
                      <a:pPr algn="l">
                        <a:lnSpc>
                          <a:spcPct val="102000"/>
                        </a:lnSpc>
                        <a:spcBef>
                          <a:spcPts val="0"/>
                        </a:spcBef>
                        <a:spcAft>
                          <a:spcPts val="220"/>
                        </a:spcAft>
                      </a:pPr>
                      <a:r>
                        <a:rPr sz="900" b="0">
                          <a:solidFill>
                            <a:srgbClr val="000000"/>
                          </a:solidFill>
                          <a:latin typeface="Arial"/>
                        </a:rPr>
                        <a:t>• Different inbound communications can follow the data standards and mappings required by each trading partner's business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 unless electronic signatures are used and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Receive an Order from Oracle Configure, Price, Quote (CPQ)</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the new predefined Oracle CPQ message definition Oracle-1-0-A2A-CPQ-Quote-In to receive quote messages from Oracle CPQ and seamlessly transform them into the appropriate payload format required by Fusion Order Management for order ingestion. You can now send status update notifications about the processing of the Oracle-1-0-A2A-CPQ-Quote-In message automatically to the initiating user in CPQ by leveraging the outbound application response message, Oracle-1-0-A2A-Application-Response-Out.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Moves configured quotes from Oracle CPQ into Fusion Order Management using a predefined message definition and required order payload format.</a:t>
                      </a:r>
                    </a:p>
                    <a:p>
                      <a:pPr algn="l">
                        <a:lnSpc>
                          <a:spcPct val="102000"/>
                        </a:lnSpc>
                        <a:spcBef>
                          <a:spcPts val="0"/>
                        </a:spcBef>
                        <a:spcAft>
                          <a:spcPts val="220"/>
                        </a:spcAft>
                      </a:pPr>
                      <a:r>
                        <a:rPr sz="900" b="0">
                          <a:solidFill>
                            <a:srgbClr val="000000"/>
                          </a:solidFill>
                          <a:latin typeface="Arial"/>
                        </a:rPr>
                        <a:t>• Keeps the initiating CPQ user informed through automatic processing-status responses as the quote is converted into an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 unless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Set up Supplier and Customer Collaboration Messaging Using a Redwood Page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the B2B Documents task to set up default B2B connections for outbound order forecasts and supply forecasts. Collaboration messaging can now use the default settings to route messages, eliminating the need to configure connection details for each customer and supplier.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Eliminates repeated connection setup for suppliers and customers by using default B2B connections to route forecast messages.</a:t>
                      </a:r>
                    </a:p>
                    <a:p>
                      <a:pPr algn="l">
                        <a:lnSpc>
                          <a:spcPct val="102000"/>
                        </a:lnSpc>
                        <a:spcBef>
                          <a:spcPts val="0"/>
                        </a:spcBef>
                        <a:spcAft>
                          <a:spcPts val="220"/>
                        </a:spcAft>
                      </a:pPr>
                      <a:r>
                        <a:rPr sz="900" b="0">
                          <a:solidFill>
                            <a:srgbClr val="000000"/>
                          </a:solidFill>
                          <a:latin typeface="Arial"/>
                        </a:rPr>
                        <a:t>• Makes outbound order and supply forecasts easier to route consistently across customer and supplier collaboration relationships.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B2B messaging and order management.</a:t>
                      </a:r>
                    </a:p>
                    <a:p>
                      <a:pPr algn="l">
                        <a:lnSpc>
                          <a:spcPct val="102000"/>
                        </a:lnSpc>
                        <a:spcBef>
                          <a:spcPts val="0"/>
                        </a:spcBef>
                        <a:spcAft>
                          <a:spcPts val="220"/>
                        </a:spcAft>
                      </a:pPr>
                      <a:r>
                        <a:rPr sz="900" b="0">
                          <a:solidFill>
                            <a:srgbClr val="000000"/>
                          </a:solidFill>
                          <a:latin typeface="Arial"/>
                        </a:rPr>
                        <a:t>• Applies only if B2B messaging is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5</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Common Procurement</a:t>
            </a:r>
          </a:p>
        </p:txBody>
      </p:sp>
      <p:graphicFrame>
        <p:nvGraphicFramePr>
          <p:cNvPr id="9" name="Table 8"/>
          <p:cNvGraphicFramePr>
            <a:graphicFrameLocks noGrp="1"/>
          </p:cNvGraphicFramePr>
          <p:nvPr/>
        </p:nvGraphicFramePr>
        <p:xfrm>
          <a:off x="256032" y="1051560"/>
          <a:ext cx="11658600" cy="3072384"/>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Integrate and Extend Procurement Using REST Resources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In this update, Oracle Fusion Cloud Procurement and Oracle Fusion Cloud Self Service Procurement deliver new and modified REST resources to enable and simplify integration with external systems. The new REST resources introduced in this update are:.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Integrate and Extend Procurement Using REST Resources tied to the documented procurement operations and order management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(Refer to the Privilege) for procurement operations and order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Set Up Purchasing</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view and configure these setup pages using the Redwood experience: On these pages, you can work faster with the refreshed list view.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set Up Purchasing tied to the documented procurement operations and order management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procurement operations and order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6</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Configure to Order</a:t>
            </a:r>
          </a:p>
        </p:txBody>
      </p:sp>
      <p:graphicFrame>
        <p:nvGraphicFramePr>
          <p:cNvPr id="9" name="Table 8"/>
          <p:cNvGraphicFramePr>
            <a:graphicFrameLocks noGrp="1"/>
          </p:cNvGraphicFramePr>
          <p:nvPr/>
        </p:nvGraphicFramePr>
        <p:xfrm>
          <a:off x="256032" y="1051560"/>
          <a:ext cx="11658600" cy="3072384"/>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Manage Configured Items and Review Their Structures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a redesigned page to view your configured items. View each item's sales structure and complete structure.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Brings the sales and complete structures of configured items into one redesigned view, making configuration review easier for users.</a:t>
                      </a:r>
                    </a:p>
                    <a:p>
                      <a:pPr algn="l">
                        <a:lnSpc>
                          <a:spcPct val="102000"/>
                        </a:lnSpc>
                        <a:spcBef>
                          <a:spcPts val="0"/>
                        </a:spcBef>
                        <a:spcAft>
                          <a:spcPts val="220"/>
                        </a:spcAft>
                      </a:pPr>
                      <a:r>
                        <a:rPr sz="900" b="0">
                          <a:solidFill>
                            <a:srgbClr val="000000"/>
                          </a:solidFill>
                          <a:latin typeface="Arial"/>
                        </a:rPr>
                        <a:t>• Gives users a clearer way to inspect configured-item structures when validating or reviewing configured products.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Configuration Advisor</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an AI agent to help you identify the optimal configuration for a configured item according to your inputs. Use the agent to compare two or more configurations and select the best one.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Comparing multiple configured-item options helps users identify a recommended configuration from the inputs and alternatives they provide.</a:t>
                      </a:r>
                    </a:p>
                    <a:p>
                      <a:pPr algn="l">
                        <a:lnSpc>
                          <a:spcPct val="102000"/>
                        </a:lnSpc>
                        <a:spcBef>
                          <a:spcPts val="0"/>
                        </a:spcBef>
                        <a:spcAft>
                          <a:spcPts val="220"/>
                        </a:spcAft>
                      </a:pPr>
                      <a:r>
                        <a:rPr sz="900" b="0">
                          <a:solidFill>
                            <a:srgbClr val="000000"/>
                          </a:solidFill>
                          <a:latin typeface="Arial"/>
                        </a:rPr>
                        <a:t>• Consistent configuration decisions become easier when users can evaluate alternatives and the reasoning behind the recommended option.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(Fai Genai Agent SCM Administrator Duty, Fai Genai Agent Runtime Duty) for supply chain planning.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7</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Procurement Contracts</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Author Contract Terms with AI Powered Word Add-In</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use the new AI powered Word Add-in, that works well for Windows as well as Mac computers, to author contract terms. You can, not only add, modify, delete, sections and clauses, but also take the help of the out-of-the-box AI Agents to improve the clause language compared to the earlier methods of editing the language.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author contract terms with ai powered word add-in gives the responsible users more relevant information for evaluating the documented process and choosing the appropriate operational response.</a:t>
                      </a:r>
                    </a:p>
                    <a:p>
                      <a:pPr algn="l">
                        <a:lnSpc>
                          <a:spcPct val="102000"/>
                        </a:lnSpc>
                        <a:spcBef>
                          <a:spcPts val="0"/>
                        </a:spcBef>
                        <a:spcAft>
                          <a:spcPts val="220"/>
                        </a:spcAft>
                      </a:pPr>
                      <a:r>
                        <a:rPr sz="900" b="0">
                          <a:solidFill>
                            <a:srgbClr val="000000"/>
                          </a:solidFill>
                          <a:latin typeface="Arial"/>
                        </a:rPr>
                        <a:t>• Applying using the Author Contract Terms with AI Powered Word Add-In gives the responsible users feature-specific information they can use when evaluating the documented operational choices.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Automatically Generate Purchasing Change Orders for Contract Amendments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Generate change orders automatically in purchasing for contracts that have been amended. You can now automate the creation of change orders in purchasing from the Redwood contract page when you amend a contract that is associated with a purchasing document.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automatically generate purchasing change orders for contract amendments helps address the documented processing bottleneck, allowing the affected workflow to move forward with fewer waiting points.</a:t>
                      </a:r>
                    </a:p>
                    <a:p>
                      <a:pPr algn="l">
                        <a:lnSpc>
                          <a:spcPct val="102000"/>
                        </a:lnSpc>
                        <a:spcBef>
                          <a:spcPts val="0"/>
                        </a:spcBef>
                        <a:spcAft>
                          <a:spcPts val="220"/>
                        </a:spcAft>
                      </a:pPr>
                      <a:r>
                        <a:rPr sz="900" b="0">
                          <a:solidFill>
                            <a:srgbClr val="000000"/>
                          </a:solidFill>
                          <a:latin typeface="Arial"/>
                        </a:rPr>
                        <a:t>• Using the automatically generate purchasing change orders for contract amendments reduces the need to revisit the affected records by addressing the documented data-entry or correction requirement within the process itself.</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procurement operations and order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Contracts AI Counsel</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Contract Advisor is an AI-powered chat assistant that provides insights into contract terms across the contract lifecycle by answering user questions about: It guides users during contract drafting by aligning third-party clauses with the organization’s standard language directly within the Word add-in.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contracts ai counsel makes the relevant operational records easier to review and monitor, giving users a clearer view of the specific process covered by the feature.</a:t>
                      </a:r>
                    </a:p>
                    <a:p>
                      <a:pPr algn="l">
                        <a:lnSpc>
                          <a:spcPct val="102000"/>
                        </a:lnSpc>
                        <a:spcBef>
                          <a:spcPts val="0"/>
                        </a:spcBef>
                        <a:spcAft>
                          <a:spcPts val="220"/>
                        </a:spcAft>
                      </a:pPr>
                      <a:r>
                        <a:rPr sz="900" b="0">
                          <a:solidFill>
                            <a:srgbClr val="000000"/>
                          </a:solidFill>
                          <a:latin typeface="Arial"/>
                        </a:rPr>
                        <a:t>• Using the contracts ai counsel reduces the need to revisit the affected records by addressing the documented data-entry or correction requirement within the process itself.</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(AI Setups privilege and the following duty role is needed Duty, For Runtime users Duty, Fai GenAI Agent Runtime Duty) for procurement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8</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Procurement Contracts</a:t>
            </a:r>
          </a:p>
        </p:txBody>
      </p:sp>
      <p:graphicFrame>
        <p:nvGraphicFramePr>
          <p:cNvPr id="9" name="Table 8"/>
          <p:cNvGraphicFramePr>
            <a:graphicFrameLocks noGrp="1"/>
          </p:cNvGraphicFramePr>
          <p:nvPr/>
        </p:nvGraphicFramePr>
        <p:xfrm>
          <a:off x="256032" y="1051560"/>
          <a:ext cx="11658600" cy="3072384"/>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Manage Structured Terms, Notes and Related Contracts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use the Redwood experience to author and manage contract terms with support for template-based Structured Terms and enhanced Attached Document authoring. This release also introduces the ability to Apply and Remove Hold at both contract and line levels, a new Notes feature for capturing contract-specific information, and Related Contracts functionality to define and manage relationships between contracts.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Managing structured terms, notes and related contracts makes the relevant operational records easier to review and monitor, giving users a clearer view of the specific process covered by the feature.</a:t>
                      </a:r>
                    </a:p>
                    <a:p>
                      <a:pPr algn="l">
                        <a:lnSpc>
                          <a:spcPct val="102000"/>
                        </a:lnSpc>
                        <a:spcBef>
                          <a:spcPts val="0"/>
                        </a:spcBef>
                        <a:spcAft>
                          <a:spcPts val="220"/>
                        </a:spcAft>
                      </a:pPr>
                      <a:r>
                        <a:rPr sz="900" b="0">
                          <a:solidFill>
                            <a:srgbClr val="000000"/>
                          </a:solidFill>
                          <a:latin typeface="Arial"/>
                        </a:rPr>
                        <a:t>• Managing structured terms, notes and related contracts helps maintain the documented fiscal or regulatory requirement within the transaction process, supporting more consistent handling of the affected records.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Selected Procurement Contracts and Enterprise Contracts Bug Fixes in This Update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This update includes some bug fixes that can change the way Oracle Procurement Contracts and Enterprise Contracts works. This isn't a full list of all the bug fixes in this update.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selected Procurement Contracts and Enterprise Contracts Bug Fixes in This Update tied to the documented procurement operations and order management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9</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Purchasing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Purchase Order Status Advisor</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The Purchase Order Status Advisor agent provides buyers with easy access to the status and highlights of their purchase orders using an AI agent-based chat. Your buyers can ask the agent about the status of a recent order or a specific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Automating using the Purchase Order Status Advisor removes routine manual handling from the documented process, allowing the responsible team to focus on exceptions and higher-value work.</a:t>
                      </a:r>
                    </a:p>
                    <a:p>
                      <a:pPr algn="l">
                        <a:lnSpc>
                          <a:spcPct val="102000"/>
                        </a:lnSpc>
                        <a:spcBef>
                          <a:spcPts val="0"/>
                        </a:spcBef>
                        <a:spcAft>
                          <a:spcPts val="220"/>
                        </a:spcAft>
                      </a:pPr>
                      <a:r>
                        <a:rPr sz="900" b="0">
                          <a:solidFill>
                            <a:srgbClr val="000000"/>
                          </a:solidFill>
                          <a:latin typeface="Arial"/>
                        </a:rPr>
                        <a:t>• Applying using the Purchase Order Status Advisor reduces routine intervention in the documented process, giving the responsible team more capacity to handle exceptions and operational priorities.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(PRC Intelligent Agent Management Duty, Fai Genai Agent SCM Administrator Duty, Fai Genai Agent Runtime Duty) for order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Add Ad Hoc Approvers on Purchasing Documents at Additional Positions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Add ad hoc approvers on purchase orders and purchase agreements at additional positions.With this update, you can now add and manage ad hoc approvers at additional positions in the default approval hierarchy when submitting purchase orders or purchase agreements for approval in the Redwood user application. You can now also add ad hoc approvers at these positions:.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Add Ad Hoc Approvers on Purchasing Documents at Additional Positions tied to the documented procurement operations and order management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Add Lines from a Catalog to Purchase Orders and Agreements as a Buyer</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As a buyer, you can now directly add products or services from the catalog to purchase orders and purchase agreements using the Add from Catalog action. This makes it easier to add lines to a purchase order from an existing blanket purchase agreement and streamlines your ordering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Automating using the Add Lines from a Catalog to Purchase Orders and Agreements as a Buyer removes routine manual handling from the documented process, allowing the responsible team to focus on exceptions and higher-value work.</a:t>
                      </a:r>
                    </a:p>
                    <a:p>
                      <a:pPr algn="l">
                        <a:lnSpc>
                          <a:spcPct val="102000"/>
                        </a:lnSpc>
                        <a:spcBef>
                          <a:spcPts val="0"/>
                        </a:spcBef>
                        <a:spcAft>
                          <a:spcPts val="220"/>
                        </a:spcAft>
                      </a:pPr>
                      <a:r>
                        <a:rPr sz="900" b="0">
                          <a:solidFill>
                            <a:srgbClr val="000000"/>
                          </a:solidFill>
                          <a:latin typeface="Arial"/>
                        </a:rPr>
                        <a:t>• Applying using the Add Lines from a Catalog to Purchase Orders and Agreements as a Buyer reduces routine intervention in the documented process, giving the responsible team more capacity to handle exceptions and operational priorities.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10</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Purchasing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19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Collaborate with Catalog Administrators and Suppliers on Catalog Authoring</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Collaborate on catalog authoring using a Redwood page. You can transfer a draft blanket purchase agreement to the catalog administrator or supplier to collaborate in the purchase agreement creation.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collaborate with catalog administrators and suppliers on catalog authoring makes the relevant operational records easier to review and monitor, giving users a clearer view of the specific process covered by the feature.</a:t>
                      </a:r>
                    </a:p>
                    <a:p>
                      <a:pPr algn="l">
                        <a:lnSpc>
                          <a:spcPct val="102000"/>
                        </a:lnSpc>
                        <a:spcBef>
                          <a:spcPts val="0"/>
                        </a:spcBef>
                        <a:spcAft>
                          <a:spcPts val="220"/>
                        </a:spcAft>
                      </a:pPr>
                      <a:r>
                        <a:rPr sz="900" b="0">
                          <a:solidFill>
                            <a:srgbClr val="000000"/>
                          </a:solidFill>
                          <a:latin typeface="Arial"/>
                        </a:rPr>
                        <a:t>• Automating using the Collaborate with Catalog Administrators and Suppliers on Catalog Authoring removes routine manual handling from the documented process, allowing the responsible team to focus on exceptions and higher-value work.</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Create and Edit Purchase Orders with Supply Chain Financial Orchestration</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Create and edit purchase orders with supply chain financial orchestration using a Redwood page. The sold-to legal entity on the purchase order is now automatically derived from an eligible financial orchestration flow.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creating and Edit Purchase Orders with Supply Chain Financial Orchestration tied to the documented supply chain planning and procurement operations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Duplicate a Purchase Order or Its Lines When Editing the Purchase Order</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Duplicate a purchase order or its lines when editing the purchase order using a Redwood page. Buyers and requesters can now duplicate change order lines on their own change orders.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Duplicate a Purchase Order or Its Lines When Editing the Purchase Order tied to the documented drop shipment cost capture and procurement operations workflow, so the relevant users can apply the capability within the process it was designed to support.</a:t>
                      </a:r>
                    </a:p>
                    <a:p>
                      <a:pPr algn="l">
                        <a:lnSpc>
                          <a:spcPct val="102000"/>
                        </a:lnSpc>
                        <a:spcBef>
                          <a:spcPts val="0"/>
                        </a:spcBef>
                        <a:spcAft>
                          <a:spcPts val="220"/>
                        </a:spcAft>
                      </a:pPr>
                      <a:r>
                        <a:rPr sz="900" b="0">
                          <a:solidFill>
                            <a:srgbClr val="000000"/>
                          </a:solidFill>
                          <a:latin typeface="Arial"/>
                        </a:rPr>
                        <a:t>• Gives the responsible drop shipment cost capture and procurement operations users a direct way to use the documented capability within their existing operational workflow.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11</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Purchasing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Edit Delivery Information on Multiple Purchase Order Schedules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update the delivery dates, requester, and deliver-to location details. Choose to submit your changes for approval automatically after the schedules are updated.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edit delivery information on multiple purchase order schedules makes the relevant operational records easier to review and monitor, giving users a clearer view of the specific process covered by the feature.</a:t>
                      </a:r>
                    </a:p>
                    <a:p>
                      <a:pPr algn="l">
                        <a:lnSpc>
                          <a:spcPct val="102000"/>
                        </a:lnSpc>
                        <a:spcBef>
                          <a:spcPts val="0"/>
                        </a:spcBef>
                        <a:spcAft>
                          <a:spcPts val="220"/>
                        </a:spcAft>
                      </a:pPr>
                      <a:r>
                        <a:rPr sz="900" b="0">
                          <a:solidFill>
                            <a:srgbClr val="000000"/>
                          </a:solidFill>
                          <a:latin typeface="Arial"/>
                        </a:rPr>
                        <a:t>• Using using the Edit Delivery Information on Multiple Purchase Order Schedules helps teams identify the status or condition of the specific operational records covered by the feature when reviewing the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Manage Approved Supplier Lists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a Redwood page to manage the list of approved suppliers for items or categories. For each item or category, you can approve a supplier or supplier site for a specific ship-to organization or for all ship-to organizations.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Automating managing Approved Supplier Lists removes routine manual handling from the documented process, allowing the responsible team to focus on exceptions and higher-value work.</a:t>
                      </a:r>
                    </a:p>
                    <a:p>
                      <a:pPr algn="l">
                        <a:lnSpc>
                          <a:spcPct val="102000"/>
                        </a:lnSpc>
                        <a:spcBef>
                          <a:spcPts val="0"/>
                        </a:spcBef>
                        <a:spcAft>
                          <a:spcPts val="220"/>
                        </a:spcAft>
                      </a:pPr>
                      <a:r>
                        <a:rPr sz="900" b="0">
                          <a:solidFill>
                            <a:srgbClr val="000000"/>
                          </a:solidFill>
                          <a:latin typeface="Arial"/>
                        </a:rPr>
                        <a:t>• Applying managing Approved Supplier Lists reduces routine intervention in the documented process, giving the responsible team more capacity to handle exceptions and operational priorities.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Manage Purchase Agreements as a Catalog Administrator</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Manage purchase agreements from a Redwood page as a catalog administrator. You can now add content to agreements pending catalog authoring, and search and filter purchase agreements and lines using keywords and specific filters.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Managing purchase agreements as a catalog administrator makes the relevant operational records easier to review and monitor, giving users a clearer view of the specific process covered by the feature.</a:t>
                      </a:r>
                    </a:p>
                    <a:p>
                      <a:pPr algn="l">
                        <a:lnSpc>
                          <a:spcPct val="102000"/>
                        </a:lnSpc>
                        <a:spcBef>
                          <a:spcPts val="0"/>
                        </a:spcBef>
                        <a:spcAft>
                          <a:spcPts val="220"/>
                        </a:spcAft>
                      </a:pPr>
                      <a:r>
                        <a:rPr sz="900" b="0">
                          <a:solidFill>
                            <a:srgbClr val="000000"/>
                          </a:solidFill>
                          <a:latin typeface="Arial"/>
                        </a:rPr>
                        <a:t>• Using managing Purchase Agreements as a Catalog Administrator helps teams identify the status or condition of the specific operational records covered by the feature when reviewing the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12</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Purchasing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Navigate to Master Contracts from Purchasing Documents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As a buyer, you can now use the master contract link to drill down into procurement master contracts when viewing purchase orders and purchase agreements. On the Redwood View Purchase Order page, you can drill down to view master contract details from the Additional Order Details tab.</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Navigate to Master Contracts from Purchasing Documents tied to the documented procurement operations and order management workflow, so the relevant users can apply the capability within the process it was designed to support.</a:t>
                      </a:r>
                    </a:p>
                    <a:p>
                      <a:pPr algn="l">
                        <a:lnSpc>
                          <a:spcPct val="102000"/>
                        </a:lnSpc>
                        <a:spcBef>
                          <a:spcPts val="0"/>
                        </a:spcBef>
                        <a:spcAft>
                          <a:spcPts val="220"/>
                        </a:spcAft>
                      </a:pPr>
                      <a:r>
                        <a:rPr sz="900" b="0">
                          <a:solidFill>
                            <a:srgbClr val="000000"/>
                          </a:solidFill>
                          <a:latin typeface="Arial"/>
                        </a:rPr>
                        <a:t>• Gives the responsible procurement operations and order management users a direct way to use the documented capability within their existing operational workflow.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Navigate to Source Agreements from a Purchase Order</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the source agreement link to drill down into backing blanket and contract purchase agreements when viewing purchase orders as a buyer or supplier. Before this update, the source agreement was just plain text.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Navigate to Source Agreements from a Purchase Order tied to the documented order management workflow, so the relevant users can apply the capability within the process it was designed to support.</a:t>
                      </a:r>
                    </a:p>
                    <a:p>
                      <a:pPr algn="l">
                        <a:lnSpc>
                          <a:spcPct val="102000"/>
                        </a:lnSpc>
                        <a:spcBef>
                          <a:spcPts val="0"/>
                        </a:spcBef>
                        <a:spcAft>
                          <a:spcPts val="220"/>
                        </a:spcAft>
                      </a:pPr>
                      <a:r>
                        <a:rPr sz="900" b="0">
                          <a:solidFill>
                            <a:srgbClr val="000000"/>
                          </a:solidFill>
                          <a:latin typeface="Arial"/>
                        </a:rPr>
                        <a:t>• Gives the responsible order management users a direct way to use the documented capability within their existing operational workflow.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Process Credit Requisition Lines into Purchase Orders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Process requisition lines with negative amounts into purchase orders using a Redwood page. Before this update, credit lines could only be added directly to the purchase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Process Credit Requisition Lines into Purchase Orders tied to the documented supplier site configuration and order management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13</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Purchasing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Recalculate the Latest Purchase Order Prices from Blanket Agreement Lines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Recalculate the latest purchase order price from the associated blanket purchase agreement line when editing the purchase order using a Redwood page as a requester, buyer, or supplier. The application reprices purchase order lines when pricing attributes such as Requested Delivery Date, Ship Date, or Quantity are modified on the line.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Recalculate the Latest Purchase Order Prices from Blanket Agreement Lines tied to the documented order management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29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Renegotiate Blanket Purchase Agreements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Create negotiations from approved blanket purchase agreements using a Redwood page as a buyer. To start a negotiation, go to the Redwood Purchase Agreement pages and select the Create Negotiation option.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Renegotiate Blanket Purchase Agreements tied to the documented order management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Search When Editing Purchase Orders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Search purchase order lines, schedules, and distributions when editing an initial purchase order or change order. You can use keyword search and filters to quickly find matching records on large documents.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searching When Editing Purchase Orders tied to the documented order management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14</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Purchasing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Upload Agreement Lines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Upload lines to blanket purchase agreements from a Redwood page as a buyer, catalog administrator, or supplier. You can upload lines during agreement authoring and when creating an agreement change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upload agreement lines makes the relevant operational records easier to review and monitor, giving users a clearer view of the specific process covered by the feature.</a:t>
                      </a:r>
                    </a:p>
                    <a:p>
                      <a:pPr algn="l">
                        <a:lnSpc>
                          <a:spcPct val="102000"/>
                        </a:lnSpc>
                        <a:spcBef>
                          <a:spcPts val="0"/>
                        </a:spcBef>
                        <a:spcAft>
                          <a:spcPts val="220"/>
                        </a:spcAft>
                      </a:pPr>
                      <a:r>
                        <a:rPr sz="900" b="0">
                          <a:solidFill>
                            <a:srgbClr val="000000"/>
                          </a:solidFill>
                          <a:latin typeface="Arial"/>
                        </a:rPr>
                        <a:t>• Automating using the Upload Agreement Lines removes routine manual handling from the documented process, allowing the responsible team to focus on exceptions and higher-value work.</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Use Extensibility Capabilities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the extensibility capabilities supported in the Redwood Purchasing application. With this update, you can also default purchase order and purchase agreement attributes using business rules.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Extensibility Capabilities tied to the documented order management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View Budget Details with Funds Check Results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The funds check result details have been updated to include a Budget view that displays control budget details, such as total budget, total consumed from the budget, budget balance, and other relevant information. Using this feature, you can see how much of your budget is available for future purchases, making it easier to plan and prioritize orders.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viewing Budget Details with Funds Check Results tied to the documented order management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15</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Purchasing</a:t>
            </a:r>
          </a:p>
        </p:txBody>
      </p:sp>
      <p:graphicFrame>
        <p:nvGraphicFramePr>
          <p:cNvPr id="9" name="Table 8"/>
          <p:cNvGraphicFramePr>
            <a:graphicFrameLocks noGrp="1"/>
          </p:cNvGraphicFramePr>
          <p:nvPr/>
        </p:nvGraphicFramePr>
        <p:xfrm>
          <a:off x="256032" y="1051560"/>
          <a:ext cx="11658600" cy="3072384"/>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View an Expired Status for Inactive Purchase Agreements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Search and view purchase agreements that have passed their end date by using the expired status. Agreements with past end dates are now marked as expired.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viewing an Expired Status for Inactive Purchase Agreements tied to the documented procurement operations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Selected Purchasing Bug Fixes in This Update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This update includes some bug fixes that can change the way Oracle Purchasing works. This isn't a full list of all the bug fixes in this update.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selected Purchasing Bug Fixes in This Update tied to the documented order management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16</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Sourcing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Autonomous Sourcing Assistant Enhancements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Category managers can now quickly identify negotiations created by the autonomous sourcing assistant using the new Autonomous filter in the Negotiation Workbench. Also, a new Autonomous column is available in search results, which users can expose.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Automating using the Autonomous Sourcing Assistant Enhancements removes routine manual handling from the documented process, allowing the responsible team to focus on exceptions and higher-value work.</a:t>
                      </a:r>
                    </a:p>
                    <a:p>
                      <a:pPr algn="l">
                        <a:lnSpc>
                          <a:spcPct val="102000"/>
                        </a:lnSpc>
                        <a:spcBef>
                          <a:spcPts val="0"/>
                        </a:spcBef>
                        <a:spcAft>
                          <a:spcPts val="220"/>
                        </a:spcAft>
                      </a:pPr>
                      <a:r>
                        <a:rPr sz="900" b="0">
                          <a:solidFill>
                            <a:srgbClr val="000000"/>
                          </a:solidFill>
                          <a:latin typeface="Arial"/>
                        </a:rPr>
                        <a:t>• Applying using the Autonomous Sourcing Assistant Enhancements reduces routine intervention in the documented process, giving the responsible team more capacity to handle exceptions and operational priorities.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 Research Suppliers with AI</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the new AI driven search experience by simply describing what suppliers you're looking for based on the items or services you want to procure. For example, you can try phrases such as:.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Automating using the Research Suppliers with AI removes routine manual handling from the documented process, allowing the responsible team to focus on exceptions and higher-value work.</a:t>
                      </a:r>
                    </a:p>
                    <a:p>
                      <a:pPr algn="l">
                        <a:lnSpc>
                          <a:spcPct val="102000"/>
                        </a:lnSpc>
                        <a:spcBef>
                          <a:spcPts val="0"/>
                        </a:spcBef>
                        <a:spcAft>
                          <a:spcPts val="220"/>
                        </a:spcAft>
                      </a:pPr>
                      <a:r>
                        <a:rPr sz="900" b="0">
                          <a:solidFill>
                            <a:srgbClr val="000000"/>
                          </a:solidFill>
                          <a:latin typeface="Arial"/>
                        </a:rPr>
                        <a:t>• Applying using the Research Suppliers with AI reduces routine intervention in the documented process, giving the responsible team more capacity to handle exceptions and operational priorities.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AI Agentic App: Sourcing Command Center</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Obtain early access to the first agentic AI application - Sourcing Command Center. The Sourcing Command Center is an AI-powered agentic command center where specialist sourcing agents continuously analyze negotiations, supplier participation, award readiness, identify risks and opportunities, coordinate and execute priority actions to drive faster award decisions, stronger supplier engagement, and improved savings outcomes.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sourcing command center gives the responsible users more relevant information for evaluating the documented process and choosing the appropriate operational response.</a:t>
                      </a:r>
                    </a:p>
                    <a:p>
                      <a:pPr algn="l">
                        <a:lnSpc>
                          <a:spcPct val="102000"/>
                        </a:lnSpc>
                        <a:spcBef>
                          <a:spcPts val="0"/>
                        </a:spcBef>
                        <a:spcAft>
                          <a:spcPts val="220"/>
                        </a:spcAft>
                      </a:pPr>
                      <a:r>
                        <a:rPr sz="900" b="0">
                          <a:solidFill>
                            <a:srgbClr val="000000"/>
                          </a:solidFill>
                          <a:latin typeface="Arial"/>
                        </a:rPr>
                        <a:t>• Applying using the Sourcing Command Center using the documented workload factors helps distribute work more appropriately across available workers and operational priorities.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17</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Sourcing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39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Capture New Supplier Items in Negotiations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Suppliers can now provide new supplier items for both inventory and description-based line items when submitting responses in the Redwood supplier portal. The provided supplier items are automatically copied to the purchasing documents generated upon award.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Automating using the Capture New Supplier Items in Negotiations removes routine manual handling from the documented process, allowing the responsible team to focus on exceptions and higher-value work.</a:t>
                      </a:r>
                    </a:p>
                    <a:p>
                      <a:pPr algn="l">
                        <a:lnSpc>
                          <a:spcPct val="102000"/>
                        </a:lnSpc>
                        <a:spcBef>
                          <a:spcPts val="0"/>
                        </a:spcBef>
                        <a:spcAft>
                          <a:spcPts val="220"/>
                        </a:spcAft>
                      </a:pPr>
                      <a:r>
                        <a:rPr sz="900" b="0">
                          <a:solidFill>
                            <a:srgbClr val="000000"/>
                          </a:solidFill>
                          <a:latin typeface="Arial"/>
                        </a:rPr>
                        <a:t>• Using the capture new supplier items in negotiations supports more consistent inventory records by applying the documented tracking or reconciliation capability directly within the affected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Change Negotiation Outcome During Award</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change the preset negotiation outcome of purchase order to a blanket purchase agreement, or contract purchase agreement, or a different purchase order template, after the award is finalized without needing to restart the negotiation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change negotiation outcome during award reduces the need to revisit the affected records by addressing the documented data-entry or correction requirement within the process itself.</a:t>
                      </a:r>
                    </a:p>
                    <a:p>
                      <a:pPr algn="l">
                        <a:lnSpc>
                          <a:spcPct val="102000"/>
                        </a:lnSpc>
                        <a:spcBef>
                          <a:spcPts val="0"/>
                        </a:spcBef>
                        <a:spcAft>
                          <a:spcPts val="220"/>
                        </a:spcAft>
                      </a:pPr>
                      <a:r>
                        <a:rPr sz="900" b="0">
                          <a:solidFill>
                            <a:srgbClr val="000000"/>
                          </a:solidFill>
                          <a:latin typeface="Arial"/>
                        </a:rPr>
                        <a:t>• Applying using the Change Negotiation Outcome During Award addresses the documented correction requirement within the workflow, reducing repeated handling of the same affected records.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order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Confidence Rating for Suppliers Suggested by Oracle AI</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Category managers can now view the confidence rating of the suppliers suggested through AI Assist. This confidence is based on a similarity score that measures how closely the line items, descriptions, and purchasing categories on the negotiation lines match a supplier’s historical transactions.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Confidence Rating for Suppliers Suggested by Oracle AI tied to the documented procurement operations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procurement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18</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Sourcing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Delete Negotiations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delete canceled negotiations directly from the negotiation search page in Redwood . After you delete a negotiation, it's no longer accessible.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Delete Negotiations tied to the documented electronic signatures workflow, so the relevant users can apply the capability within the process it was designed to support.</a:t>
                      </a:r>
                    </a:p>
                    <a:p>
                      <a:pPr algn="l">
                        <a:lnSpc>
                          <a:spcPct val="102000"/>
                        </a:lnSpc>
                        <a:spcBef>
                          <a:spcPts val="0"/>
                        </a:spcBef>
                        <a:spcAft>
                          <a:spcPts val="220"/>
                        </a:spcAft>
                      </a:pPr>
                      <a:r>
                        <a:rPr sz="900" b="0">
                          <a:solidFill>
                            <a:srgbClr val="000000"/>
                          </a:solidFill>
                          <a:latin typeface="Arial"/>
                        </a:rPr>
                        <a:t>• Gives the responsible electronic signatures users a direct way to use the documented capability within their existing operational workflow.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Manage Large Negotiations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manage large negotiations with background processes for high line volumes in the Redwood experience. Create a large negotiation draft by selecting a template that's enabled for processing a large volume of negotiation lines.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Managing large negotiations gives the responsible users more relevant information for evaluating the documented process and choosing the appropriate operational response.</a:t>
                      </a:r>
                    </a:p>
                    <a:p>
                      <a:pPr algn="l">
                        <a:lnSpc>
                          <a:spcPct val="102000"/>
                        </a:lnSpc>
                        <a:spcBef>
                          <a:spcPts val="0"/>
                        </a:spcBef>
                        <a:spcAft>
                          <a:spcPts val="220"/>
                        </a:spcAft>
                      </a:pPr>
                      <a:r>
                        <a:rPr sz="900" b="0">
                          <a:solidFill>
                            <a:srgbClr val="000000"/>
                          </a:solidFill>
                          <a:latin typeface="Arial"/>
                        </a:rPr>
                        <a:t>• Automating managing Large Negotiations removes routine manual handling from the documented process, allowing the responsible team to focus on exceptions and higher-value work.</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the related business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Negotiate Retainage for Services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add retainage terms in an RFQ and allow suppliers to negotiate these terms using an enhanced Redwood experience. The terms include retainage rate and maximum retainage amount.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negotiate retainage for services gives the responsible users more relevant information for evaluating the documented process and choosing the appropriate operational response.</a:t>
                      </a:r>
                    </a:p>
                    <a:p>
                      <a:pPr algn="l">
                        <a:lnSpc>
                          <a:spcPct val="102000"/>
                        </a:lnSpc>
                        <a:spcBef>
                          <a:spcPts val="0"/>
                        </a:spcBef>
                        <a:spcAft>
                          <a:spcPts val="220"/>
                        </a:spcAft>
                      </a:pPr>
                      <a:r>
                        <a:rPr sz="900" b="0">
                          <a:solidFill>
                            <a:srgbClr val="000000"/>
                          </a:solidFill>
                          <a:latin typeface="Arial"/>
                        </a:rPr>
                        <a:t>• Using the negotiate retainage for services helps maintain the documented fiscal or regulatory requirement within the transaction process, supporting more consistent handling of the affected records.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procurement operations and order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19</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Sourcing</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Reopen Award Decision</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In Redwood, you can now reopen an awarded and finalized negotiation to award a different supplier even after purchasing documents are created. You must cancel or delete all purchasing documents created from the previous award decision to reopen the finalized award.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Reopen Award Decision tied to the documented B2B messaging and order management workflow, so the relevant users can apply the capability within the process it was designed to support.</a:t>
                      </a:r>
                    </a:p>
                    <a:p>
                      <a:pPr algn="l">
                        <a:lnSpc>
                          <a:spcPct val="102000"/>
                        </a:lnSpc>
                        <a:spcBef>
                          <a:spcPts val="0"/>
                        </a:spcBef>
                        <a:spcAft>
                          <a:spcPts val="220"/>
                        </a:spcAft>
                      </a:pPr>
                      <a:r>
                        <a:rPr sz="900" b="0">
                          <a:solidFill>
                            <a:srgbClr val="000000"/>
                          </a:solidFill>
                          <a:latin typeface="Arial"/>
                        </a:rPr>
                        <a:t>• Gives the responsible B2B messaging and order management users a direct way to use the documented capability within their existing operational workflow.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B2B messaging and order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Update Blanket Purchase Agreement from Award</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In Redwood, when a sourcing event is completed, instead of creating a new agreement every time, you can now update an ongoing agreement. You can select an agreement to update, and then choose if you want to update any matching lines or expire the previous lines and add new.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Automating updating Blanket Purchase Agreement from Award removes routine manual handling from the documented process, allowing the responsible team to focus on exceptions and higher-value work.</a:t>
                      </a:r>
                    </a:p>
                    <a:p>
                      <a:pPr algn="l">
                        <a:lnSpc>
                          <a:spcPct val="102000"/>
                        </a:lnSpc>
                        <a:spcBef>
                          <a:spcPts val="0"/>
                        </a:spcBef>
                        <a:spcAft>
                          <a:spcPts val="220"/>
                        </a:spcAft>
                      </a:pPr>
                      <a:r>
                        <a:rPr sz="900" b="0">
                          <a:solidFill>
                            <a:srgbClr val="000000"/>
                          </a:solidFill>
                          <a:latin typeface="Arial"/>
                        </a:rPr>
                        <a:t>• Applying updating Blanket Purchase Agreement from Award reduces routine intervention in the documented process, giving the responsible team more capacity to handle exceptions and operational priorities.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order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Use Additional Capabilities in Negotiations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Additional capabilities are now available in Oracle Sourcing Redwood UIs: You can now set and view minimum decrement value for each line in an auction.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Automating using Additional Capabilities in Negotiations removes routine manual handling from the documented process, allowing the responsible team to focus on exceptions and higher-value work.</a:t>
                      </a:r>
                    </a:p>
                    <a:p>
                      <a:pPr algn="l">
                        <a:lnSpc>
                          <a:spcPct val="102000"/>
                        </a:lnSpc>
                        <a:spcBef>
                          <a:spcPts val="0"/>
                        </a:spcBef>
                        <a:spcAft>
                          <a:spcPts val="220"/>
                        </a:spcAft>
                      </a:pPr>
                      <a:r>
                        <a:rPr sz="900" b="0">
                          <a:solidFill>
                            <a:srgbClr val="000000"/>
                          </a:solidFill>
                          <a:latin typeface="Arial"/>
                        </a:rPr>
                        <a:t>• Applying using Additional Capabilities in Negotiations reduces routine intervention in the documented process, giving the responsible team more capacity to handle exceptions and operational priorities.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the related business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20</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Sourcing</a:t>
            </a:r>
          </a:p>
        </p:txBody>
      </p:sp>
      <p:graphicFrame>
        <p:nvGraphicFramePr>
          <p:cNvPr id="9" name="Table 8"/>
          <p:cNvGraphicFramePr>
            <a:graphicFrameLocks noGrp="1"/>
          </p:cNvGraphicFramePr>
          <p:nvPr/>
        </p:nvGraphicFramePr>
        <p:xfrm>
          <a:off x="256032" y="1051560"/>
          <a:ext cx="11658600" cy="1682496"/>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Award by Spreadsheet and Add Award Attachments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add award attachments to your negotiation from the Award Analysis Dashboard. You may attach supporting documents to justify your award decision or include them with the purchasing documentation.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award by spreadsheet and add award attachments gives the responsible users more relevant information for evaluating the documented process and choosing the appropriate operational response.</a:t>
                      </a:r>
                    </a:p>
                    <a:p>
                      <a:pPr algn="l">
                        <a:lnSpc>
                          <a:spcPct val="102000"/>
                        </a:lnSpc>
                        <a:spcBef>
                          <a:spcPts val="0"/>
                        </a:spcBef>
                        <a:spcAft>
                          <a:spcPts val="220"/>
                        </a:spcAft>
                      </a:pPr>
                      <a:r>
                        <a:rPr sz="900" b="0">
                          <a:solidFill>
                            <a:srgbClr val="000000"/>
                          </a:solidFill>
                          <a:latin typeface="Arial"/>
                        </a:rPr>
                        <a:t>• Applying using the Award by Spreadsheet and Add Award Attachments gives the responsible users feature-specific information they can use when evaluating the documented operational choices.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the related business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21</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Supplier Model</a:t>
            </a:r>
          </a:p>
        </p:txBody>
      </p:sp>
      <p:graphicFrame>
        <p:nvGraphicFramePr>
          <p:cNvPr id="9" name="Table 8"/>
          <p:cNvGraphicFramePr>
            <a:graphicFrameLocks noGrp="1"/>
          </p:cNvGraphicFramePr>
          <p:nvPr/>
        </p:nvGraphicFramePr>
        <p:xfrm>
          <a:off x="256032" y="1051560"/>
          <a:ext cx="11658600" cy="4462272"/>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49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Enhance Supplier Bank Account and Transaction Tax Management</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Supplier profile management in Redwood has enhanced bank account and transaction tax capabilities as part of the Manage Supplier Profile feature released in Update 26A. With this update, you can manage intermediary accounts and descriptive flexfields for supplier bank accounts in Redwood supplier profile.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using the Enhance Supplier Bank Account and Transaction Tax Management tied to the documented the related business process workflow, so the relevant users can apply the capability within the process it was designed to support.</a:t>
                      </a:r>
                    </a:p>
                    <a:p>
                      <a:pPr algn="l">
                        <a:lnSpc>
                          <a:spcPct val="102000"/>
                        </a:lnSpc>
                        <a:spcBef>
                          <a:spcPts val="0"/>
                        </a:spcBef>
                        <a:spcAft>
                          <a:spcPts val="220"/>
                        </a:spcAft>
                      </a:pPr>
                      <a:r>
                        <a:rPr sz="900" b="0">
                          <a:solidFill>
                            <a:srgbClr val="000000"/>
                          </a:solidFill>
                          <a:latin typeface="Arial"/>
                        </a:rPr>
                        <a:t>• Gives the responsible the related business process users a direct way to use the documented capability within their existing operational workflow.</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the related business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Register Suppliers with Trusted Data from Moody's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Embed trusted data from the integration with Moody’s to enrich and validate supplier profile details during supplier registration. With an increasing number of bad actors attempting payment fraud, using accurate profile data during onboarding is a basic safeguard to minimize risk.</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register suppliers with trusted data from moody's makes the relevant operational records easier to review and monitor, giving users a clearer view of the specific process covered by the feature.</a:t>
                      </a:r>
                    </a:p>
                    <a:p>
                      <a:pPr algn="l">
                        <a:lnSpc>
                          <a:spcPct val="102000"/>
                        </a:lnSpc>
                        <a:spcBef>
                          <a:spcPts val="0"/>
                        </a:spcBef>
                        <a:spcAft>
                          <a:spcPts val="220"/>
                        </a:spcAft>
                      </a:pPr>
                      <a:r>
                        <a:rPr sz="900" b="0">
                          <a:solidFill>
                            <a:srgbClr val="000000"/>
                          </a:solidFill>
                          <a:latin typeface="Arial"/>
                        </a:rPr>
                        <a:t>• Using using the Register Suppliers with Trusted Data from Moody's gives the relevant team more direct access to the feature's reporting data, making operational analysis easier to perform within the supported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 unless electronic signatures are used.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Support Business Rules for Business Classifications in Supplier Registration</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Previous Next JavaScript must be enabled to correctly display this content Supplier registration can have unique requirements based on factors like country and industry. If the information requested in the registration flow isn't tailored using these types of factors, it can be confusing and result in higher support costs with lower registration success rates.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Keeps supporting Business Rules for Business Classifications in Supplier Registration tied to the documented supply chain planning workflow, so the relevant users can apply the capability within the process it was designed to support.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supply chain planning.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22</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Supplier Qualification Management</a:t>
            </a:r>
          </a:p>
        </p:txBody>
      </p:sp>
      <p:graphicFrame>
        <p:nvGraphicFramePr>
          <p:cNvPr id="9" name="Table 8"/>
          <p:cNvGraphicFramePr>
            <a:graphicFrameLocks noGrp="1"/>
          </p:cNvGraphicFramePr>
          <p:nvPr/>
        </p:nvGraphicFramePr>
        <p:xfrm>
          <a:off x="256032" y="1051560"/>
          <a:ext cx="11658600" cy="3072384"/>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Create Qualification Initiatives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Enable a simple and modern experience for creating and managing supplier qualification initiatives. The streamlined experience lets you easily select the suppliers you wish to qualify, the responders, and the applicable qualification areas.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Creating qualification initiatives makes the relevant operational records easier to review and monitor, giving users a clearer view of the specific process covered by the feature.</a:t>
                      </a:r>
                    </a:p>
                    <a:p>
                      <a:pPr algn="l">
                        <a:lnSpc>
                          <a:spcPct val="102000"/>
                        </a:lnSpc>
                        <a:spcBef>
                          <a:spcPts val="0"/>
                        </a:spcBef>
                        <a:spcAft>
                          <a:spcPts val="220"/>
                        </a:spcAft>
                      </a:pPr>
                      <a:r>
                        <a:rPr sz="900" b="0">
                          <a:solidFill>
                            <a:srgbClr val="000000"/>
                          </a:solidFill>
                          <a:latin typeface="Arial"/>
                        </a:rPr>
                        <a:t>• Using creating Qualification Initiatives gives the relevant team more direct access to the feature's reporting data, making operational analysis easier to perform within the supported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procurement operations and electronic signatures.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Monitor Qualification Initiatives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You can now enable a simple and modern experience for monitoring in-progress qualification initiatives within Oracle Supplier Qualification Management. The streamlined experience lets you easily search for and monitor an initiative, send reminders, and view qualifications ready for evaluation.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Using the monitor qualification initiatives makes the relevant operational records easier to review and monitor, giving users a clearer view of the specific process covered by the feature.</a:t>
                      </a:r>
                    </a:p>
                    <a:p>
                      <a:pPr algn="l">
                        <a:lnSpc>
                          <a:spcPct val="102000"/>
                        </a:lnSpc>
                        <a:spcBef>
                          <a:spcPts val="0"/>
                        </a:spcBef>
                        <a:spcAft>
                          <a:spcPts val="220"/>
                        </a:spcAft>
                      </a:pPr>
                      <a:r>
                        <a:rPr sz="900" b="0">
                          <a:solidFill>
                            <a:srgbClr val="000000"/>
                          </a:solidFill>
                          <a:latin typeface="Arial"/>
                        </a:rPr>
                        <a:t>• Using using the Monitor Qualification Initiatives gives the relevant team more direct access to the feature's reporting data, making operational analysis easier to perform within the supported process.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23</a:t>
            </a:r>
          </a:p>
        </p:txBody>
      </p:sp>
      <p:sp>
        <p:nvSpPr>
          <p:cNvPr id="8" name="TextBox 7"/>
          <p:cNvSpPr txBox="1"/>
          <p:nvPr/>
        </p:nvSpPr>
        <p:spPr>
          <a:xfrm>
            <a:off x="256032" y="685800"/>
            <a:ext cx="11679935" cy="274320"/>
          </a:xfrm>
          <a:prstGeom prst="rect">
            <a:avLst/>
          </a:prstGeom>
          <a:noFill/>
        </p:spPr>
        <p:txBody>
          <a:bodyPr wrap="square" anchor="ctr">
            <a:spAutoFit/>
          </a:bodyPr>
          <a:lstStyle/>
          <a:p>
            <a:pPr algn="l"/>
            <a:r>
              <a:rPr sz="1200" b="1">
                <a:solidFill>
                  <a:srgbClr val="005876"/>
                </a:solidFill>
                <a:latin typeface="Arial"/>
              </a:rPr>
              <a:t>Supply Chain Orchestration</a:t>
            </a:r>
          </a:p>
        </p:txBody>
      </p:sp>
      <p:graphicFrame>
        <p:nvGraphicFramePr>
          <p:cNvPr id="9" name="Table 8"/>
          <p:cNvGraphicFramePr>
            <a:graphicFrameLocks noGrp="1"/>
          </p:cNvGraphicFramePr>
          <p:nvPr/>
        </p:nvGraphicFramePr>
        <p:xfrm>
          <a:off x="256032" y="1051560"/>
          <a:ext cx="11658600" cy="3072384"/>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566928"/>
                <a:gridCol w="3337560"/>
                <a:gridCol w="3017520"/>
                <a:gridCol w="3017520"/>
                <a:gridCol w="850392"/>
                <a:gridCol w="868680"/>
              </a:tblGrid>
              <a:tr h="292608">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Sr. 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26B Release Feature</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Benefit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Mandatory</a:t>
                      </a:r>
                    </a:p>
                    <a:p>
                      <a:pPr algn="ctr">
                        <a:lnSpc>
                          <a:spcPct val="102000"/>
                        </a:lnSpc>
                        <a:spcBef>
                          <a:spcPts val="0"/>
                        </a:spcBef>
                        <a:spcAft>
                          <a:spcPts val="60"/>
                        </a:spcAft>
                      </a:pPr>
                      <a:r>
                        <a:rPr sz="900" b="1">
                          <a:solidFill>
                            <a:srgbClr val="FFFFFF"/>
                          </a:solidFill>
                          <a:latin typeface="Arial"/>
                        </a:rPr>
                        <a:t>(Yes/No)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Priority</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Redwood: Enable Supply Chain Orchestration's Redesigned Landing Page</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Use Supply Chain Orchestration's redesigned landing page as the starting point to manage your supply requests. Get a summary of the supply requests that you recently received or need your attention.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Summarizes recently received and attention-required supply requests on the Supply Chain Orchestration landing page.</a:t>
                      </a:r>
                    </a:p>
                    <a:p>
                      <a:pPr algn="l">
                        <a:lnSpc>
                          <a:spcPct val="102000"/>
                        </a:lnSpc>
                        <a:spcBef>
                          <a:spcPts val="0"/>
                        </a:spcBef>
                        <a:spcAft>
                          <a:spcPts val="220"/>
                        </a:spcAft>
                      </a:pPr>
                      <a:r>
                        <a:rPr sz="900" b="0">
                          <a:solidFill>
                            <a:srgbClr val="000000"/>
                          </a:solidFill>
                          <a:latin typeface="Arial"/>
                        </a:rPr>
                        <a:t>• Gives supply-chain users a focused starting point for reviewing the status of requests that need action.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NO BUSINESS IMPACT.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No</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1389888">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55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60"/>
                        </a:spcAft>
                      </a:pPr>
                      <a:r>
                        <a:rPr sz="900" b="1">
                          <a:solidFill>
                            <a:srgbClr val="000000"/>
                          </a:solidFill>
                          <a:latin typeface="Arial"/>
                        </a:rPr>
                        <a:t>Use Supply Chain Orchestration to Support Contract Manufacturing for Process Manufacturing In Your Plan-to-Produce Flows</a:t>
                      </a:r>
                    </a:p>
                    <a:p>
                      <a:pPr algn="l">
                        <a:lnSpc>
                          <a:spcPct val="102000"/>
                        </a:lnSpc>
                        <a:spcBef>
                          <a:spcPts val="0"/>
                        </a:spcBef>
                        <a:spcAft>
                          <a:spcPts val="60"/>
                        </a:spcAft>
                      </a:pPr>
                      <a:r>
                        <a:rPr sz="900" b="0">
                          <a:solidFill>
                            <a:srgbClr val="000000"/>
                          </a:solidFill>
                          <a:latin typeface="Arial"/>
                        </a:rPr>
                        <a:t/>
                      </a:r>
                    </a:p>
                    <a:p>
                      <a:pPr algn="l">
                        <a:lnSpc>
                          <a:spcPct val="102000"/>
                        </a:lnSpc>
                        <a:spcBef>
                          <a:spcPts val="0"/>
                        </a:spcBef>
                        <a:spcAft>
                          <a:spcPts val="60"/>
                        </a:spcAft>
                      </a:pPr>
                      <a:r>
                        <a:rPr sz="900" b="0">
                          <a:solidFill>
                            <a:srgbClr val="000000"/>
                          </a:solidFill>
                          <a:latin typeface="Arial"/>
                        </a:rPr>
                        <a:t>Oracle Supply Chain Planning will send a planned order to Oracle Supply Chain Orchestration, then Supply Chain Orchestration will create a process work order to track the manufacturing progress at the contract manufacturers facility and a purchase order on the contract manufacturer to pay for the manufacturing services.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Connects planned orders to process work orders and contract-manufacturing purchase orders so outsourced production can be tracked through the plan-to-produce flow.</a:t>
                      </a:r>
                    </a:p>
                    <a:p>
                      <a:pPr algn="l">
                        <a:lnSpc>
                          <a:spcPct val="102000"/>
                        </a:lnSpc>
                        <a:spcBef>
                          <a:spcPts val="0"/>
                        </a:spcBef>
                        <a:spcAft>
                          <a:spcPts val="220"/>
                        </a:spcAft>
                      </a:pPr>
                      <a:r>
                        <a:rPr sz="900" b="0">
                          <a:solidFill>
                            <a:srgbClr val="000000"/>
                          </a:solidFill>
                          <a:latin typeface="Arial"/>
                        </a:rPr>
                        <a:t>• Keeps manufacturing progress and supplier-service purchasing linked within the orchestration process for contract-manufactured products.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l">
                        <a:lnSpc>
                          <a:spcPct val="102000"/>
                        </a:lnSpc>
                        <a:spcBef>
                          <a:spcPts val="0"/>
                        </a:spcBef>
                        <a:spcAft>
                          <a:spcPts val="220"/>
                        </a:spcAft>
                      </a:pPr>
                      <a:r>
                        <a:rPr sz="900" b="0">
                          <a:solidFill>
                            <a:srgbClr val="000000"/>
                          </a:solidFill>
                          <a:latin typeface="Arial"/>
                        </a:rPr>
                        <a:t>• LOW IMPACT - requires role configuration for process manufacturing costing and manufacturing operations.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Yes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nchor="t"/>
                    <a:lstStyle/>
                    <a:p>
                      <a:pPr algn="ctr">
                        <a:lnSpc>
                          <a:spcPct val="102000"/>
                        </a:lnSpc>
                        <a:spcBef>
                          <a:spcPts val="0"/>
                        </a:spcBef>
                        <a:spcAft>
                          <a:spcPts val="60"/>
                        </a:spcAft>
                      </a:pPr>
                      <a:r>
                        <a:rPr sz="900" b="0">
                          <a:solidFill>
                            <a:srgbClr val="000000"/>
                          </a:solidFill>
                          <a:latin typeface="Arial"/>
                        </a:rPr>
                        <a:t>Medium</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24</a:t>
            </a:r>
          </a:p>
        </p:txBody>
      </p:sp>
      <p:sp>
        <p:nvSpPr>
          <p:cNvPr id="8" name="TextBox 7"/>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References</a:t>
            </a:r>
          </a:p>
        </p:txBody>
      </p:sp>
      <p:graphicFrame>
        <p:nvGraphicFramePr>
          <p:cNvPr id="9" name="Table 8"/>
          <p:cNvGraphicFramePr>
            <a:graphicFrameLocks noGrp="1"/>
          </p:cNvGraphicFramePr>
          <p:nvPr/>
        </p:nvGraphicFramePr>
        <p:xfrm>
          <a:off x="256032" y="1097280"/>
          <a:ext cx="11887200" cy="5486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4114800"/>
                <a:gridCol w="7772400"/>
              </a:tblGrid>
              <a:tr h="365760">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Feature(s)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Reference Link</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AI Agent: B2B Message Converter - Enrich Workflow Features Along with Upload and Download Capabilities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4"/>
                        </a:rPr>
                        <a:t>https://docs.oracle.com/en/cloud/saas/readiness/scm/26b/proc26b/26B-procurement-wn-f43221.htm#proc26b-f43221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Redwood: Configure Collaboration Messaging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5"/>
                        </a:rPr>
                        <a:t>https://docs.oracle.com/en/cloud/saas/readiness/scm/26b/proc26b/26B-procurement-wn-f43222.htm#proc26b-f43222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Redwood: Define Processing Rules for B2B Messages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6"/>
                        </a:rPr>
                        <a:t>https://docs.oracle.com/en/cloud/saas/readiness/scm/26b/proc26b/26B-procurement-wn-f43219.htm#proc26b-f43219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Redwood: Override Inbound Message Definitions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7"/>
                        </a:rPr>
                        <a:t>https://docs.oracle.com/en/cloud/saas/readiness/scm/26b/proc26b/26B-procurement-wn-f43224.htm#proc26b-f43224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Redwood: Receive an Order from Oracle Configure, Price, Quote (CPQ)</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8"/>
                        </a:rPr>
                        <a:t>https://docs.oracle.com/en/cloud/saas/readiness/scm/26b/proc26b/26B-procurement-wn-f43220.htm#proc26b-f43220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Collaboration Messaging - Redwood: Set up Supplier and Customer Collaboration Messaging Using a Redwood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9"/>
                        </a:rPr>
                        <a:t>https://docs.oracle.com/en/cloud/saas/readiness/scm/26b/proc26b/26B-procurement-wn-f43223.htm#proc26b-f43223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Common Procurement - Integrate and Extend Procurement Using REST Resources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0"/>
                        </a:rPr>
                        <a:t>https://docs.oracle.com/en/cloud/saas/readiness/scm/26b/proc26b/26B-procurement-wn-f43077.htm#proc26b-f43077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Common Procurement - Redwood: Set Up Purchasing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1"/>
                        </a:rPr>
                        <a:t>https://docs.oracle.com/en/cloud/saas/readiness/scm/26b/proc26b/26B-procurement-wn-f42958.htm#proc26b-f42958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Configure to Order - Redwood: Manage Configured Items and Review Their Structures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2"/>
                        </a:rPr>
                        <a:t>https://docs.oracle.com/en/cloud/saas/readiness/scm/26b/proc26b/26B-procurement-wn-f43179.htm#proc26b-f43179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Configure to Order - AI Agent: Configuration Advisor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3"/>
                        </a:rPr>
                        <a:t>https://docs.oracle.com/en/cloud/saas/readiness/scm/26b/proc26b/26B-procurement-wn-f42445.htm#proc26b-f42445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Procurement Contracts - Author Contract Terms with AI Powered Word Add-In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4"/>
                        </a:rPr>
                        <a:t>https://docs.oracle.com/en/cloud/saas/readiness/scm/26b/proc26b/26B-procurement-wn-f43873.htm#proc26b-f43873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Procurement Contracts - Automatically Generate Purchasing Change Orders for Contract Amendments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5"/>
                        </a:rPr>
                        <a:t>https://docs.oracle.com/en/cloud/saas/readiness/scm/26b/proc26b/26B-procurement-wn-f41567.htm#proc26b-f41567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Procurement Contracts - Contracts AI Counsel</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6"/>
                        </a:rPr>
                        <a:t>https://docs.oracle.com/en/cloud/saas/readiness/scm/26b/proc26b/26B-procurement-wn-f42732.htm#proc26b-f42732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Procurement Contracts - Redwood: Manage Structured Terms, Notes and Related Contracts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7"/>
                        </a:rPr>
                        <a:t>https://docs.oracle.com/en/cloud/saas/readiness/scm/26b/proc26b/26B-procurement-wn-f42868.htm#proc26b-f42868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25</a:t>
            </a:r>
          </a:p>
        </p:txBody>
      </p:sp>
      <p:sp>
        <p:nvSpPr>
          <p:cNvPr id="8" name="TextBox 7"/>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References</a:t>
            </a:r>
          </a:p>
        </p:txBody>
      </p:sp>
      <p:graphicFrame>
        <p:nvGraphicFramePr>
          <p:cNvPr id="9" name="Table 8"/>
          <p:cNvGraphicFramePr>
            <a:graphicFrameLocks noGrp="1"/>
          </p:cNvGraphicFramePr>
          <p:nvPr/>
        </p:nvGraphicFramePr>
        <p:xfrm>
          <a:off x="256032" y="1097280"/>
          <a:ext cx="11887200" cy="5486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4114800"/>
                <a:gridCol w="7772400"/>
              </a:tblGrid>
              <a:tr h="365760">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Feature(s)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Reference Link</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Procurement Contracts - Selected Procurement Contracts and Enterprise Contracts Bug Fixes in This Update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4"/>
                        </a:rPr>
                        <a:t>https://docs.oracle.com/en/cloud/saas/readiness/scm/26b/proc26b/26B-procurement-wn-f43469.htm#proc26b-f43469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AI Agent: Purchase Order Status Advisor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5"/>
                        </a:rPr>
                        <a:t>https://docs.oracle.com/en/cloud/saas/readiness/scm/26b/proc26b/26B-procurement-wn-f42955.htm#proc26b-f42955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Add Ad Hoc Approvers on Purchasing Documents at Additional Positions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6"/>
                        </a:rPr>
                        <a:t>https://docs.oracle.com/en/cloud/saas/readiness/scm/26b/proc26b/26B-procurement-wn-f43892.htm#proc26b-f43892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Add Lines from a Catalog to Purchase Orders and Agreements as a Buyer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7"/>
                        </a:rPr>
                        <a:t>https://docs.oracle.com/en/cloud/saas/readiness/scm/26b/proc26b/26B-procurement-wn-f42570.htm#proc26b-f42570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Collaborate with Catalog Administrators and Suppliers on Catalog Authoring</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8"/>
                        </a:rPr>
                        <a:t>https://docs.oracle.com/en/cloud/saas/readiness/scm/26b/proc26b/26B-procurement-wn-f42845.htm#proc26b-f42845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Create and Edit Purchase Orders with Supply Chain Financial Orchestration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9"/>
                        </a:rPr>
                        <a:t>https://docs.oracle.com/en/cloud/saas/readiness/scm/26b/proc26b/26B-procurement-wn-f42920.htm#proc26b-f42920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Duplicate a Purchase Order or Its Lines When Editing the Purchase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0"/>
                        </a:rPr>
                        <a:t>https://docs.oracle.com/en/cloud/saas/readiness/scm/26b/proc26b/26B-procurement-wn-f42903.htm#proc26b-f42903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Edit Delivery Information on Multiple Purchase Order Schedules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1"/>
                        </a:rPr>
                        <a:t>https://docs.oracle.com/en/cloud/saas/readiness/scm/26b/proc26b/26B-procurement-wn-f42956.htm#proc26b-f42956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Manage Approved Supplier Lists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2"/>
                        </a:rPr>
                        <a:t>https://docs.oracle.com/en/cloud/saas/readiness/scm/26b/proc26b/26B-procurement-wn-f42846.htm#proc26b-f42846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Manage Purchase Agreements as a Catalog Administrator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3"/>
                        </a:rPr>
                        <a:t>https://docs.oracle.com/en/cloud/saas/readiness/scm/26b/proc26b/26B-procurement-wn-f42959.htm#proc26b-f42959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Navigate to Master Contracts from Purchasing Documents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4"/>
                        </a:rPr>
                        <a:t>https://docs.oracle.com/en/cloud/saas/readiness/scm/26b/proc26b/26B-procurement-wn-f42837.htm#proc26b-f42837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Navigate to Source Agreements from a Purchase Order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5"/>
                        </a:rPr>
                        <a:t>https://docs.oracle.com/en/cloud/saas/readiness/scm/26b/proc26b/26B-procurement-wn-f42782.htm#proc26b-f42782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Process Credit Requisition Lines into Purchase Orders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6"/>
                        </a:rPr>
                        <a:t>https://docs.oracle.com/en/cloud/saas/readiness/scm/26b/proc26b/26B-procurement-wn-f42838.htm#proc26b-f42838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Recalculate the Latest Purchase Order Prices from Blanket Agreement Lines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7"/>
                        </a:rPr>
                        <a:t>https://docs.oracle.com/en/cloud/saas/readiness/scm/26b/proc26b/26B-procurement-wn-f42911.htm#proc26b-f42911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26</a:t>
            </a:r>
          </a:p>
        </p:txBody>
      </p:sp>
      <p:sp>
        <p:nvSpPr>
          <p:cNvPr id="8" name="TextBox 7"/>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References</a:t>
            </a:r>
          </a:p>
        </p:txBody>
      </p:sp>
      <p:graphicFrame>
        <p:nvGraphicFramePr>
          <p:cNvPr id="9" name="Table 8"/>
          <p:cNvGraphicFramePr>
            <a:graphicFrameLocks noGrp="1"/>
          </p:cNvGraphicFramePr>
          <p:nvPr/>
        </p:nvGraphicFramePr>
        <p:xfrm>
          <a:off x="256032" y="1097280"/>
          <a:ext cx="11887200" cy="548640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4114800"/>
                <a:gridCol w="7772400"/>
              </a:tblGrid>
              <a:tr h="365760">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Feature(s)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Reference Link</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Renegotiate Blanket Purchase Agreements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4"/>
                        </a:rPr>
                        <a:t>https://docs.oracle.com/en/cloud/saas/readiness/scm/26b/proc26b/26B-procurement-wn-f42904.htm#proc26b-f42904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Search When Editing Purchase Orders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5"/>
                        </a:rPr>
                        <a:t>https://docs.oracle.com/en/cloud/saas/readiness/scm/26b/proc26b/26B-procurement-wn-f42957.htm#proc26b-f42957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Upload Agreement Lines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6"/>
                        </a:rPr>
                        <a:t>https://docs.oracle.com/en/cloud/saas/readiness/scm/26b/proc26b/26B-procurement-wn-f42844.htm#proc26b-f42844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Use Extensibility Capabilities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7"/>
                        </a:rPr>
                        <a:t>https://docs.oracle.com/en/cloud/saas/readiness/scm/26b/proc26b/26B-procurement-wn-f42902.htm#proc26b-f42902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View Budget Details with Funds Check Results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8"/>
                        </a:rPr>
                        <a:t>https://docs.oracle.com/en/cloud/saas/readiness/scm/26b/proc26b/26B-procurement-wn-f42836.htm#proc26b-f42836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Redwood: View an Expired Status for Inactive Purchase Agreements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9"/>
                        </a:rPr>
                        <a:t>https://docs.oracle.com/en/cloud/saas/readiness/scm/26b/proc26b/26B-procurement-wn-f42905.htm#proc26b-f42905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Purchasing - Selected Purchasing Bug Fixes in This Update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0"/>
                        </a:rPr>
                        <a:t>https://docs.oracle.com/en/cloud/saas/readiness/scm/26b/proc26b/26B-procurement-wn-f43144.htm#proc26b-f43144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AI Agent: Autonomous Sourcing Assistant Enhancements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1"/>
                        </a:rPr>
                        <a:t>https://docs.oracle.com/en/cloud/saas/readiness/scm/26b/proc26b/26B-procurement-wn-f42880.htm#proc26b-f42880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AI Agent: Research Suppliers with AI</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2"/>
                        </a:rPr>
                        <a:t>https://docs.oracle.com/en/cloud/saas/readiness/scm/26b/proc26b/26B-procurement-wn-f42883.htm#proc26b-f42883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AI Agentic App: Sourcing Command Center</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3"/>
                        </a:rPr>
                        <a:t>https://docs.oracle.com/en/cloud/saas/readiness/scm/26b/proc26b/26B-procurement-wn-f42881.htm#proc26b-f42881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Redwood: Capture New Supplier Items in Negotiations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4"/>
                        </a:rPr>
                        <a:t>https://docs.oracle.com/en/cloud/saas/readiness/scm/26b/proc26b/26B-procurement-wn-f42884.htm#proc26b-f42884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Redwood: Change Negotiation Outcome During Award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5"/>
                        </a:rPr>
                        <a:t>https://docs.oracle.com/en/cloud/saas/readiness/scm/26b/proc26b/26B-procurement-wn-f42961.htm#proc26b-f42961</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Redwood: Confidence Rating for Suppliers Suggested by Oracle AI</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6"/>
                        </a:rPr>
                        <a:t>https://docs.oracle.com/en/cloud/saas/readiness/scm/26b/proc26b/26B-procurement-wn-f43134.htm#proc26b-f43134</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Redwood: Delete Negotiations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7"/>
                        </a:rPr>
                        <a:t>https://docs.oracle.com/en/cloud/saas/readiness/scm/26b/proc26b/26B-procurement-wn-f42875.htm#proc26b-f42875</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3152"/>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999" cy="91440"/>
          </a:xfrm>
          <a:prstGeom prst="rect">
            <a:avLst/>
          </a:prstGeom>
          <a:solidFill>
            <a:srgbClr val="008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10774679" y="164592"/>
            <a:ext cx="1097280" cy="347472"/>
          </a:xfrm>
          <a:prstGeom prst="rect">
            <a:avLst/>
          </a:prstGeom>
        </p:spPr>
      </p:pic>
      <p:pic>
        <p:nvPicPr>
          <p:cNvPr id="5" name="Picture 4" descr="tid_logo.png"/>
          <p:cNvPicPr>
            <a:picLocks noChangeAspect="1"/>
          </p:cNvPicPr>
          <p:nvPr/>
        </p:nvPicPr>
        <p:blipFill>
          <a:blip r:embed="rId3"/>
          <a:stretch>
            <a:fillRect/>
          </a:stretch>
        </p:blipFill>
        <p:spPr>
          <a:xfrm>
            <a:off x="5812535" y="6345936"/>
            <a:ext cx="566928" cy="347472"/>
          </a:xfrm>
          <a:prstGeom prst="rect">
            <a:avLst/>
          </a:prstGeom>
        </p:spPr>
      </p:pic>
      <p:sp>
        <p:nvSpPr>
          <p:cNvPr id="6" name="TextBox 5"/>
          <p:cNvSpPr txBox="1"/>
          <p:nvPr/>
        </p:nvSpPr>
        <p:spPr>
          <a:xfrm>
            <a:off x="274320" y="6766560"/>
            <a:ext cx="11643359" cy="91440"/>
          </a:xfrm>
          <a:prstGeom prst="rect">
            <a:avLst/>
          </a:prstGeom>
          <a:noFill/>
        </p:spPr>
        <p:txBody>
          <a:bodyPr wrap="square" anchor="ctr">
            <a:spAutoFit/>
          </a:bodyPr>
          <a:lstStyle/>
          <a:p>
            <a:pPr algn="ctr"/>
            <a:r>
              <a:rPr sz="600" b="1">
                <a:solidFill>
                  <a:srgbClr val="FFFFFF"/>
                </a:solidFill>
                <a:latin typeface="Arial"/>
              </a:rPr>
              <a:t>Collaboration Messaging - Confidential</a:t>
            </a:r>
          </a:p>
        </p:txBody>
      </p:sp>
      <p:sp>
        <p:nvSpPr>
          <p:cNvPr id="7" name="TextBox 6"/>
          <p:cNvSpPr txBox="1"/>
          <p:nvPr/>
        </p:nvSpPr>
        <p:spPr>
          <a:xfrm>
            <a:off x="11780519" y="6766560"/>
            <a:ext cx="256032" cy="91440"/>
          </a:xfrm>
          <a:prstGeom prst="rect">
            <a:avLst/>
          </a:prstGeom>
          <a:noFill/>
        </p:spPr>
        <p:txBody>
          <a:bodyPr wrap="square" anchor="ctr">
            <a:spAutoFit/>
          </a:bodyPr>
          <a:lstStyle/>
          <a:p>
            <a:pPr algn="r"/>
            <a:r>
              <a:rPr sz="600" b="1">
                <a:solidFill>
                  <a:srgbClr val="FFFFFF"/>
                </a:solidFill>
                <a:latin typeface="Arial"/>
              </a:rPr>
              <a:t>27</a:t>
            </a:r>
          </a:p>
        </p:txBody>
      </p:sp>
      <p:sp>
        <p:nvSpPr>
          <p:cNvPr id="8" name="TextBox 7"/>
          <p:cNvSpPr txBox="1"/>
          <p:nvPr/>
        </p:nvSpPr>
        <p:spPr>
          <a:xfrm>
            <a:off x="256032" y="685800"/>
            <a:ext cx="11679935" cy="320040"/>
          </a:xfrm>
          <a:prstGeom prst="rect">
            <a:avLst/>
          </a:prstGeom>
          <a:noFill/>
        </p:spPr>
        <p:txBody>
          <a:bodyPr wrap="square" anchor="ctr">
            <a:spAutoFit/>
          </a:bodyPr>
          <a:lstStyle/>
          <a:p>
            <a:pPr algn="l"/>
            <a:r>
              <a:rPr sz="1600" b="1">
                <a:solidFill>
                  <a:srgbClr val="005876"/>
                </a:solidFill>
                <a:latin typeface="Arial"/>
              </a:rPr>
              <a:t>References</a:t>
            </a:r>
          </a:p>
        </p:txBody>
      </p:sp>
      <p:graphicFrame>
        <p:nvGraphicFramePr>
          <p:cNvPr id="9" name="Table 8"/>
          <p:cNvGraphicFramePr>
            <a:graphicFrameLocks noGrp="1"/>
          </p:cNvGraphicFramePr>
          <p:nvPr/>
        </p:nvGraphicFramePr>
        <p:xfrm>
          <a:off x="256032" y="1097280"/>
          <a:ext cx="11887200" cy="5120640"/>
        </p:xfrm>
        <a:graphic>
          <a:graphicData uri="http://schemas.openxmlformats.org/drawingml/2006/table">
            <a:tbl>
              <a:tblPr firstRow="0" bandRow="0" lastRow="0" firstCol="0" lastCol="0" bandCol="0">
                <a:tableStyleId>{5C22544A-7EE6-4342-B048-85BDC9FD1C3A}</a:tableStyleId>
                <a:tblBorders>
                  <a:top w="12700">
                    <a:solidFill>
                      <a:srgbClr val="000000"/>
                    </a:solidFill>
                  </a:top>
                  <a:left w="12700">
                    <a:solidFill>
                      <a:srgbClr val="000000"/>
                    </a:solidFill>
                  </a:left>
                  <a:bottom w="12700">
                    <a:solidFill>
                      <a:srgbClr val="000000"/>
                    </a:solidFill>
                  </a:bottom>
                  <a:right w="12700">
                    <a:solidFill>
                      <a:srgbClr val="000000"/>
                    </a:solidFill>
                  </a:right>
                  <a:insideH w="12700">
                    <a:solidFill>
                      <a:srgbClr val="000000"/>
                    </a:solidFill>
                  </a:insideH>
                  <a:insideV w="12700">
                    <a:solidFill>
                      <a:srgbClr val="000000"/>
                    </a:solidFill>
                  </a:insideV>
                </a:tblBorders>
              </a:tblPr>
              <a:tblGrid>
                <a:gridCol w="4114800"/>
                <a:gridCol w="7772400"/>
              </a:tblGrid>
              <a:tr h="365760">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Feature(s)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c>
                  <a:txBody>
                    <a:bodyPr wrap="square" lIns="36576" rIns="36576" tIns="32004" bIns="32004" anchor="ctr"/>
                    <a:lstStyle/>
                    <a:p>
                      <a:pPr algn="ctr">
                        <a:lnSpc>
                          <a:spcPct val="102000"/>
                        </a:lnSpc>
                        <a:spcBef>
                          <a:spcPts val="0"/>
                        </a:spcBef>
                        <a:spcAft>
                          <a:spcPts val="60"/>
                        </a:spcAft>
                      </a:pPr>
                      <a:r>
                        <a:rPr sz="900" b="1">
                          <a:solidFill>
                            <a:srgbClr val="FFFFFF"/>
                          </a:solidFill>
                          <a:latin typeface="Arial"/>
                        </a:rPr>
                        <a:t>Reference Link</a:t>
                      </a:r>
                    </a:p>
                  </a:txBody>
                  <a:tcPr>
                    <a:lnL w="12700">
                      <a:solidFill>
                        <a:srgbClr val="000000"/>
                      </a:solidFill>
                    </a:lnL>
                    <a:lnR w="12700">
                      <a:solidFill>
                        <a:srgbClr val="000000"/>
                      </a:solidFill>
                    </a:lnR>
                    <a:lnT w="12700">
                      <a:solidFill>
                        <a:srgbClr val="000000"/>
                      </a:solidFill>
                    </a:lnT>
                    <a:lnB w="12700">
                      <a:solidFill>
                        <a:srgbClr val="000000"/>
                      </a:solidFill>
                    </a:lnB>
                    <a:solidFill>
                      <a:srgbClr val="0080A3"/>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Redwood: Manage Large Negotiations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4"/>
                        </a:rPr>
                        <a:t>https://docs.oracle.com/en/cloud/saas/readiness/scm/26b/proc26b/26B-procurement-wn-f42879.htm#proc26b-f42879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Redwood: Negotiate Retainage for Services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5"/>
                        </a:rPr>
                        <a:t>https://docs.oracle.com/en/cloud/saas/readiness/scm/26b/proc26b/26B-procurement-wn-f42878.htm#proc26b-f42878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Redwood: Reopen Award Decision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6"/>
                        </a:rPr>
                        <a:t>https://docs.oracle.com/en/cloud/saas/readiness/scm/26b/proc26b/26B-procurement-wn-f42882.htm#proc26b-f42882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Redwood: Update Blanket Purchase Agreement from Award</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7"/>
                        </a:rPr>
                        <a:t>https://docs.oracle.com/en/cloud/saas/readiness/scm/26b/proc26b/26B-procurement-wn-f43118.htm#proc26b-f43118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Redwood: Use Additional Capabilities in Negotiations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8"/>
                        </a:rPr>
                        <a:t>https://docs.oracle.com/en/cloud/saas/readiness/scm/26b/proc26b/26B-procurement-wn-f42962.htm#proc26b-f42962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Sourcing - Redwood: Award by Spreadsheet and Add Award Attachments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9"/>
                        </a:rPr>
                        <a:t>https://docs.oracle.com/en/cloud/saas/readiness/scm/26b/proc26b/26B-procurement-wn-f43117.htm#proc26b-f43117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Supplier Model - Redwood: Enhance Supplier Bank Account and Transaction Tax Management</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0"/>
                        </a:rPr>
                        <a:t>https://docs.oracle.com/en/cloud/saas/readiness/scm/26b/proc26b/26B-procurement-wn-f42857.htm#proc26b-f42857</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Supplier Model - Redwood: Register Suppliers with Trusted Data from Moody's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1"/>
                        </a:rPr>
                        <a:t>https://docs.oracle.com/en/cloud/saas/readiness/scm/26b/proc26b/26B-procurement-wn-f42856.htm#proc26b-f42856</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Supplier Model - Redwood: Support Business Rules for Business Classifications in Supplier Registration</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2"/>
                        </a:rPr>
                        <a:t>https://docs.oracle.com/en/cloud/saas/readiness/scm/26b/proc26b/26B-procurement-wn-f42859.htm#proc26b-f42859</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Supplier Qualification Management - Redwood: Create Qualification Initiatives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3"/>
                        </a:rPr>
                        <a:t>https://docs.oracle.com/en/cloud/saas/readiness/scm/26b/proc26b/26B-procurement-wn-f42792.htm#proc26b-f42792</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Supplier Qualification Management - Redwood: Monitor Qualification Initiatives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4"/>
                        </a:rPr>
                        <a:t>https://docs.oracle.com/en/cloud/saas/readiness/scm/26b/proc26b/26B-procurement-wn-f42793.htm#proc26b-f42793</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Supply Chain Orchestration - Redwood: Enable Supply Chain Orchestration's Redesigned Landing Page</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5"/>
                        </a:rPr>
                        <a:t>https://docs.oracle.com/en/cloud/saas/readiness/scm/26b/proc26b/26B-procurement-wn-f43180.htm#proc26b-f43180</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65760">
                <a:tc>
                  <a:txBody>
                    <a:bodyPr wrap="square" lIns="36576" rIns="36576" tIns="32004" bIns="32004" anchor="t"/>
                    <a:lstStyle/>
                    <a:p>
                      <a:pPr algn="l">
                        <a:lnSpc>
                          <a:spcPct val="102000"/>
                        </a:lnSpc>
                        <a:spcBef>
                          <a:spcPts val="0"/>
                        </a:spcBef>
                        <a:spcAft>
                          <a:spcPts val="60"/>
                        </a:spcAft>
                      </a:pPr>
                      <a:r>
                        <a:rPr sz="800" b="0">
                          <a:solidFill>
                            <a:srgbClr val="000000"/>
                          </a:solidFill>
                          <a:latin typeface="Arial"/>
                        </a:rPr>
                        <a:t>Supply Chain Orchestration - Use Supply Chain Orchestration to Support Contract Manufacturing for Process Manufacturing In Your Plan-to-Produce Flows</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wrap="square" lIns="36576" rIns="36576" tIns="32004" bIns="32004"/>
                    <a:lstStyle/>
                    <a:p>
                      <a:pPr algn="l"/>
                      <a:r>
                        <a:rPr sz="800" u="sng">
                          <a:solidFill>
                            <a:srgbClr val="0080A3"/>
                          </a:solidFill>
                          <a:latin typeface="Arial"/>
                          <a:hlinkClick r:id="rId16"/>
                        </a:rPr>
                        <a:t>https://docs.oracle.com/en/cloud/saas/readiness/scm/26b/proc26b/26B-procurement-wn-f43178.htm#proc26b-f43178</a:t>
                      </a:r>
                    </a:p>
                  </a:txBody>
                  <a:tcPr>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