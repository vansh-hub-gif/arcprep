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inv26b/26B-inventory-wn-f43075.htm#inv26b-f43075" TargetMode="External"/><Relationship Id="rId5" Type="http://schemas.openxmlformats.org/officeDocument/2006/relationships/hyperlink" Target="https://docs.oracle.com/en/cloud/saas/readiness/scm/26b/inv26b/26B-inventory-wn-f43073.htm#inv26b-f43073" TargetMode="External"/><Relationship Id="rId6" Type="http://schemas.openxmlformats.org/officeDocument/2006/relationships/hyperlink" Target="https://docs.oracle.com/en/cloud/saas/readiness/scm/26b/inv26b/26B-inventory-wn-f43076.htm#inv26b-f43076" TargetMode="External"/><Relationship Id="rId7" Type="http://schemas.openxmlformats.org/officeDocument/2006/relationships/hyperlink" Target="https://docs.oracle.com/en/cloud/saas/readiness/scm/26b/inv26b/26B-inventory-wn-f43221.htm#inv26b-f43221" TargetMode="External"/><Relationship Id="rId8" Type="http://schemas.openxmlformats.org/officeDocument/2006/relationships/hyperlink" Target="https://docs.oracle.com/en/cloud/saas/readiness/scm/26b/inv26b/26B-inventory-wn-f43222.htm#inv26b-f43222" TargetMode="External"/><Relationship Id="rId9" Type="http://schemas.openxmlformats.org/officeDocument/2006/relationships/hyperlink" Target="https://docs.oracle.com/en/cloud/saas/readiness/scm/26b/inv26b/26B-inventory-wn-f43219.htm#inv26b-f43219" TargetMode="External"/><Relationship Id="rId10" Type="http://schemas.openxmlformats.org/officeDocument/2006/relationships/hyperlink" Target="https://docs.oracle.com/en/cloud/saas/readiness/scm/26b/inv26b/26B-inventory-wn-f43224.htm#inv26b-f43224" TargetMode="External"/><Relationship Id="rId11" Type="http://schemas.openxmlformats.org/officeDocument/2006/relationships/hyperlink" Target="https://docs.oracle.com/en/cloud/saas/readiness/scm/26b/inv26b/26B-inventory-wn-f43220.htm#inv26b-f43220" TargetMode="External"/><Relationship Id="rId12" Type="http://schemas.openxmlformats.org/officeDocument/2006/relationships/hyperlink" Target="https://docs.oracle.com/en/cloud/saas/readiness/scm/26b/inv26b/26B-inventory-wn-f43223.htm#inv26b-f43223" TargetMode="External"/><Relationship Id="rId13" Type="http://schemas.openxmlformats.org/officeDocument/2006/relationships/hyperlink" Target="https://docs.oracle.com/en/cloud/saas/readiness/scm/26b/inv26b/26B-inventory-wn-f43179.htm#inv26b-f43179" TargetMode="External"/><Relationship Id="rId14" Type="http://schemas.openxmlformats.org/officeDocument/2006/relationships/hyperlink" Target="https://docs.oracle.com/en/cloud/saas/readiness/scm/26b/inv26b/26B-inventory-wn-f42445.htm#inv26b-f42445" TargetMode="External"/><Relationship Id="rId15" Type="http://schemas.openxmlformats.org/officeDocument/2006/relationships/hyperlink" Target="https://docs.oracle.com/en/cloud/saas/readiness/scm/26b/inv26b/26B-inventory-wn-f42401.htm#inv26b-f42401" TargetMode="External"/><Relationship Id="rId16" Type="http://schemas.openxmlformats.org/officeDocument/2006/relationships/hyperlink" Target="https://docs.oracle.com/en/cloud/saas/readiness/scm/26b/inv26b/26B-inventory-wn-f46409.htm#inv26b-f46409" TargetMode="External"/><Relationship Id="rId17" Type="http://schemas.openxmlformats.org/officeDocument/2006/relationships/hyperlink" Target="https://docs.oracle.com/en/cloud/saas/readiness/scm/26b/inv26b/26B-inventory-wn-f43587.htm#inv26b-f43587"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inv26b/26B-inventory-wn-f43586.htm#inv26b-f43586" TargetMode="External"/><Relationship Id="rId5" Type="http://schemas.openxmlformats.org/officeDocument/2006/relationships/hyperlink" Target="https://docs.oracle.com/en/cloud/saas/readiness/scm/26b/inv26b/26B-inventory-wn-f43590.htm#inv26b-f43590" TargetMode="External"/><Relationship Id="rId6" Type="http://schemas.openxmlformats.org/officeDocument/2006/relationships/hyperlink" Target="https://docs.oracle.com/en/cloud/saas/readiness/scm/26b/inv26b/26B-inventory-wn-f43592.htm#inv26b-f43592" TargetMode="External"/><Relationship Id="rId7" Type="http://schemas.openxmlformats.org/officeDocument/2006/relationships/hyperlink" Target="https://docs.oracle.com/en/cloud/saas/readiness/scm/26b/inv26b/26B-inventory-wn-f43589.htm#inv26b-f43589" TargetMode="External"/><Relationship Id="rId8" Type="http://schemas.openxmlformats.org/officeDocument/2006/relationships/hyperlink" Target="https://docs.oracle.com/en/cloud/saas/readiness/scm/26b/inv26b/26B-inventory-wn-f43593.htm#inv26b-f43593" TargetMode="External"/><Relationship Id="rId9" Type="http://schemas.openxmlformats.org/officeDocument/2006/relationships/hyperlink" Target="https://docs.oracle.com/en/cloud/saas/readiness/scm/26b/inv26b/26B-inventory-wn-f43585.htm#inv26b-f43585" TargetMode="External"/><Relationship Id="rId10" Type="http://schemas.openxmlformats.org/officeDocument/2006/relationships/hyperlink" Target="https://docs.oracle.com/en/cloud/saas/readiness/scm/26b/inv26b/26B-inventory-wn-f43588.htm#inv26b-f43588" TargetMode="External"/><Relationship Id="rId11" Type="http://schemas.openxmlformats.org/officeDocument/2006/relationships/hyperlink" Target="https://docs.oracle.com/en/cloud/saas/readiness/scm/26b/inv26b/26B-inventory-wn-f43591.htm#inv26b-f43591" TargetMode="External"/><Relationship Id="rId12" Type="http://schemas.openxmlformats.org/officeDocument/2006/relationships/hyperlink" Target="https://docs.oracle.com/en/cloud/saas/readiness/scm/26b/inv26b/26B-inventory-wn-f43596.htm#inv26b-f43596" TargetMode="External"/><Relationship Id="rId13" Type="http://schemas.openxmlformats.org/officeDocument/2006/relationships/hyperlink" Target="https://docs.oracle.com/en/cloud/saas/readiness/scm/26b/inv26b/26B-inventory-wn-f43594.htm#inv26b-f43594" TargetMode="External"/><Relationship Id="rId14" Type="http://schemas.openxmlformats.org/officeDocument/2006/relationships/hyperlink" Target="https://docs.oracle.com/en/cloud/saas/readiness/scm/26b/inv26b/26B-inventory-wn-f43595.htm#inv26b-f43595" TargetMode="External"/><Relationship Id="rId15" Type="http://schemas.openxmlformats.org/officeDocument/2006/relationships/hyperlink" Target="https://docs.oracle.com/en/cloud/saas/readiness/scm/26b/inv26b/26B-inventory-wn-f43055.htm#inv26b-f43055" TargetMode="External"/><Relationship Id="rId16" Type="http://schemas.openxmlformats.org/officeDocument/2006/relationships/hyperlink" Target="https://docs.oracle.com/en/cloud/saas/readiness/scm/26b/inv26b/26B-inventory-wn-f43069.htm#inv26b-f43069" TargetMode="External"/><Relationship Id="rId17" Type="http://schemas.openxmlformats.org/officeDocument/2006/relationships/hyperlink" Target="https://docs.oracle.com/en/cloud/saas/readiness/scm/26b/inv26b/26B-inventory-wn-f43846.htm#inv26b-f43846"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inv26b/26B-inventory-wn-f43059.htm#inv26b-f43059" TargetMode="External"/><Relationship Id="rId5" Type="http://schemas.openxmlformats.org/officeDocument/2006/relationships/hyperlink" Target="https://docs.oracle.com/en/cloud/saas/readiness/scm/26b/inv26b/26B-inventory-wn-f43056.htm#inv26b-f43056" TargetMode="External"/><Relationship Id="rId6" Type="http://schemas.openxmlformats.org/officeDocument/2006/relationships/hyperlink" Target="https://docs.oracle.com/en/cloud/saas/readiness/scm/26b/inv26b/26B-inventory-wn-f49705.htm#inv26b-f49705" TargetMode="External"/><Relationship Id="rId7" Type="http://schemas.openxmlformats.org/officeDocument/2006/relationships/hyperlink" Target="https://docs.oracle.com/en/cloud/saas/readiness/scm/26b/inv26b/26B-inventory-wn-f43062.htm#inv26b-f43062" TargetMode="External"/><Relationship Id="rId8" Type="http://schemas.openxmlformats.org/officeDocument/2006/relationships/hyperlink" Target="https://docs.oracle.com/en/cloud/saas/readiness/scm/26b/inv26b/26B-inventory-wn-f43070.htm#inv26b-f43070" TargetMode="External"/><Relationship Id="rId9" Type="http://schemas.openxmlformats.org/officeDocument/2006/relationships/hyperlink" Target="https://docs.oracle.com/en/cloud/saas/readiness/scm/26b/inv26b/26B-inventory-wn-f43066.htm#inv26b-f43066" TargetMode="External"/><Relationship Id="rId10" Type="http://schemas.openxmlformats.org/officeDocument/2006/relationships/hyperlink" Target="https://docs.oracle.com/en/cloud/saas/readiness/scm/26b/inv26b/26B-inventory-wn-f43068.htm#inv26b-f43068" TargetMode="External"/><Relationship Id="rId11" Type="http://schemas.openxmlformats.org/officeDocument/2006/relationships/hyperlink" Target="https://docs.oracle.com/en/cloud/saas/readiness/scm/26b/inv26b/26B-inventory-wn-f43071.htm#inv26b-f43071" TargetMode="External"/><Relationship Id="rId12" Type="http://schemas.openxmlformats.org/officeDocument/2006/relationships/hyperlink" Target="https://docs.oracle.com/en/cloud/saas/readiness/scm/26b/inv26b/26B-inventory-wn-f43063.htm#inv26b-f43063" TargetMode="External"/><Relationship Id="rId13" Type="http://schemas.openxmlformats.org/officeDocument/2006/relationships/hyperlink" Target="https://docs.oracle.com/en/cloud/saas/readiness/scm/26b/inv26b/26B-inventory-wn-f43597.htm#inv26b-f43597" TargetMode="External"/><Relationship Id="rId14" Type="http://schemas.openxmlformats.org/officeDocument/2006/relationships/hyperlink" Target="https://docs.oracle.com/en/cloud/saas/readiness/scm/26b/inv26b/26B-inventory-wn-f43067.htm#inv26b-f43067" TargetMode="External"/><Relationship Id="rId15" Type="http://schemas.openxmlformats.org/officeDocument/2006/relationships/hyperlink" Target="https://docs.oracle.com/en/cloud/saas/readiness/scm/26b/inv26b/26B-inventory-wn-f43524.htm#inv26b-f43524" TargetMode="External"/><Relationship Id="rId16" Type="http://schemas.openxmlformats.org/officeDocument/2006/relationships/hyperlink" Target="https://docs.oracle.com/en/cloud/saas/readiness/scm/26b/inv26b/26B-inventory-wn-f43525.htm#inv26b-f43525" TargetMode="External"/><Relationship Id="rId17" Type="http://schemas.openxmlformats.org/officeDocument/2006/relationships/hyperlink" Target="https://docs.oracle.com/en/cloud/saas/readiness/scm/26b/inv26b/26B-inventory-wn-f41428.htm#inv26b-f41428"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inv26b/26B-inventory-wn-f43064.htm#inv26b-f43064" TargetMode="External"/><Relationship Id="rId5" Type="http://schemas.openxmlformats.org/officeDocument/2006/relationships/hyperlink" Target="https://docs.oracle.com/en/cloud/saas/readiness/scm/26b/inv26b/26B-inventory-wn-f43072.htm#inv26b-f43072" TargetMode="External"/><Relationship Id="rId6" Type="http://schemas.openxmlformats.org/officeDocument/2006/relationships/hyperlink" Target="https://docs.oracle.com/en/cloud/saas/readiness/scm/26b/inv26b/26B-inventory-wn-f43074.htm#inv26b-f43074" TargetMode="External"/><Relationship Id="rId7" Type="http://schemas.openxmlformats.org/officeDocument/2006/relationships/hyperlink" Target="https://docs.oracle.com/en/cloud/saas/readiness/scm/26b/inv26b/26B-inventory-wn-f43061.htm#inv26b-f43061" TargetMode="External"/><Relationship Id="rId8" Type="http://schemas.openxmlformats.org/officeDocument/2006/relationships/hyperlink" Target="https://docs.oracle.com/en/cloud/saas/readiness/scm/26b/inv26b/26B-inventory-wn-f43053.htm#inv26b-f43053" TargetMode="External"/><Relationship Id="rId9" Type="http://schemas.openxmlformats.org/officeDocument/2006/relationships/hyperlink" Target="https://docs.oracle.com/en/cloud/saas/readiness/scm/26b/inv26b/26B-inventory-wn-f43057.htm#inv26b-f43057" TargetMode="External"/><Relationship Id="rId10" Type="http://schemas.openxmlformats.org/officeDocument/2006/relationships/hyperlink" Target="https://docs.oracle.com/en/cloud/saas/readiness/scm/26b/inv26b/26B-inventory-wn-f43054.htm#inv26b-f43054" TargetMode="External"/><Relationship Id="rId11" Type="http://schemas.openxmlformats.org/officeDocument/2006/relationships/hyperlink" Target="https://docs.oracle.com/en/cloud/saas/readiness/scm/26b/inv26b/26B-inventory-wn-f43060.htm#inv26b-f43060" TargetMode="External"/><Relationship Id="rId12" Type="http://schemas.openxmlformats.org/officeDocument/2006/relationships/hyperlink" Target="https://docs.oracle.com/en/cloud/saas/readiness/scm/26b/inv26b/26B-inventory-wn-f43065.htm#inv26b-f43065" TargetMode="External"/><Relationship Id="rId13" Type="http://schemas.openxmlformats.org/officeDocument/2006/relationships/hyperlink" Target="https://docs.oracle.com/en/cloud/saas/readiness/scm/26b/inv26b/26B-inventory-wn-f43058.htm#inv26b-f43058" TargetMode="External"/><Relationship Id="rId14" Type="http://schemas.openxmlformats.org/officeDocument/2006/relationships/hyperlink" Target="https://docs.oracle.com/en/cloud/saas/readiness/scm/26b/inv26b/26B-inventory-wn-f42890.htm#inv26b-f42890" TargetMode="External"/><Relationship Id="rId15" Type="http://schemas.openxmlformats.org/officeDocument/2006/relationships/hyperlink" Target="https://docs.oracle.com/en/cloud/saas/readiness/scm/26b/inv26b/26B-inventory-wn-f42893.htm#inv26b-f42893" TargetMode="External"/><Relationship Id="rId16" Type="http://schemas.openxmlformats.org/officeDocument/2006/relationships/hyperlink" Target="https://docs.oracle.com/en/cloud/saas/readiness/scm/26b/inv26b/26B-inventory-wn-f42891.htm#inv26b-f42891" TargetMode="External"/><Relationship Id="rId17" Type="http://schemas.openxmlformats.org/officeDocument/2006/relationships/hyperlink" Target="https://docs.oracle.com/en/cloud/saas/readiness/scm/26b/inv26b/26B-inventory-wn-f42892.htm#inv26b-f42892"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inv26b/26B-inventory-wn-f43181.htm#inv26b-f43181" TargetMode="External"/><Relationship Id="rId5" Type="http://schemas.openxmlformats.org/officeDocument/2006/relationships/hyperlink" Target="https://docs.oracle.com/en/cloud/saas/readiness/scm/26b/inv26b/26B-inventory-wn-f43600.htm#inv26b-f43600" TargetMode="External"/><Relationship Id="rId6" Type="http://schemas.openxmlformats.org/officeDocument/2006/relationships/hyperlink" Target="https://docs.oracle.com/en/cloud/saas/readiness/scm/26b/inv26b/26B-inventory-wn-f43599.htm#inv26b-f43599" TargetMode="External"/><Relationship Id="rId7" Type="http://schemas.openxmlformats.org/officeDocument/2006/relationships/hyperlink" Target="https://docs.oracle.com/en/cloud/saas/readiness/scm/26b/inv26b/26B-inventory-wn-f43598.htm#inv26b-f43598" TargetMode="External"/><Relationship Id="rId8" Type="http://schemas.openxmlformats.org/officeDocument/2006/relationships/hyperlink" Target="https://docs.oracle.com/en/cloud/saas/readiness/scm/26b/inv26b/26B-inventory-wn-f43180.htm#inv26b-f43180" TargetMode="External"/><Relationship Id="rId9" Type="http://schemas.openxmlformats.org/officeDocument/2006/relationships/hyperlink" Target="https://docs.oracle.com/en/cloud/saas/readiness/scm/26b/inv26b/26B-inventory-wn-f43178.htm#inv26b-f43178"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a:t>
            </a:r>
          </a:p>
        </p:txBody>
      </p:sp>
      <p:sp>
        <p:nvSpPr>
          <p:cNvPr id="8" name="Rectangle 7"/>
          <p:cNvSpPr/>
          <p:nvPr/>
        </p:nvSpPr>
        <p:spPr>
          <a:xfrm>
            <a:off x="0" y="2084831"/>
            <a:ext cx="12191999" cy="117043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49423"/>
            <a:ext cx="10911839" cy="365760"/>
          </a:xfrm>
          <a:prstGeom prst="rect">
            <a:avLst/>
          </a:prstGeom>
          <a:noFill/>
        </p:spPr>
        <p:txBody>
          <a:bodyPr wrap="square" anchor="ctr">
            <a:spAutoFit/>
          </a:bodyPr>
          <a:lstStyle/>
          <a:p>
            <a:pPr algn="ctr"/>
            <a:r>
              <a:rPr sz="2600" b="1">
                <a:solidFill>
                  <a:srgbClr val="FFFFFF"/>
                </a:solidFill>
                <a:latin typeface="Arial"/>
              </a:rPr>
              <a:t>Turlock Irrigation District : 26B Oracle Upgrades</a:t>
            </a:r>
          </a:p>
        </p:txBody>
      </p:sp>
      <p:sp>
        <p:nvSpPr>
          <p:cNvPr id="10" name="TextBox 9"/>
          <p:cNvSpPr txBox="1"/>
          <p:nvPr/>
        </p:nvSpPr>
        <p:spPr>
          <a:xfrm>
            <a:off x="640080" y="2743199"/>
            <a:ext cx="10911839" cy="347472"/>
          </a:xfrm>
          <a:prstGeom prst="rect">
            <a:avLst/>
          </a:prstGeom>
          <a:noFill/>
        </p:spPr>
        <p:txBody>
          <a:bodyPr wrap="square" anchor="ctr">
            <a:spAutoFit/>
          </a:bodyPr>
          <a:lstStyle/>
          <a:p>
            <a:pPr algn="ctr"/>
            <a:r>
              <a:rPr sz="2200" b="1">
                <a:solidFill>
                  <a:srgbClr val="FFFFFF"/>
                </a:solidFill>
                <a:latin typeface="Arial"/>
              </a:rPr>
              <a:t>Advanced Inventory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Advanced Inventory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Inventory Task Allocation Assistant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Create LPN Reports Using the License Plate Number Real Time Subject Area in OTBI</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Deliver to Multiple Locations with Robotic Material Handling Equipment Using a Single Cart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Collaboration Messaging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B2B Message Converter - Enrich Workflow Features Along with Upload and Download Capabilities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Configure Collaboration Messaging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Define Processing Rules for B2B Messages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Override Inbound Message Definitions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Receive an Order from Oracle Configure, Price, Quote (CPQ)</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Set up Supplier and Customer Collaboration Messaging Using a Redwood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Configure to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Manage Configured Items and Review Their Structures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Configure to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Configuration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Cost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Gross Margin Analyst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Agentic App: Cost Accounting Close Workspace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Track Asset Costs for Maintenance Work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Track Costs for Parallel Work Order Operations Using Precedence Constraints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Account for Component Scrap in Work Order Costs Without Material Returns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Calculate and Track Product Costs when Using an Item Multiple Times in a Discrete Work Order Operation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Calculate the Cost of Products After Assigning Phantom Subassembly Materials and Resources to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Calculate the Costs of Standard Costed Configured Items On Demand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Complete the Same Output Across Multiple Operations in Discrete Manufacturing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Cost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Review Periodic Average Cost Adjustments Using Filters in Smart Search</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Track and Account for Rework Costs in Standard and Nonstandard Discrete Work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Fiscal Document Capture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Update Tax Determinants on Fiscal Document Line Using REST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Enable Accurate Capture and Fiscal Processing for Prepayments Under the New Tax Regime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Use Additional CFOP Codes for Buyer-Issued Bookkeeping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Inventory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Inventory Shortages Assistant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Lot Management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Agentic App: Warehouse Operations Workspace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Additional Business Rules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Improved Logic for Goods in RFID-Enabled Cabinets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Inventory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Export All Search Results on the Completed Transactions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Perform Lot Split, Merge, or Translate Transactions Using a Redwood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Purge Completed PAR Requests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Additional Search Capabilities When Creating and Updating Subinventories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Improved Replenishment Logic for the Order PAR Replenishment Count Type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the All Organizations Option When Selecting an Organization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View On-Hand Quantity for Closed or Inactive Projects on the Item Quantities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Landed Cost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Support the Landed Cost Enabled Attribute in Payables FBDI Upload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Mobile Inventory</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Search for Open Pick Slips by Destination Location When Using a Mobile Device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Product Recall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Derive Containment Task Owners on the Recall Tasks and Send Notifications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Product Recall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Select Inventory Organizations Participating in Recall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Receiving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ASN Creation Assistant - Create ASN Through Email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Receipt Creation Assistant - Create Receipt Through Email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Add Attachments and Update Descriptive Flexfields on Existing Receipts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Copy Lot and Serial Numbers from an ASN or Transfer Order When Using a Mobile Device to Receive or Put Away Goods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Create ASN or ASBN Using a Spreadsheet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Find Receipts Awaiting Put Away Using Additional Information on a Mobile Device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Notify a Requester about ASN or Receipt Creation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Approvals for Receipts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View Additional Information for Distributions in the Redwood Self-Service Receiving Application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Receiving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Review and Select Lot and Serial Numbers from an ASN or Transfer Order during Receipt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Use Improved Search in the Redwood Self-Service Receiving Application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SCM Common Components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Create Facility Schedule Data Using an Improved Workday Pattern Algorithm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Define Schedules Using a New User Experience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Support Use of Inverse Conversion Factors Between Units of Measure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Oracle Object Storage for Data Extract Scheduled Output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Supply Chain Financial Orchestration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Transfer Price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Use Source Document as Transfer Price Basis for Orders in Back-to-Back Intercompany Transfers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Derive Receivables and Payables Accounts for External Trade Events Using Transaction Account Definition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Generate Intercompany Events for Oracle Transportation Management Interface for Customer Drop Shipments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30480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0480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Supply Chain Orchestration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Enable Supply Chain Orchestration's Redesigned Landing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0480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Use Supply Chain Orchestration to Support Contract Manufacturing for Process Manufacturing In Your Plan-to-Produce Flows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3</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Advanced Inventory Management</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Inventory Task Allocation Assistant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Tasking helps warehouse managers ensure that operators complete the activities required to keep operations running smoothly. A critical part of this process is ensuring tasks are assigned to the right operators.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Balances warehouse workloads by assigning tasks to qualified operators using current workload and performance information.</a:t>
                      </a:r>
                    </a:p>
                    <a:p>
                      <a:pPr algn="l">
                        <a:lnSpc>
                          <a:spcPct val="102000"/>
                        </a:lnSpc>
                        <a:spcBef>
                          <a:spcPts val="0"/>
                        </a:spcBef>
                        <a:spcAft>
                          <a:spcPts val="220"/>
                        </a:spcAft>
                      </a:pPr>
                      <a:r>
                        <a:rPr sz="900" b="0">
                          <a:solidFill>
                            <a:srgbClr val="000000"/>
                          </a:solidFill>
                          <a:latin typeface="Arial"/>
                        </a:rPr>
                        <a:t>• Reduces manual task-allocation effort so warehouse managers can concentrate on operational priorities and exceptions.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(SCM Intelligent Agent Management Duty, Fai Genai Agent SCM Administrator Duty, Fai Genai Agent Runtime Duty) for workforce scheduling and task assignment.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Create LPN Reports Using the License Plate Number Real Time Subject Area in OTBI</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License Plate Number (LPN) is a unique identifier assigned to a pallet, bin, or container of goods to track inventory and manage the movement of goods within a warehouse. Using License Plate Number Real Time Subject Area in Oracle Transactional Business Intelligence (OTBI), you can now create personalized reports on your LPNs and the contents within LPNs to quickly review and analyze data pertaining to your documents, transactions, and all other relevant information in the application.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Gives warehouse managers personalized reporting on LPNs and their contents across inventory, receiving, and shipping activity.</a:t>
                      </a:r>
                    </a:p>
                    <a:p>
                      <a:pPr algn="l">
                        <a:lnSpc>
                          <a:spcPct val="102000"/>
                        </a:lnSpc>
                        <a:spcBef>
                          <a:spcPts val="0"/>
                        </a:spcBef>
                        <a:spcAft>
                          <a:spcPts val="220"/>
                        </a:spcAft>
                      </a:pPr>
                      <a:r>
                        <a:rPr sz="900" b="0">
                          <a:solidFill>
                            <a:srgbClr val="000000"/>
                          </a:solidFill>
                          <a:latin typeface="Arial"/>
                        </a:rPr>
                        <a:t>• Makes LPN balances and transactions easier to analyze, supporting faster operational review and more informed inventory decisions.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License Plate Numbers (LPNs) are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Deliver to Multiple Locations with Robotic Material Handling Equipment Using a Single Cart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Healthcare providers often have multiple PAR locations in close proximity to each other, and delivering replenishment orders to all of these locations at the same time helps optimize the replenishment process. This approach reduces foot traffic and minimizes the number of trips required to restock supplies, improving overall efficiency.</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Reduces warehouse trips and foot traffic by allowing one robotic cart run to replenish multiple nearby PAR locations.</a:t>
                      </a:r>
                    </a:p>
                    <a:p>
                      <a:pPr algn="l">
                        <a:lnSpc>
                          <a:spcPct val="102000"/>
                        </a:lnSpc>
                        <a:spcBef>
                          <a:spcPts val="0"/>
                        </a:spcBef>
                        <a:spcAft>
                          <a:spcPts val="220"/>
                        </a:spcAft>
                      </a:pPr>
                      <a:r>
                        <a:rPr sz="900" b="0">
                          <a:solidFill>
                            <a:srgbClr val="000000"/>
                          </a:solidFill>
                          <a:latin typeface="Arial"/>
                        </a:rPr>
                        <a:t>• Speeds replenishment of critical supplies by serving several destinations in the same delivery run.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4</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Collaboration Messaging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B2B Message Converter - Enrich Workflow Features Along with Upload and Download Capabilities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use the B2B Message Converter AI agent to streamline the conversion of B2B messages such as shipments from a Fusion Application REST resource into industry-standard formats. Users can perform a complete sequence of messaging conversion steps within the agent, including uploading and downloading mapping files.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Standardizes B2B shipment messages by converting Fusion REST resources into industry formats such as OAGIS within one workflow.</a:t>
                      </a:r>
                    </a:p>
                    <a:p>
                      <a:pPr algn="l">
                        <a:lnSpc>
                          <a:spcPct val="102000"/>
                        </a:lnSpc>
                        <a:spcBef>
                          <a:spcPts val="0"/>
                        </a:spcBef>
                        <a:spcAft>
                          <a:spcPts val="220"/>
                        </a:spcAft>
                      </a:pPr>
                      <a:r>
                        <a:rPr sz="900" b="0">
                          <a:solidFill>
                            <a:srgbClr val="000000"/>
                          </a:solidFill>
                          <a:latin typeface="Arial"/>
                        </a:rPr>
                        <a:t>• Reduces manual message-handling effort by letting users complete conversion and mapping-file upload or download activities in the same agent.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(Fai Genai Agent SCM Administrator Duty, Fai Genai Agent Runtime Duty) for shipment processing and B2B messaging.</a:t>
                      </a:r>
                    </a:p>
                    <a:p>
                      <a:pPr algn="l">
                        <a:lnSpc>
                          <a:spcPct val="102000"/>
                        </a:lnSpc>
                        <a:spcBef>
                          <a:spcPts val="0"/>
                        </a:spcBef>
                        <a:spcAft>
                          <a:spcPts val="220"/>
                        </a:spcAft>
                      </a:pPr>
                      <a:r>
                        <a:rPr sz="900" b="0">
                          <a:solidFill>
                            <a:srgbClr val="000000"/>
                          </a:solidFill>
                          <a:latin typeface="Arial"/>
                        </a:rPr>
                        <a:t>• Applies only if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Configure Collaboration Messaging</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use a Redwood page to configure parameter values that control how Collaboration Messaging processes outbound and inbound messages. These are the parameters that can be defined on the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Gives teams a centralized Redwood page for maintaining the parameters that control inbound and outbound Collaboration Messaging behavior.</a:t>
                      </a:r>
                    </a:p>
                    <a:p>
                      <a:pPr algn="l">
                        <a:lnSpc>
                          <a:spcPct val="102000"/>
                        </a:lnSpc>
                        <a:spcBef>
                          <a:spcPts val="0"/>
                        </a:spcBef>
                        <a:spcAft>
                          <a:spcPts val="220"/>
                        </a:spcAft>
                      </a:pPr>
                      <a:r>
                        <a:rPr sz="900" b="0">
                          <a:solidFill>
                            <a:srgbClr val="000000"/>
                          </a:solidFill>
                          <a:latin typeface="Arial"/>
                        </a:rPr>
                        <a:t>• Reduces repeated configuration effort by keeping message-processing settings directly within the collaboration messaging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Define Processing Rules for B2B Messages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Set up message processing rules to automatically modify inbound messages to meet your enterprise-specific collaboration requirements. You can now set default values or set fields as required, all without complex development.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Automatically applies enterprise-specific rules to inbound B2B messages, including default values and required fields.</a:t>
                      </a:r>
                    </a:p>
                    <a:p>
                      <a:pPr algn="l">
                        <a:lnSpc>
                          <a:spcPct val="102000"/>
                        </a:lnSpc>
                        <a:spcBef>
                          <a:spcPts val="0"/>
                        </a:spcBef>
                        <a:spcAft>
                          <a:spcPts val="220"/>
                        </a:spcAft>
                      </a:pPr>
                      <a:r>
                        <a:rPr sz="900" b="0">
                          <a:solidFill>
                            <a:srgbClr val="000000"/>
                          </a:solidFill>
                          <a:latin typeface="Arial"/>
                        </a:rPr>
                        <a:t>• Reduces dependence on custom development by allowing message-processing requirements to be maintained through configurable rules.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electronic signatures are used and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5</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Collaboration Messaging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Override Inbound Message Definitions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override a service provider’s inbound message definition to customize how messages received from a particular trading partner are processed. Instead of using the default inbound message definition set by the service provider, you can define alternate formats, standards, or data mappings for that partner’s inbound communications.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Partner-specific inbound message formats and mappings can be tailored instead of relying on one provider definition for every trading relationship.</a:t>
                      </a:r>
                    </a:p>
                    <a:p>
                      <a:pPr algn="l">
                        <a:lnSpc>
                          <a:spcPct val="102000"/>
                        </a:lnSpc>
                        <a:spcBef>
                          <a:spcPts val="0"/>
                        </a:spcBef>
                        <a:spcAft>
                          <a:spcPts val="220"/>
                        </a:spcAft>
                      </a:pPr>
                      <a:r>
                        <a:rPr sz="900" b="0">
                          <a:solidFill>
                            <a:srgbClr val="000000"/>
                          </a:solidFill>
                          <a:latin typeface="Arial"/>
                        </a:rPr>
                        <a:t>• Different inbound communications can follow the data standards and mappings required by each trading partner's business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electronic signatures are used and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Receive an Order from Oracle Configure, Price, Quote (CPQ)</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the new predefined Oracle CPQ message definition Oracle-1-0-A2A-CPQ-Quote-In to receive quote messages from Oracle CPQ and seamlessly transform them into the appropriate payload format required by Fusion Order Management for order ingestion. You can now send status update notifications about the processing of the Oracle-1-0-A2A-CPQ-Quote-In message automatically to the initiating user in CPQ by leveraging the outbound application response message, Oracle-1-0-A2A-Application-Response-Out.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Moves configured quotes from Oracle CPQ into Fusion Order Management using a predefined message definition and required order payload format.</a:t>
                      </a:r>
                    </a:p>
                    <a:p>
                      <a:pPr algn="l">
                        <a:lnSpc>
                          <a:spcPct val="102000"/>
                        </a:lnSpc>
                        <a:spcBef>
                          <a:spcPts val="0"/>
                        </a:spcBef>
                        <a:spcAft>
                          <a:spcPts val="220"/>
                        </a:spcAft>
                      </a:pPr>
                      <a:r>
                        <a:rPr sz="900" b="0">
                          <a:solidFill>
                            <a:srgbClr val="000000"/>
                          </a:solidFill>
                          <a:latin typeface="Arial"/>
                        </a:rPr>
                        <a:t>• Keeps the initiating CPQ user informed through automatic processing-status responses as the quote is converted into an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Set up Supplier and Customer Collaboration Messaging Using a Redwood Page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the B2B Documents task to set up default B2B connections for outbound order forecasts and supply forecasts. Collaboration messaging can now use the default settings to route messages, eliminating the need to configure connection details for each customer and supplier.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Eliminates repeated connection setup for suppliers and customers by using default B2B connections to route forecast messages.</a:t>
                      </a:r>
                    </a:p>
                    <a:p>
                      <a:pPr algn="l">
                        <a:lnSpc>
                          <a:spcPct val="102000"/>
                        </a:lnSpc>
                        <a:spcBef>
                          <a:spcPts val="0"/>
                        </a:spcBef>
                        <a:spcAft>
                          <a:spcPts val="220"/>
                        </a:spcAft>
                      </a:pPr>
                      <a:r>
                        <a:rPr sz="900" b="0">
                          <a:solidFill>
                            <a:srgbClr val="000000"/>
                          </a:solidFill>
                          <a:latin typeface="Arial"/>
                        </a:rPr>
                        <a:t>• Makes outbound order and supply forecasts easier to route consistently across customer and supplier collaboration relationships.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B2B messaging and order management.</a:t>
                      </a:r>
                    </a:p>
                    <a:p>
                      <a:pPr algn="l">
                        <a:lnSpc>
                          <a:spcPct val="102000"/>
                        </a:lnSpc>
                        <a:spcBef>
                          <a:spcPts val="0"/>
                        </a:spcBef>
                        <a:spcAft>
                          <a:spcPts val="220"/>
                        </a:spcAft>
                      </a:pPr>
                      <a:r>
                        <a:rPr sz="900" b="0">
                          <a:solidFill>
                            <a:srgbClr val="000000"/>
                          </a:solidFill>
                          <a:latin typeface="Arial"/>
                        </a:rPr>
                        <a:t>• Applies only if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6</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Configure to Order</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Manage Configured Items and Review Their Structures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a redesigned page to view your configured items. View each item's sales structure and complete structure.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Brings the sales and complete structures of configured items into one redesigned view, making configuration review easier for users.</a:t>
                      </a:r>
                    </a:p>
                    <a:p>
                      <a:pPr algn="l">
                        <a:lnSpc>
                          <a:spcPct val="102000"/>
                        </a:lnSpc>
                        <a:spcBef>
                          <a:spcPts val="0"/>
                        </a:spcBef>
                        <a:spcAft>
                          <a:spcPts val="220"/>
                        </a:spcAft>
                      </a:pPr>
                      <a:r>
                        <a:rPr sz="900" b="0">
                          <a:solidFill>
                            <a:srgbClr val="000000"/>
                          </a:solidFill>
                          <a:latin typeface="Arial"/>
                        </a:rPr>
                        <a:t>• Gives users a clearer way to inspect configured-item structures when validating or reviewing configured products.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Configuration Advisor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an AI agent to help you identify the optimal configuration for a configured item according to your inputs. Use the agent to compare two or more configurations and select the best one.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Comparing multiple configured-item options helps users identify a recommended configuration from the inputs and alternatives they provide.</a:t>
                      </a:r>
                    </a:p>
                    <a:p>
                      <a:pPr algn="l">
                        <a:lnSpc>
                          <a:spcPct val="102000"/>
                        </a:lnSpc>
                        <a:spcBef>
                          <a:spcPts val="0"/>
                        </a:spcBef>
                        <a:spcAft>
                          <a:spcPts val="220"/>
                        </a:spcAft>
                      </a:pPr>
                      <a:r>
                        <a:rPr sz="900" b="0">
                          <a:solidFill>
                            <a:srgbClr val="000000"/>
                          </a:solidFill>
                          <a:latin typeface="Arial"/>
                        </a:rPr>
                        <a:t>• Consistent configuration decisions become easier when users can evaluate alternatives and the reasoning behind the recommended option.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(Fai Genai Agent SCM Administrator Duty, Fai Genai Agent Runtime Duty) for supply chain planning.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7</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Cost Management</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Gross Margin Analyst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In today’s complex supply chains and global order networks, organizations face increasing pressure to protect profitability while ensuring customer satisfaction. Users often lack real-time, actionable visibility into gross margin at the point of decision, which can lead to sales representatives unknowingly booking low-margin or negative-margin orders, planners sourcing from high-cost locations, and finance teams only discovering margin erosion after shipments are completed.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Surfaces gross-margin information at the point of sales, supply, and fulfillment decisions so teams can identify margin concerns before shipment.</a:t>
                      </a:r>
                    </a:p>
                    <a:p>
                      <a:pPr algn="l">
                        <a:lnSpc>
                          <a:spcPct val="102000"/>
                        </a:lnSpc>
                        <a:spcBef>
                          <a:spcPts val="0"/>
                        </a:spcBef>
                        <a:spcAft>
                          <a:spcPts val="220"/>
                        </a:spcAft>
                      </a:pPr>
                      <a:r>
                        <a:rPr sz="900" b="0">
                          <a:solidFill>
                            <a:srgbClr val="000000"/>
                          </a:solidFill>
                          <a:latin typeface="Arial"/>
                        </a:rPr>
                        <a:t>• Helps sales, planning, and finance respond earlier to low-margin or negative-margin orders instead of discovering margin erosion after fulfillment.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(SCM Intelligent Agent Management Duty, Fai Genai Agent SCM Administrator Duty, Fai Genai Agent Runtime Duty) for supply chain planning and shipment processing.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Agentic App: Cost Accounting Close Workspace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The Cost Accounting Close Workspace is an AI-powered workspace where cost accountants and financial controllers can continuously review the readiness for period close status. The Cost Accounting Close Workspace provides AI-powered workflows through 6 panels:.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Continuous period-close readiness visibility helps cost accountants and controllers identify exceptions before the close is due.</a:t>
                      </a:r>
                    </a:p>
                    <a:p>
                      <a:pPr algn="l">
                        <a:lnSpc>
                          <a:spcPct val="102000"/>
                        </a:lnSpc>
                        <a:spcBef>
                          <a:spcPts val="0"/>
                        </a:spcBef>
                        <a:spcAft>
                          <a:spcPts val="220"/>
                        </a:spcAft>
                      </a:pPr>
                      <a:r>
                        <a:rPr sz="900" b="0">
                          <a:solidFill>
                            <a:srgbClr val="000000"/>
                          </a:solidFill>
                          <a:latin typeface="Arial"/>
                        </a:rPr>
                        <a:t>• AI-generated summaries and recommended actions help teams address close issues with less last-minute investigation.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(Costing Period Close Workspace Duty, Fai Genai Agent Runtime Duty) for cost accounting and supply chain planning.</a:t>
                      </a:r>
                    </a:p>
                    <a:p>
                      <a:pPr algn="l">
                        <a:lnSpc>
                          <a:spcPct val="102000"/>
                        </a:lnSpc>
                        <a:spcBef>
                          <a:spcPts val="0"/>
                        </a:spcBef>
                        <a:spcAft>
                          <a:spcPts val="220"/>
                        </a:spcAft>
                      </a:pPr>
                      <a:r>
                        <a:rPr sz="900" b="0">
                          <a:solidFill>
                            <a:srgbClr val="000000"/>
                          </a:solidFill>
                          <a:latin typeface="Arial"/>
                        </a:rPr>
                        <a:t>• Applies only if cost management is configured.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Track Asset Costs for Maintenance Work Orders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The new Asset Costs page delivers a comprehensive and intuitive experience for tracking the maintenance asset costs. It enables you to easily filter, analyze, and review asset cost data in the Cost Accounting work area, improving visibility and control over maintenance-related expenses.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Maintenance asset costs can be filtered, analyzed, and reviewed in the Cost Accounting work area from a focused view.</a:t>
                      </a:r>
                    </a:p>
                    <a:p>
                      <a:pPr algn="l">
                        <a:lnSpc>
                          <a:spcPct val="102000"/>
                        </a:lnSpc>
                        <a:spcBef>
                          <a:spcPts val="0"/>
                        </a:spcBef>
                        <a:spcAft>
                          <a:spcPts val="220"/>
                        </a:spcAft>
                      </a:pPr>
                      <a:r>
                        <a:rPr sz="900" b="0">
                          <a:solidFill>
                            <a:srgbClr val="000000"/>
                          </a:solidFill>
                          <a:latin typeface="Arial"/>
                        </a:rPr>
                        <a:t>• Maintenance-related expenses become easier to examine and reconcile when asset cost information is organized in one dedicated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cost management is configured.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8</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Cost Management</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Track Costs for Parallel Work Order Operations Using Precedence Constraints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plan for your product costs when your work definitions have parallel operations enabled. This allows for accurate calculation of your product costs, when using the standard cost method.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Calculates product costs accurately when work definitions contain parallel operations under the standard cost method.</a:t>
                      </a:r>
                    </a:p>
                    <a:p>
                      <a:pPr algn="l">
                        <a:lnSpc>
                          <a:spcPct val="102000"/>
                        </a:lnSpc>
                        <a:spcBef>
                          <a:spcPts val="0"/>
                        </a:spcBef>
                        <a:spcAft>
                          <a:spcPts val="220"/>
                        </a:spcAft>
                      </a:pPr>
                      <a:r>
                        <a:rPr sz="900" b="0">
                          <a:solidFill>
                            <a:srgbClr val="000000"/>
                          </a:solidFill>
                          <a:latin typeface="Arial"/>
                        </a:rPr>
                        <a:t>• Keeps costing aligned with the sequence and precedence of parallel manufacturing operations for more reliable product-cost analysis.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process manufacturing costing and cost accounting.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Account for Component Scrap in Work Order Costs Without Material Returns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scrap an already issued component to a work order without having to do a component return. You can move the scrapped item to a specific subinventory where it can be reviewed before a final disposition.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Already-issued components can be recorded as scrap without requiring a separate material return transaction.</a:t>
                      </a:r>
                    </a:p>
                    <a:p>
                      <a:pPr algn="l">
                        <a:lnSpc>
                          <a:spcPct val="102000"/>
                        </a:lnSpc>
                        <a:spcBef>
                          <a:spcPts val="0"/>
                        </a:spcBef>
                        <a:spcAft>
                          <a:spcPts val="220"/>
                        </a:spcAft>
                      </a:pPr>
                      <a:r>
                        <a:rPr sz="900" b="0">
                          <a:solidFill>
                            <a:srgbClr val="000000"/>
                          </a:solidFill>
                          <a:latin typeface="Arial"/>
                        </a:rPr>
                        <a:t>• Scrapped material can be moved to a specific subinventory for review before final disposition, keeping scrap handling distinct from returns.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work order cost management and manufacturing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Calculate and Track Product Costs when Using an Item Multiple Times in a Discrete Work Order Operation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If you use an item multiple times in a discrete work order operation or in a flow schedule, you can now calculate your product costs and cost the transactions. Additionally, if you use standard cost, you can track variances by the item and basis type.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Includes repeated use of the same item in product-cost calculations so the resulting work-order costs reflect actual component usage.</a:t>
                      </a:r>
                    </a:p>
                    <a:p>
                      <a:pPr algn="l">
                        <a:lnSpc>
                          <a:spcPct val="102000"/>
                        </a:lnSpc>
                        <a:spcBef>
                          <a:spcPts val="0"/>
                        </a:spcBef>
                        <a:spcAft>
                          <a:spcPts val="220"/>
                        </a:spcAft>
                      </a:pPr>
                      <a:r>
                        <a:rPr sz="900" b="0">
                          <a:solidFill>
                            <a:srgbClr val="000000"/>
                          </a:solidFill>
                          <a:latin typeface="Arial"/>
                        </a:rPr>
                        <a:t>• Tracks standard-cost variances by item and basis type, giving cost teams more detail when analyzing repeated component usage.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work order cost management and cost accounting.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9</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Cost Management</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Calculate the Cost of Products After Assigning Phantom Subassembly Materials and Resources to Operations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If you're a manufacturing enterprise and want granular control and auditability over the components consumed as part of the phantom subassembly in production process, you can now cost the materials and resources consumed in the phantom subassembly with the correct operation. On the Rolled-up Costs page, you'll see the assignment of phantom components and resources to the operation as explained above.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Phantom-subassembly materials and resources are costed against the correct parent operation during product costing.</a:t>
                      </a:r>
                    </a:p>
                    <a:p>
                      <a:pPr algn="l">
                        <a:lnSpc>
                          <a:spcPct val="102000"/>
                        </a:lnSpc>
                        <a:spcBef>
                          <a:spcPts val="0"/>
                        </a:spcBef>
                        <a:spcAft>
                          <a:spcPts val="220"/>
                        </a:spcAft>
                      </a:pPr>
                      <a:r>
                        <a:rPr sz="900" b="0">
                          <a:solidFill>
                            <a:srgbClr val="000000"/>
                          </a:solidFill>
                          <a:latin typeface="Arial"/>
                        </a:rPr>
                        <a:t>• Rolled-up product costs show where phantom components and resources contribute, giving manufacturing teams clearer costing traceability.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Calculate the Costs of Standard Costed Configured Items On Demand</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calculate and publish the costs of all your configured items, even if those items don't have a new work order or purchase order in the application, if you use the standard cost method to value your inventory. When you create a cost scenario of configured items with rollup scope set to All Items, the Roll up Costs scheduled process will roll up the costs of all configured items in the application that've:.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Calculates and publishes standard costs for configured items even when no new work order or purchase order exists.</a:t>
                      </a:r>
                    </a:p>
                    <a:p>
                      <a:pPr algn="l">
                        <a:lnSpc>
                          <a:spcPct val="102000"/>
                        </a:lnSpc>
                        <a:spcBef>
                          <a:spcPts val="0"/>
                        </a:spcBef>
                        <a:spcAft>
                          <a:spcPts val="220"/>
                        </a:spcAft>
                      </a:pPr>
                      <a:r>
                        <a:rPr sz="900" b="0">
                          <a:solidFill>
                            <a:srgbClr val="000000"/>
                          </a:solidFill>
                          <a:latin typeface="Arial"/>
                        </a:rPr>
                        <a:t>• Keeps configured-item inventory valuation current by allowing cost rollups across configured items on demand.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Complete the Same Output Across Multiple Operations in Discrete Manufacturing</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add co-products and by-products to different operations in a discrete work definition or work order, with enhanced support for accurate cost calculations. When co-products or by-products are specified at the operation level, the application automatically apportions costs based on the cost allocation basis defined in the work definition.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Apportions costs across co-products and by-products at the operation level, supporting more accurate costing for multi-output manufacturing.</a:t>
                      </a:r>
                    </a:p>
                    <a:p>
                      <a:pPr algn="l">
                        <a:lnSpc>
                          <a:spcPct val="102000"/>
                        </a:lnSpc>
                        <a:spcBef>
                          <a:spcPts val="0"/>
                        </a:spcBef>
                        <a:spcAft>
                          <a:spcPts val="220"/>
                        </a:spcAft>
                      </a:pPr>
                      <a:r>
                        <a:rPr sz="900" b="0">
                          <a:solidFill>
                            <a:srgbClr val="000000"/>
                          </a:solidFill>
                          <a:latin typeface="Arial"/>
                        </a:rPr>
                        <a:t>• Keeps production costing aligned with the operation where each co-product or by-product is generated.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cost allocation and manufacturing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10</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Cost Management</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Review Periodic Average Cost Adjustments Using Filters in Smart Search</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use the new filters to search and review adjustments on the Periodic Average Cost Adjustments page. You can use filters such as Cost Organization, Cost Book, Adjustment Type, and Period to identify cost adjustments that you had created.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Cost users can filter periodic average cost adjustments by organization, cost book, adjustment type, and period.</a:t>
                      </a:r>
                    </a:p>
                    <a:p>
                      <a:pPr algn="l">
                        <a:lnSpc>
                          <a:spcPct val="102000"/>
                        </a:lnSpc>
                        <a:spcBef>
                          <a:spcPts val="0"/>
                        </a:spcBef>
                        <a:spcAft>
                          <a:spcPts val="220"/>
                        </a:spcAft>
                      </a:pPr>
                      <a:r>
                        <a:rPr sz="900" b="0">
                          <a:solidFill>
                            <a:srgbClr val="000000"/>
                          </a:solidFill>
                          <a:latin typeface="Arial"/>
                        </a:rPr>
                        <a:t>• Specific cost adjustments become easier to locate and review when investigating changes in inventory costing.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Track and Account for Rework Costs in Standard and Nonstandard Discrete Work Orders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track the costs incurred in rework activities and capture the cost of poor quality for scenarios where a rework is performed in a standard or nonstandard discrete manufacturing work order. Material and resource costs that are incurred to rework products in a discrete work order are now tracked separately and aren't included in the cost of products.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Tracks material and resource costs incurred during rework separately from the cost of the finished product.</a:t>
                      </a:r>
                    </a:p>
                    <a:p>
                      <a:pPr algn="l">
                        <a:lnSpc>
                          <a:spcPct val="102000"/>
                        </a:lnSpc>
                        <a:spcBef>
                          <a:spcPts val="0"/>
                        </a:spcBef>
                        <a:spcAft>
                          <a:spcPts val="220"/>
                        </a:spcAft>
                      </a:pPr>
                      <a:r>
                        <a:rPr sz="900" b="0">
                          <a:solidFill>
                            <a:srgbClr val="000000"/>
                          </a:solidFill>
                          <a:latin typeface="Arial"/>
                        </a:rPr>
                        <a:t>• Makes the cost of poor quality visible in standard and nonstandard work orders for more accurate manufacturing cost analysis.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11</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Fiscal Document Capture</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Update Tax Determinants on Fiscal Document Line Using REST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To better support high-volume transaction environments, the existing Inbound Fiscal Documents REST service has been enhanced to support both single and bulk patch actions . This enhancement enables you to quickly and efficiently update tax determinants on fiscal document lines.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Single-line and bulk REST updates let high-volume fiscal processes change tax determinants without handling each document line separately.</a:t>
                      </a:r>
                    </a:p>
                    <a:p>
                      <a:pPr algn="l">
                        <a:lnSpc>
                          <a:spcPct val="102000"/>
                        </a:lnSpc>
                        <a:spcBef>
                          <a:spcPts val="0"/>
                        </a:spcBef>
                        <a:spcAft>
                          <a:spcPts val="220"/>
                        </a:spcAft>
                      </a:pPr>
                      <a:r>
                        <a:rPr sz="900" b="0">
                          <a:solidFill>
                            <a:srgbClr val="000000"/>
                          </a:solidFill>
                          <a:latin typeface="Arial"/>
                        </a:rPr>
                        <a:t>• Tax information can be corrected across fiscal document lines with less manual handling during high-volume transaction processing.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Enable Accurate Capture and Fiscal Processing for Prepayments Under the New Tax Regime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record, tax, and track supplier prepayments against purchase orders before goods are received in Brazil’s standard procure-to-pay fiscal flows. With the new Prepayment fiscal flow for source document type Purchase Order , the system automatically associates and applies prepayments to final invoices, ensuring:.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Records and tracks supplier prepayments against purchase orders before goods are received within Brazil's fiscal procurement flows.</a:t>
                      </a:r>
                    </a:p>
                    <a:p>
                      <a:pPr algn="l">
                        <a:lnSpc>
                          <a:spcPct val="102000"/>
                        </a:lnSpc>
                        <a:spcBef>
                          <a:spcPts val="0"/>
                        </a:spcBef>
                        <a:spcAft>
                          <a:spcPts val="220"/>
                        </a:spcAft>
                      </a:pPr>
                      <a:r>
                        <a:rPr sz="900" b="0">
                          <a:solidFill>
                            <a:srgbClr val="000000"/>
                          </a:solidFill>
                          <a:latin typeface="Arial"/>
                        </a:rPr>
                        <a:t>• Automatically applies qualifying prepayments to final invoices, keeping prepayment and invoice processing connected through the procure-to-pay cycle.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fiscal document processing and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Use Additional CFOP Codes for Buyer-Issued Bookkeeping</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use additional CFOP codes 1604 / 2604 – Release of credit related to the purchase of goods for fixed assets when capturing fiscal documents in buyer-issued bookkeeping flows. This enhancement supports processes involving the return of goods for repair or maintenance, as well as the treatment of agribusiness products, applicable to large companies, small rural producers, farmers, and individuals.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Buyer-issued bookkeeping can use the additional CFOP codes required for fixed-asset purchase-credit release scenarios.</a:t>
                      </a:r>
                    </a:p>
                    <a:p>
                      <a:pPr algn="l">
                        <a:lnSpc>
                          <a:spcPct val="102000"/>
                        </a:lnSpc>
                        <a:spcBef>
                          <a:spcPts val="0"/>
                        </a:spcBef>
                        <a:spcAft>
                          <a:spcPts val="220"/>
                        </a:spcAft>
                      </a:pPr>
                      <a:r>
                        <a:rPr sz="900" b="0">
                          <a:solidFill>
                            <a:srgbClr val="000000"/>
                          </a:solidFill>
                          <a:latin typeface="Arial"/>
                        </a:rPr>
                        <a:t>• Fiscal-document processing can cover the stated repair, maintenance, and agribusiness return scenarios within the buyer-issued bookkeeping 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fiscal document processing and fiscal document compliance.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12</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Inventory Management</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Inventory Shortages Assistant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The Inventory Shortages Assistant AI agent helps inventory managers analyze item shortages and stockouts, evaluate available replenishment options, and execute recommended actions to prevent disruptions caused by missing critical supplies. Unlike the existing Item Shortages Analysis Advisor, which requires users to manually act on the recommendations, the Inventory Shortages Assistant provides the ability to approve and automatically execute the recommended replenishment actions.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Identifies inventory shortages and evaluates replenishment options so managers can address stockouts before they disrupt operations.</a:t>
                      </a:r>
                    </a:p>
                    <a:p>
                      <a:pPr algn="l">
                        <a:lnSpc>
                          <a:spcPct val="102000"/>
                        </a:lnSpc>
                        <a:spcBef>
                          <a:spcPts val="0"/>
                        </a:spcBef>
                        <a:spcAft>
                          <a:spcPts val="220"/>
                        </a:spcAft>
                      </a:pPr>
                      <a:r>
                        <a:rPr sz="900" b="0">
                          <a:solidFill>
                            <a:srgbClr val="000000"/>
                          </a:solidFill>
                          <a:latin typeface="Arial"/>
                        </a:rPr>
                        <a:t>• Can approve and execute recommended replenishment actions, reducing manual intervention in resolving supply shortages.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(SCM Intelligent Agent Management Duty, Fai Genai Agent SCM Administrator Duty, Fai Genai Agent Runtime Duty) for inventory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Lot Management Advisor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For businesses that manage perishable or regulated inventory with lot control, efficient lot management is essential for operational success. Tasks such as monitoring expiring lots, updating lot-specific unit of measure (UOM) conversions based on transactions, or executing timely lot splits and merges can be complex and time-consuming, often requiring navigation across multiple system pages, running reports, and gathering supplementary data.</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Brings lot-expiry monitoring, lot-specific UOM updates, and lot split or merge activities into a more guided workflow.</a:t>
                      </a:r>
                    </a:p>
                    <a:p>
                      <a:pPr algn="l">
                        <a:lnSpc>
                          <a:spcPct val="102000"/>
                        </a:lnSpc>
                        <a:spcBef>
                          <a:spcPts val="0"/>
                        </a:spcBef>
                        <a:spcAft>
                          <a:spcPts val="220"/>
                        </a:spcAft>
                      </a:pPr>
                      <a:r>
                        <a:rPr sz="900" b="0">
                          <a:solidFill>
                            <a:srgbClr val="000000"/>
                          </a:solidFill>
                          <a:latin typeface="Arial"/>
                        </a:rPr>
                        <a:t>• Reduces the manual navigation needed for complex lot-control activities while keeping lot-specific inventory information current.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(SCM Intelligent Agent Management Duty, Fai Genai Agent SCM Administrator Duty, Fai Genai Agent Runtime Duty) for inventory operations and electronic signatures.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Agentic App: Warehouse Operations Workspace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Warehouse managers are accountable for keeping warehouse operations running smoothly and efficiently. When problems occur, they’re responsible for resolving them quickly so operators can continue working without disruption.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Brings relevant warehouse operational information together so managers can assess documented processes and choose an appropriate response.</a:t>
                      </a:r>
                    </a:p>
                    <a:p>
                      <a:pPr algn="l">
                        <a:lnSpc>
                          <a:spcPct val="102000"/>
                        </a:lnSpc>
                        <a:spcBef>
                          <a:spcPts val="0"/>
                        </a:spcBef>
                        <a:spcAft>
                          <a:spcPts val="220"/>
                        </a:spcAft>
                      </a:pPr>
                      <a:r>
                        <a:rPr sz="900" b="0">
                          <a:solidFill>
                            <a:srgbClr val="000000"/>
                          </a:solidFill>
                          <a:latin typeface="Arial"/>
                        </a:rPr>
                        <a:t>• Makes operational records easier to review and monitor when resolving warehouse issues that could interrupt ongoing work.</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13</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Inventory Management</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Additional Business Rules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Business rules allow you to control the appearance and behavior of fields within various Redwood pages. This can include hiding fields that aren't necessary for your business process or making extra fields required for every transaction.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Business-specific field rules can hide unnecessary fields and require important fields directly on Redwood transaction pages.</a:t>
                      </a:r>
                    </a:p>
                    <a:p>
                      <a:pPr algn="l">
                        <a:lnSpc>
                          <a:spcPct val="102000"/>
                        </a:lnSpc>
                        <a:spcBef>
                          <a:spcPts val="0"/>
                        </a:spcBef>
                        <a:spcAft>
                          <a:spcPts val="220"/>
                        </a:spcAft>
                      </a:pPr>
                      <a:r>
                        <a:rPr sz="900" b="0">
                          <a:solidFill>
                            <a:srgbClr val="000000"/>
                          </a:solidFill>
                          <a:latin typeface="Arial"/>
                        </a:rPr>
                        <a:t>• Inventory transaction data becomes more consistent when page behavior enforces the fields and transaction choices required by the business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Improved Logic for Goods in RFID-Enabled Cabinets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you store high-value items that require perpetual tracking in a radio frequency identification (RFID)-enabled cabinet to automate goods transactions, you expect the on-hand quantity at those locations to be accurate. Previously, each time an RFID-tagged item was placed in the cabinet, the on-hand quantity increased, even if it was the first time that specific item and tag combination was put into the cabinet.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Duplicate RFID-tag events no longer incorrectly increase on-hand quantity for the same item and tag combination.</a:t>
                      </a:r>
                    </a:p>
                    <a:p>
                      <a:pPr algn="l">
                        <a:lnSpc>
                          <a:spcPct val="102000"/>
                        </a:lnSpc>
                        <a:spcBef>
                          <a:spcPts val="0"/>
                        </a:spcBef>
                        <a:spcAft>
                          <a:spcPts val="220"/>
                        </a:spcAft>
                      </a:pPr>
                      <a:r>
                        <a:rPr sz="900" b="0">
                          <a:solidFill>
                            <a:srgbClr val="000000"/>
                          </a:solidFill>
                          <a:latin typeface="Arial"/>
                        </a:rPr>
                        <a:t>• High-value inventory in RFID-enabled cabinets stays aligned with actual automated movements through more accurate on-hand updates.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(Map RFID Tags Using Responsive Inventory Duty, Monitor RFID Events Using Responsive Inventory Duty, Process Inventory RFID Events Duty) for inventory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Export All Search Results on the Completed Transactions Page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The Completed Transactions page serves as a critical auditing and investigative tool, providing visibility into historical inventory activity used to research and reconcile on-hand inventory discrepancies. If a discrepancy does occur, you might need to review this data offline so you can compare it with hard-copy records and mark your findings manually.</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Complete completed-transaction search results can be exported for offline investigation, reconciliation, and review of historical inventory activity.</a:t>
                      </a:r>
                    </a:p>
                    <a:p>
                      <a:pPr algn="l">
                        <a:lnSpc>
                          <a:spcPct val="102000"/>
                        </a:lnSpc>
                        <a:spcBef>
                          <a:spcPts val="0"/>
                        </a:spcBef>
                        <a:spcAft>
                          <a:spcPts val="220"/>
                        </a:spcAft>
                      </a:pPr>
                      <a:r>
                        <a:rPr sz="900" b="0">
                          <a:solidFill>
                            <a:srgbClr val="000000"/>
                          </a:solidFill>
                          <a:latin typeface="Arial"/>
                        </a:rPr>
                        <a:t>• Historical transaction records become easier to compare with external or hard-copy records when investigating on-hand inventory discrepancies.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14</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Inventory Management</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Perform Lot Split, Merge, or Translate Transactions Using a Redwood Page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managing goods under lot control, various situations may require you to split, merge, or otherwise adjust the lot assignments for certain items. For instance, if a weather incident damages your warehouse and only part of a lot is affected, the compromised portion might still be suitable for some manufacturing uses but not others.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Lot assignments can be split, merged, or translated directly in a Redwood page when lot composition needs to change.</a:t>
                      </a:r>
                    </a:p>
                    <a:p>
                      <a:pPr algn="l">
                        <a:lnSpc>
                          <a:spcPct val="102000"/>
                        </a:lnSpc>
                        <a:spcBef>
                          <a:spcPts val="0"/>
                        </a:spcBef>
                        <a:spcAft>
                          <a:spcPts val="220"/>
                        </a:spcAft>
                      </a:pPr>
                      <a:r>
                        <a:rPr sz="900" b="0">
                          <a:solidFill>
                            <a:srgbClr val="000000"/>
                          </a:solidFill>
                          <a:latin typeface="Arial"/>
                        </a:rPr>
                        <a:t>• Targeted lot adjustments can isolate affected quantities when only part of a lot is impacted by a warehouse or inventory event.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manufacturing operations and inventory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Purge Completed PAR Requests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Periodic Automatic Replenishment (PAR) ensures that supplies are consistently restocked in forward locations, so essential goods are always available when needed. Over time, the data generated from PAR requests can assist with optimizing PAR levels and identifying trends in high or low usage items.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Removes completed PAR requests from operational data while retaining the ability to use PAR information for replenishment analysis.</a:t>
                      </a:r>
                    </a:p>
                    <a:p>
                      <a:pPr algn="l">
                        <a:lnSpc>
                          <a:spcPct val="102000"/>
                        </a:lnSpc>
                        <a:spcBef>
                          <a:spcPts val="0"/>
                        </a:spcBef>
                        <a:spcAft>
                          <a:spcPts val="220"/>
                        </a:spcAft>
                      </a:pPr>
                      <a:r>
                        <a:rPr sz="900" b="0">
                          <a:solidFill>
                            <a:srgbClr val="000000"/>
                          </a:solidFill>
                          <a:latin typeface="Arial"/>
                        </a:rPr>
                        <a:t>• Helps keep completed-request data manageable so users can focus on active PAR activity and relevant replenishment information.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Additional Search Capabilities When Creating and Updating Subinventories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Subinventories and locators are essential components in a warehouse as they enable precise organization and tracking of inventory. Subinventories represent the physical or logical areas within a warehouse, allowing you to segregate stock based on usage, ownership, or value.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Adds more ways to locate subinventories and locators while creating or updating warehouse inventory structures.</a:t>
                      </a:r>
                    </a:p>
                    <a:p>
                      <a:pPr algn="l">
                        <a:lnSpc>
                          <a:spcPct val="102000"/>
                        </a:lnSpc>
                        <a:spcBef>
                          <a:spcPts val="0"/>
                        </a:spcBef>
                        <a:spcAft>
                          <a:spcPts val="220"/>
                        </a:spcAft>
                      </a:pPr>
                      <a:r>
                        <a:rPr sz="900" b="0">
                          <a:solidFill>
                            <a:srgbClr val="000000"/>
                          </a:solidFill>
                          <a:latin typeface="Arial"/>
                        </a:rPr>
                        <a:t>• Makes warehouse setup and maintenance easier by helping users find the specific inventory locations they need to update.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15</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Inventory Management</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Improved Replenishment Logic for the Order PAR Replenishment Count Type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Periodic Automatic Replenishment (PAR) locations are specific storage areas where supplies are routinely replenished to set levels, ensuring essential items are always available. When using the Order PAR replenishment count type, hospital staff or PAR counters rely on visual cues, such as an empty bin or tray, to determine when restocking is needed.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Order PAR replenishment logic can determine when routine restocking is required for supplies maintained at established PAR levels.</a:t>
                      </a:r>
                    </a:p>
                    <a:p>
                      <a:pPr algn="l">
                        <a:lnSpc>
                          <a:spcPct val="102000"/>
                        </a:lnSpc>
                        <a:spcBef>
                          <a:spcPts val="0"/>
                        </a:spcBef>
                        <a:spcAft>
                          <a:spcPts val="220"/>
                        </a:spcAft>
                      </a:pPr>
                      <a:r>
                        <a:rPr sz="900" b="0">
                          <a:solidFill>
                            <a:srgbClr val="000000"/>
                          </a:solidFill>
                          <a:latin typeface="Arial"/>
                        </a:rPr>
                        <a:t>• Routine replenishment relies less on visual empty-bin or tray cues when the Order PAR count type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inventory operations and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the All Organizations Option When Selecting an Organization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Certain roles within your organization, such as supply chain operations managers or regional managers, often require access to data across multiple inventory organizations to effectively oversee and coordinate activities at various locations. To gain a comprehensive view and perform their daily responsibilities efficiently, these roles need to see consolidated data for all the organizations they manage.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Managers responsible for multiple inventory organizations can select all relevant organizations as a consolidated scope.</a:t>
                      </a:r>
                    </a:p>
                    <a:p>
                      <a:pPr algn="l">
                        <a:lnSpc>
                          <a:spcPct val="102000"/>
                        </a:lnSpc>
                        <a:spcBef>
                          <a:spcPts val="0"/>
                        </a:spcBef>
                        <a:spcAft>
                          <a:spcPts val="220"/>
                        </a:spcAft>
                      </a:pPr>
                      <a:r>
                        <a:rPr sz="900" b="0">
                          <a:solidFill>
                            <a:srgbClr val="000000"/>
                          </a:solidFill>
                          <a:latin typeface="Arial"/>
                        </a:rPr>
                        <a:t>• Cross-organization oversight becomes easier when users can work with the organizations they manage from a single selection.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View On-Hand Quantity for Closed or Inactive Projects on the Item Quantities Page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managing on-hand quantities with Project-Driven Supply Chain, there may be instances where a project closes or becomes inactive while inventory is still assigned to it. In such cases, you may need to reconcile outstanding materials, redistribute unused inventory, or address audit requirements after project closure.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project-assigned inventory visible after a project closes or becomes inactive, supporting reconciliation of remaining materials.</a:t>
                      </a:r>
                    </a:p>
                    <a:p>
                      <a:pPr algn="l">
                        <a:lnSpc>
                          <a:spcPct val="102000"/>
                        </a:lnSpc>
                        <a:spcBef>
                          <a:spcPts val="0"/>
                        </a:spcBef>
                        <a:spcAft>
                          <a:spcPts val="220"/>
                        </a:spcAft>
                      </a:pPr>
                      <a:r>
                        <a:rPr sz="900" b="0">
                          <a:solidFill>
                            <a:srgbClr val="000000"/>
                          </a:solidFill>
                          <a:latin typeface="Arial"/>
                        </a:rPr>
                        <a:t>• Helps teams identify unused project inventory that may need redistribution or follow-up for post-project reconciliation.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16</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Landed Cost Management</a:t>
            </a:r>
          </a:p>
        </p:txBody>
      </p:sp>
      <p:graphicFrame>
        <p:nvGraphicFramePr>
          <p:cNvPr id="9" name="Table 8"/>
          <p:cNvGraphicFramePr>
            <a:graphicFrameLocks noGrp="1"/>
          </p:cNvGraphicFramePr>
          <p:nvPr/>
        </p:nvGraphicFramePr>
        <p:xfrm>
          <a:off x="256032" y="1051560"/>
          <a:ext cx="11658600" cy="1682496"/>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Support the Landed Cost Enabled Attribute in Payables FBDI Upload</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Accurate landed cost calculation is critical for understanding the true cost of procured items, considering it includes freight, insurance, duties, and other associated charges. To improve data capture and automation during invoice import, the Landed Cost Enabled attribute has now been added to the Accounts Payable FBDI interface.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The Landed Cost Enabled attribute can flow through Payables FBDI invoice imports with the data needed for landed-cost processing.</a:t>
                      </a:r>
                    </a:p>
                    <a:p>
                      <a:pPr algn="l">
                        <a:lnSpc>
                          <a:spcPct val="102000"/>
                        </a:lnSpc>
                        <a:spcBef>
                          <a:spcPts val="0"/>
                        </a:spcBef>
                        <a:spcAft>
                          <a:spcPts val="220"/>
                        </a:spcAft>
                      </a:pPr>
                      <a:r>
                        <a:rPr sz="900" b="0">
                          <a:solidFill>
                            <a:srgbClr val="000000"/>
                          </a:solidFill>
                          <a:latin typeface="Arial"/>
                        </a:rPr>
                        <a:t>• Procured-item cost capture can include freight, insurance, duties, and related charges when landed-cost information is supplied through FBDI.</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17</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Mobile Inventory</a:t>
            </a:r>
          </a:p>
        </p:txBody>
      </p:sp>
      <p:graphicFrame>
        <p:nvGraphicFramePr>
          <p:cNvPr id="9" name="Table 8"/>
          <p:cNvGraphicFramePr>
            <a:graphicFrameLocks noGrp="1"/>
          </p:cNvGraphicFramePr>
          <p:nvPr/>
        </p:nvGraphicFramePr>
        <p:xfrm>
          <a:off x="256032" y="1051560"/>
          <a:ext cx="11658600" cy="1682496"/>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Search for Open Pick Slips by Destination Location When Using a Mobile Device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Internal material transfers executed through transfer orders enable you to move goods between storage locations or deliver them directly to a requester for immediate use. Previously, when searching for open pick slips on a mobile device, you could only locate inventory destination transfer orders between storage locations by using the destination subinventory information.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Lets mobile warehouse users find open pick slips by their destination location instead of relying only on destination subinventory.</a:t>
                      </a:r>
                    </a:p>
                    <a:p>
                      <a:pPr algn="l">
                        <a:lnSpc>
                          <a:spcPct val="102000"/>
                        </a:lnSpc>
                        <a:spcBef>
                          <a:spcPts val="0"/>
                        </a:spcBef>
                        <a:spcAft>
                          <a:spcPts val="220"/>
                        </a:spcAft>
                      </a:pPr>
                      <a:r>
                        <a:rPr sz="900" b="0">
                          <a:solidFill>
                            <a:srgbClr val="000000"/>
                          </a:solidFill>
                          <a:latin typeface="Arial"/>
                        </a:rPr>
                        <a:t>• Helps operators identify inventory transfers headed to the correct location during mobile picking activities.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18</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Product Recall Management</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Derive Containment Task Owners on the Recall Tasks and Send Notifications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map inventory organizations, departments (cost centers) or subinventories to one or more employees so recall containment tasks generated in the bypass count and disposal tasks workflow automatically derive task owners and send notifications to the appropriate coordinators using AI workflow agent. This reduces manual notification rules configuration and helps ensure containment tasks notify the correct coordinators based on location and date-effectivity.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Automatically derives recall containment task owners from mapped organizations, departments, or subinventories and notifies the appropriate coordinators.</a:t>
                      </a:r>
                    </a:p>
                    <a:p>
                      <a:pPr algn="l">
                        <a:lnSpc>
                          <a:spcPct val="102000"/>
                        </a:lnSpc>
                        <a:spcBef>
                          <a:spcPts val="0"/>
                        </a:spcBef>
                        <a:spcAft>
                          <a:spcPts val="220"/>
                        </a:spcAft>
                      </a:pPr>
                      <a:r>
                        <a:rPr sz="900" b="0">
                          <a:solidFill>
                            <a:srgbClr val="000000"/>
                          </a:solidFill>
                          <a:latin typeface="Arial"/>
                        </a:rPr>
                        <a:t>• Reduces manual notification-rule maintenance while keeping recall tasks aligned with location and date-effectivity requirements.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Select Inventory Organizations Participating in Recall Management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With this release, you can now control which inventory organizations participate in Product Recall Management. Instead of applying recall processes across all organizations, you can designate all or only selected inventory organizations, enabling phased rollouts and more targeted containment actions.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Product Recall Management can be limited to selected inventory organizations instead of applying recall processing across the entire organization set.</a:t>
                      </a:r>
                    </a:p>
                    <a:p>
                      <a:pPr algn="l">
                        <a:lnSpc>
                          <a:spcPct val="102000"/>
                        </a:lnSpc>
                        <a:spcBef>
                          <a:spcPts val="0"/>
                        </a:spcBef>
                        <a:spcAft>
                          <a:spcPts val="220"/>
                        </a:spcAft>
                      </a:pPr>
                      <a:r>
                        <a:rPr sz="900" b="0">
                          <a:solidFill>
                            <a:srgbClr val="000000"/>
                          </a:solidFill>
                          <a:latin typeface="Arial"/>
                        </a:rPr>
                        <a:t>• Phased recall rollouts and targeted containment actions become possible by controlling which inventory organizations participate.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manufacturing operations and supply chain planning.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19</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Receiving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ASN Creation Assistant - Create ASN Through Email</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Advance Shipment Notices (ASNs) are important to track the latest updates on expected delivery dates from suppliers. If your suppliers aren't integrated with your system to automatically generate ASNs upon shipment or to create them through the Oracle Supplier Portal, then you need to create them manually.</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Supplier email content can be converted into Advance Shipment Notices without manually re-entering the shipment information.</a:t>
                      </a:r>
                    </a:p>
                    <a:p>
                      <a:pPr algn="l">
                        <a:lnSpc>
                          <a:spcPct val="102000"/>
                        </a:lnSpc>
                        <a:spcBef>
                          <a:spcPts val="0"/>
                        </a:spcBef>
                        <a:spcAft>
                          <a:spcPts val="220"/>
                        </a:spcAft>
                      </a:pPr>
                      <a:r>
                        <a:rPr sz="900" b="0">
                          <a:solidFill>
                            <a:srgbClr val="000000"/>
                          </a:solidFill>
                          <a:latin typeface="Arial"/>
                        </a:rPr>
                        <a:t>• ASN creation becomes more timely and consistent when suppliers do not provide automated ASN integration or portal-based creation.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(Fai Genai Agent SCM Administrator Duty, Fai Genai Agent Runtime Duty) for B2B document processing and shipment processing.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Receipt Creation Assistant - Create Receipt Through Email</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In some situations, you need to create a receipt for ordered goods, but strict oversight isn't required. In these cases, it’s acceptable to generate the goods receipt using a proxy, like a carrier’s delivery confirmation email.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Creates goods receipts from approved proxy information such as carrier delivery-confirmation emails when strict receipt oversight is not required.</a:t>
                      </a:r>
                    </a:p>
                    <a:p>
                      <a:pPr algn="l">
                        <a:lnSpc>
                          <a:spcPct val="102000"/>
                        </a:lnSpc>
                        <a:spcBef>
                          <a:spcPts val="0"/>
                        </a:spcBef>
                        <a:spcAft>
                          <a:spcPts val="220"/>
                        </a:spcAft>
                      </a:pPr>
                      <a:r>
                        <a:rPr sz="900" b="0">
                          <a:solidFill>
                            <a:srgbClr val="000000"/>
                          </a:solidFill>
                          <a:latin typeface="Arial"/>
                        </a:rPr>
                        <a:t>• Reduces manual receipt entry for eligible deliveries while keeping the receiving transaction tied to the available delivery information.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(SCM Intelligent Agent Management Duty, Fai Genai Agent SCM Administrator Duty, Fai Genai Agent Runtime Duty) for transfer order processing and receiving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Add Attachments and Update Descriptive Flexfields on Existing Receipts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you receive goods, your internal policy may require users to attach supplier documents or record specific details in Descriptive Flexfields (DFFs). During peak hours, receiving agents might overlook attaching a document or may enter incorrect information.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Lets receiving users add missing supplier documents and correct descriptive flexfield information after a receipt is created.</a:t>
                      </a:r>
                    </a:p>
                    <a:p>
                      <a:pPr algn="l">
                        <a:lnSpc>
                          <a:spcPct val="102000"/>
                        </a:lnSpc>
                        <a:spcBef>
                          <a:spcPts val="0"/>
                        </a:spcBef>
                        <a:spcAft>
                          <a:spcPts val="220"/>
                        </a:spcAft>
                      </a:pPr>
                      <a:r>
                        <a:rPr sz="900" b="0">
                          <a:solidFill>
                            <a:srgbClr val="000000"/>
                          </a:solidFill>
                          <a:latin typeface="Arial"/>
                        </a:rPr>
                        <a:t>• Keeps receipt records complete and accurate when documents or required details were missed during the original receiving transaction.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receiving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20</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Receiving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Copy Lot and Serial Numbers from an ASN or Transfer Order When Using a Mobile Device to Receive or Put Away Goods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you use a mobile device to receive or put away goods from trusted suppliers, it may not be necessary to verify each lot or serial number provided in the Advance Shipment Notices (ASNs) or from internal transfers. Instead, you may want to copy the lot or serial numbers directly from the ASN or transfer order to do the receipt or put away transaction.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Lets mobile receiving and put-away users copy trusted lot and serial numbers directly from an ASN or transfer order.</a:t>
                      </a:r>
                    </a:p>
                    <a:p>
                      <a:pPr algn="l">
                        <a:lnSpc>
                          <a:spcPct val="102000"/>
                        </a:lnSpc>
                        <a:spcBef>
                          <a:spcPts val="0"/>
                        </a:spcBef>
                        <a:spcAft>
                          <a:spcPts val="220"/>
                        </a:spcAft>
                      </a:pPr>
                      <a:r>
                        <a:rPr sz="900" b="0">
                          <a:solidFill>
                            <a:srgbClr val="000000"/>
                          </a:solidFill>
                          <a:latin typeface="Arial"/>
                        </a:rPr>
                        <a:t>• Reduces repetitive entry of lot and serial information for trusted-source transactions during receiving and put-away.</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Create ASN or ASBN Using a Spreadsheet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Advance Shipment Notices (ASNs) and Advance Shipment Billing Notices (ASBNs) from suppliers are crucial in modern supply chain management. They provide advance notification about inbound supply, such as contents, quantities, and expected delivery dates, and helps you prepare for incoming deliveries, coordinate warehouse resources, improve inventory accuracy, and streamline the receiving processes.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Lets users create ASNs and ASBNs from a spreadsheet, capturing inbound supply details such as contents, quantities, and expected dates.</a:t>
                      </a:r>
                    </a:p>
                    <a:p>
                      <a:pPr algn="l">
                        <a:lnSpc>
                          <a:spcPct val="102000"/>
                        </a:lnSpc>
                        <a:spcBef>
                          <a:spcPts val="0"/>
                        </a:spcBef>
                        <a:spcAft>
                          <a:spcPts val="220"/>
                        </a:spcAft>
                      </a:pPr>
                      <a:r>
                        <a:rPr sz="900" b="0">
                          <a:solidFill>
                            <a:srgbClr val="000000"/>
                          </a:solidFill>
                          <a:latin typeface="Arial"/>
                        </a:rPr>
                        <a:t>• Helps receiving teams prepare for incoming deliveries and coordinate warehouse resources using structured advance-shipment information.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Find Receipts Awaiting Put Away Using Additional Information on a Mobile Device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you put away goods into storage locations, you may face a situation where the specific receipt number for goods in hand is not known or forgotten. To address this, you can now use additional search parameters, such as item number or supplier directly from your mobile device to search for and identify correct receipts during put away.</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Lets mobile users locate receipts awaiting put-away using information such as item number or supplier when the receipt number is unavailable.</a:t>
                      </a:r>
                    </a:p>
                    <a:p>
                      <a:pPr algn="l">
                        <a:lnSpc>
                          <a:spcPct val="102000"/>
                        </a:lnSpc>
                        <a:spcBef>
                          <a:spcPts val="0"/>
                        </a:spcBef>
                        <a:spcAft>
                          <a:spcPts val="220"/>
                        </a:spcAft>
                      </a:pPr>
                      <a:r>
                        <a:rPr sz="900" b="0">
                          <a:solidFill>
                            <a:srgbClr val="000000"/>
                          </a:solidFill>
                          <a:latin typeface="Arial"/>
                        </a:rPr>
                        <a:t>• Helps warehouse operators identify the correct receipt during put-away without relying on a remembered receipt number.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21</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Receiving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Notify a Requester about ASN or Receipt Creation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you order goods from suppliers, you as a requestor often need to know the status of items to plan your work, coordinate resources, or update stakeholders. Without any automated updates, its challenging or time consuming to track shipments or received status at the warehouse.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Automatically informs requesters when an ASN or receipt is created, giving them status information about ordered goods.</a:t>
                      </a:r>
                    </a:p>
                    <a:p>
                      <a:pPr algn="l">
                        <a:lnSpc>
                          <a:spcPct val="102000"/>
                        </a:lnSpc>
                        <a:spcBef>
                          <a:spcPts val="0"/>
                        </a:spcBef>
                        <a:spcAft>
                          <a:spcPts val="220"/>
                        </a:spcAft>
                      </a:pPr>
                      <a:r>
                        <a:rPr sz="900" b="0">
                          <a:solidFill>
                            <a:srgbClr val="000000"/>
                          </a:solidFill>
                          <a:latin typeface="Arial"/>
                        </a:rPr>
                        <a:t>• Reduces manual shipment-status follow-up by delivering receipt and ASN updates directly to the requester.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Approvals for Receipts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Accurate management of received goods is essential for maintaining inventory control and operational reliability. In organizations, it's important to approve goods receipts, returns, or corrections to confirm that transactions are accurate and properly documented.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Adds approval control for receipts, returns, and corrections so receiving transactions can be reviewed before completion.</a:t>
                      </a:r>
                    </a:p>
                    <a:p>
                      <a:pPr algn="l">
                        <a:lnSpc>
                          <a:spcPct val="102000"/>
                        </a:lnSpc>
                        <a:spcBef>
                          <a:spcPts val="0"/>
                        </a:spcBef>
                        <a:spcAft>
                          <a:spcPts val="220"/>
                        </a:spcAft>
                      </a:pPr>
                      <a:r>
                        <a:rPr sz="900" b="0">
                          <a:solidFill>
                            <a:srgbClr val="000000"/>
                          </a:solidFill>
                          <a:latin typeface="Arial"/>
                        </a:rPr>
                        <a:t>• Strengthens receiving control by keeping approval decisions and transaction corrections within the documented receiving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View Additional Information for Distributions in the Redwood Self-Service Receiving Application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you combine multiple orders for similar goods across different departments, you generally allocate multiple distributions to a single purchase order line. In these situations, you may first need to accurately identify each distribution to manually enter correct quantities or amounts for specific distribution.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Additional distribution information helps receiving users identify the correct distribution when multiple distributions share one purchase-order line.</a:t>
                      </a:r>
                    </a:p>
                    <a:p>
                      <a:pPr algn="l">
                        <a:lnSpc>
                          <a:spcPct val="102000"/>
                        </a:lnSpc>
                        <a:spcBef>
                          <a:spcPts val="0"/>
                        </a:spcBef>
                        <a:spcAft>
                          <a:spcPts val="220"/>
                        </a:spcAft>
                      </a:pPr>
                      <a:r>
                        <a:rPr sz="900" b="0">
                          <a:solidFill>
                            <a:srgbClr val="000000"/>
                          </a:solidFill>
                          <a:latin typeface="Arial"/>
                        </a:rPr>
                        <a:t>• Clearer distribution identification reduces ambiguity when entering quantities or amounts for individual distributions during self-service receiving.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22</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Receiving</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Review and Select Lot and Serial Numbers from an ASN or Transfer Order during Receipt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you receive lot or serial control goods with lot or serial numbers mentioned in an Advance Shipment Notice (ASN) or transfer order, it's important to review and select specific lot or serial numbers, instead of automatically accepting all the numbers provided. For example, a large volume of items are packaged in multiple boxes and the boxes are received by multiple receiving agents.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Receiving users can review and select the specific lot or serial numbers to accept from an ASN or transfer order.</a:t>
                      </a:r>
                    </a:p>
                    <a:p>
                      <a:pPr algn="l">
                        <a:lnSpc>
                          <a:spcPct val="102000"/>
                        </a:lnSpc>
                        <a:spcBef>
                          <a:spcPts val="0"/>
                        </a:spcBef>
                        <a:spcAft>
                          <a:spcPts val="220"/>
                        </a:spcAft>
                      </a:pPr>
                      <a:r>
                        <a:rPr sz="900" b="0">
                          <a:solidFill>
                            <a:srgbClr val="000000"/>
                          </a:solidFill>
                          <a:latin typeface="Arial"/>
                        </a:rPr>
                        <a:t>• Lot- and serial-controlled receipts gain tighter selection control when shipments contain multiple boxes or receiving agents.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Use Improved Search in the Redwood Self-Service Receiving Application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When you receive ordered goods, it’s important to quickly locate the relevant order lines in the application and receive them promptly to move the order forward. To do this, you need effective search filters and the ability to easily reuse commonly applied filters.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Reusable search filters help receiving users locate the correct order lines more quickly during self-service receiving.</a:t>
                      </a:r>
                    </a:p>
                    <a:p>
                      <a:pPr algn="l">
                        <a:lnSpc>
                          <a:spcPct val="102000"/>
                        </a:lnSpc>
                        <a:spcBef>
                          <a:spcPts val="0"/>
                        </a:spcBef>
                        <a:spcAft>
                          <a:spcPts val="220"/>
                        </a:spcAft>
                      </a:pPr>
                      <a:r>
                        <a:rPr sz="900" b="0">
                          <a:solidFill>
                            <a:srgbClr val="000000"/>
                          </a:solidFill>
                          <a:latin typeface="Arial"/>
                        </a:rPr>
                        <a:t>• Common receiving searches are easier to apply again, supporting faster movement from order-line identification to receipt processing.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23</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SCM Common Components</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Create Facility Schedule Data Using an Improved Workday Pattern Algorithm</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Adjust data quickly with an enhanced algorithm that aligns it to the end of a pattern definition. The algorithm commits schedule data to the pattern's end and automatically updates the end date for faster entry or import.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Aligns facility schedule data to the end of a workday pattern and automatically updates the pattern end date.</a:t>
                      </a:r>
                    </a:p>
                    <a:p>
                      <a:pPr algn="l">
                        <a:lnSpc>
                          <a:spcPct val="102000"/>
                        </a:lnSpc>
                        <a:spcBef>
                          <a:spcPts val="0"/>
                        </a:spcBef>
                        <a:spcAft>
                          <a:spcPts val="220"/>
                        </a:spcAft>
                      </a:pPr>
                      <a:r>
                        <a:rPr sz="900" b="0">
                          <a:solidFill>
                            <a:srgbClr val="000000"/>
                          </a:solidFill>
                          <a:latin typeface="Arial"/>
                        </a:rPr>
                        <a:t>• Reduces schedule-data rework by keeping imported or entered dates synchronized with the defined workday pattern.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manufacturing operations and supply chain planning.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Define Schedules Using a New User Experience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Create or edit schedules, workday patterns, and shifts using Redwood pages. Use the interactive calendar component to set workday patterns and shifts based on the hours and days you enter.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Lets users create and edit schedules, workday patterns, and shifts through Redwood pages with an interactive calendar.</a:t>
                      </a:r>
                    </a:p>
                    <a:p>
                      <a:pPr algn="l">
                        <a:lnSpc>
                          <a:spcPct val="102000"/>
                        </a:lnSpc>
                        <a:spcBef>
                          <a:spcPts val="0"/>
                        </a:spcBef>
                        <a:spcAft>
                          <a:spcPts val="220"/>
                        </a:spcAft>
                      </a:pPr>
                      <a:r>
                        <a:rPr sz="900" b="0">
                          <a:solidFill>
                            <a:srgbClr val="000000"/>
                          </a:solidFill>
                          <a:latin typeface="Arial"/>
                        </a:rPr>
                        <a:t>• Makes schedule setup easier by allowing workdays and shift hours to be defined directly against the calendar.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manufacturing operations and supply chain planning.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Support Use of Inverse Conversion Factors Between Units of Measure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Simplify data entry by modeling conversion values between two units for an item or lot, using either the numeric value X or its inverse, 1/X. For example, if the conversion factor is 0.0005, enter the inverse value of 2000.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Lets users enter either a unit conversion value or its inverse when defining item or lot conversions.</a:t>
                      </a:r>
                    </a:p>
                    <a:p>
                      <a:pPr algn="l">
                        <a:lnSpc>
                          <a:spcPct val="102000"/>
                        </a:lnSpc>
                        <a:spcBef>
                          <a:spcPts val="0"/>
                        </a:spcBef>
                        <a:spcAft>
                          <a:spcPts val="220"/>
                        </a:spcAft>
                      </a:pPr>
                      <a:r>
                        <a:rPr sz="900" b="0">
                          <a:solidFill>
                            <a:srgbClr val="000000"/>
                          </a:solidFill>
                          <a:latin typeface="Arial"/>
                        </a:rPr>
                        <a:t>• Simplifies conversion-data entry by accommodating the form of the value that is most practical for the affected unit relationship.</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lot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24</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SCM Common Components</a:t>
            </a:r>
          </a:p>
        </p:txBody>
      </p:sp>
      <p:graphicFrame>
        <p:nvGraphicFramePr>
          <p:cNvPr id="9" name="Table 8"/>
          <p:cNvGraphicFramePr>
            <a:graphicFrameLocks noGrp="1"/>
          </p:cNvGraphicFramePr>
          <p:nvPr/>
        </p:nvGraphicFramePr>
        <p:xfrm>
          <a:off x="256032" y="1051560"/>
          <a:ext cx="11658600" cy="1682496"/>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Oracle Object Storage for Data Extract Scheduled Output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Output for Extract Schedules can now be written to Oracle Object Storage or Unified Content Manager. This provides greater flexibility for managing and storing your extracted data.</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Scheduled extract output can be written to Oracle Object Storage or Unified Content Manager for more flexible data storage.</a:t>
                      </a:r>
                    </a:p>
                    <a:p>
                      <a:pPr algn="l">
                        <a:lnSpc>
                          <a:spcPct val="102000"/>
                        </a:lnSpc>
                        <a:spcBef>
                          <a:spcPts val="0"/>
                        </a:spcBef>
                        <a:spcAft>
                          <a:spcPts val="220"/>
                        </a:spcAft>
                      </a:pPr>
                      <a:r>
                        <a:rPr sz="900" b="0">
                          <a:solidFill>
                            <a:srgbClr val="000000"/>
                          </a:solidFill>
                          <a:latin typeface="Arial"/>
                        </a:rPr>
                        <a:t>• Teams gain additional options for managing scheduled extract files outside the originating application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the related business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25</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Supply Chain Financial Orchestration</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Transfer Price Advisor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Enterprises must prioritize compliance, speed, and margin protection for intercompany flows across globally distributed fulfillment networks. However, transfer pricing is often finalized only at the time of transaction, leaving finance and operations to discover errors after the shipment.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Surfaces transfer-pricing guidance earlier in intercompany flows so finance and operations can evaluate pricing before transactions are finalized.</a:t>
                      </a:r>
                    </a:p>
                    <a:p>
                      <a:pPr algn="l">
                        <a:lnSpc>
                          <a:spcPct val="102000"/>
                        </a:lnSpc>
                        <a:spcBef>
                          <a:spcPts val="0"/>
                        </a:spcBef>
                        <a:spcAft>
                          <a:spcPts val="220"/>
                        </a:spcAft>
                      </a:pPr>
                      <a:r>
                        <a:rPr sz="900" b="0">
                          <a:solidFill>
                            <a:srgbClr val="000000"/>
                          </a:solidFill>
                          <a:latin typeface="Arial"/>
                        </a:rPr>
                        <a:t>• Helps teams identify potential transfer-pricing issues before shipment rather than discovering pricing discrepancies after the transaction.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(SCM Intelligent Agent Management Duty, Fai Genai Agent SCM Administrator Duty, Fai Genai Agent Runtime Duty) for supply chain planning and shipment processing.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Use Source Document as Transfer Price Basis for Orders in Back-to-Back Intercompany Transfers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derive intercompany transfer prices for back-to-back internal material transfers directly from the originating sales order. This feature lets you use the source document unit price as the transfer price basis and apply an optional markup or markdown.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Derives the intercompany transfer price directly from the originating sales-order unit price for back-to-back internal transfers.</a:t>
                      </a:r>
                    </a:p>
                    <a:p>
                      <a:pPr algn="l">
                        <a:lnSpc>
                          <a:spcPct val="102000"/>
                        </a:lnSpc>
                        <a:spcBef>
                          <a:spcPts val="0"/>
                        </a:spcBef>
                        <a:spcAft>
                          <a:spcPts val="220"/>
                        </a:spcAft>
                      </a:pPr>
                      <a:r>
                        <a:rPr sz="900" b="0">
                          <a:solidFill>
                            <a:srgbClr val="000000"/>
                          </a:solidFill>
                          <a:latin typeface="Arial"/>
                        </a:rPr>
                        <a:t>• Keeps transfer-pricing calculations aligned with the source transaction while allowing an optional markup or markdown.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B2B messaging and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Derive Receivables and Payables Accounts for External Trade Events Using Transaction Account Definition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Earlier, when you uploaded and processed intercompany transactions from Oracle subscriptions or external sources into Financial Orchestration to generate receivables and Payables invoices, you were required to set up the control accounts of receivables and Payables in Advanced Global Intercompany System (OAGIS) using the new external trade as a business flow in the financial agreement. The new events were also imported using REST services.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Derives receivables and payables accounts for external trade events through transaction-account definitions instead of requiring the earlier control-account setup.</a:t>
                      </a:r>
                    </a:p>
                    <a:p>
                      <a:pPr algn="l">
                        <a:lnSpc>
                          <a:spcPct val="102000"/>
                        </a:lnSpc>
                        <a:spcBef>
                          <a:spcPts val="0"/>
                        </a:spcBef>
                        <a:spcAft>
                          <a:spcPts val="220"/>
                        </a:spcAft>
                      </a:pPr>
                      <a:r>
                        <a:rPr sz="900" b="0">
                          <a:solidFill>
                            <a:srgbClr val="000000"/>
                          </a:solidFill>
                          <a:latin typeface="Arial"/>
                        </a:rPr>
                        <a:t>• Simplifies accounting treatment for external intercompany events by connecting imported trade transactions to the appropriate financial accounts.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supply chain planning.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26</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Supply Chain Financial Orchestration</a:t>
            </a:r>
          </a:p>
        </p:txBody>
      </p:sp>
      <p:graphicFrame>
        <p:nvGraphicFramePr>
          <p:cNvPr id="9" name="Table 8"/>
          <p:cNvGraphicFramePr>
            <a:graphicFrameLocks noGrp="1"/>
          </p:cNvGraphicFramePr>
          <p:nvPr/>
        </p:nvGraphicFramePr>
        <p:xfrm>
          <a:off x="256032" y="1051560"/>
          <a:ext cx="11658600" cy="1682496"/>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60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Generate Intercompany Events for Oracle Transportation Management Interface for Customer Drop Shipments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Financial Orchestration Transfer Prices REST resource is used by applications like Oracle Global Trade Management to print import or export documentation based on who owns the goods at the time of customs clearance. With this update, you can now subscribe to the Transfer Pricing business event generated by Supply Chain Financial Orchestration.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Transfer-pricing business events can be published for customer drop shipments so connected applications can consume intercompany transaction information.</a:t>
                      </a:r>
                    </a:p>
                    <a:p>
                      <a:pPr algn="l">
                        <a:lnSpc>
                          <a:spcPct val="102000"/>
                        </a:lnSpc>
                        <a:spcBef>
                          <a:spcPts val="0"/>
                        </a:spcBef>
                        <a:spcAft>
                          <a:spcPts val="220"/>
                        </a:spcAft>
                      </a:pPr>
                      <a:r>
                        <a:rPr sz="900" b="0">
                          <a:solidFill>
                            <a:srgbClr val="000000"/>
                          </a:solidFill>
                          <a:latin typeface="Arial"/>
                        </a:rPr>
                        <a:t>• Supply Chain Financial Orchestration can coordinate transfer-pricing events with transportation or trade applications that depend on them.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transfer order processing and drop shipment cost capture.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27</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Supply Chain Orchestration</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61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Enable Supply Chain Orchestration's Redesigned Landing Page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Supply Chain Orchestration's redesigned landing page as the starting point to manage your supply requests. Get a summary of the supply requests that you recently received or need your attention.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Summarizes recently received and attention-required supply requests on the Supply Chain Orchestration landing page.</a:t>
                      </a:r>
                    </a:p>
                    <a:p>
                      <a:pPr algn="l">
                        <a:lnSpc>
                          <a:spcPct val="102000"/>
                        </a:lnSpc>
                        <a:spcBef>
                          <a:spcPts val="0"/>
                        </a:spcBef>
                        <a:spcAft>
                          <a:spcPts val="220"/>
                        </a:spcAft>
                      </a:pPr>
                      <a:r>
                        <a:rPr sz="900" b="0">
                          <a:solidFill>
                            <a:srgbClr val="000000"/>
                          </a:solidFill>
                          <a:latin typeface="Arial"/>
                        </a:rPr>
                        <a:t>• Gives supply-chain users a focused starting point for reviewing the status of requests that need action.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62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Use Supply Chain Orchestration to Support Contract Manufacturing for Process Manufacturing In Your Plan-to-Produce Flows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Oracle Supply Chain Planning will send a planned order to Oracle Supply Chain Orchestration, then Supply Chain Orchestration will create a process work order to track the manufacturing progress at the contract manufacturers facility and a purchase order on the contract manufacturer to pay for the manufacturing services.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Connects planned orders to process work orders and contract-manufacturing purchase orders so outsourced production can be tracked through the plan-to-produce flow.</a:t>
                      </a:r>
                    </a:p>
                    <a:p>
                      <a:pPr algn="l">
                        <a:lnSpc>
                          <a:spcPct val="102000"/>
                        </a:lnSpc>
                        <a:spcBef>
                          <a:spcPts val="0"/>
                        </a:spcBef>
                        <a:spcAft>
                          <a:spcPts val="220"/>
                        </a:spcAft>
                      </a:pPr>
                      <a:r>
                        <a:rPr sz="900" b="0">
                          <a:solidFill>
                            <a:srgbClr val="000000"/>
                          </a:solidFill>
                          <a:latin typeface="Arial"/>
                        </a:rPr>
                        <a:t>• Keeps manufacturing progress and supplier-service purchasing linked within the orchestration process for contract-manufactured products.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process manufacturing costing and manufacturing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28</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5486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Advanced Inventory Management - AI Agent: Inventory Task Allocation Assistant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https://docs.oracle.com/en/cloud/saas/readiness/scm/26b/inv26b/26B-inventory-wn-f43075.htm#inv26b-f43075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Advanced Inventory Management - Create LPN Reports Using the License Plate Number Real Time Subject Area in OTBI</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https://docs.oracle.com/en/cloud/saas/readiness/scm/26b/inv26b/26B-inventory-wn-f43073.htm#inv26b-f43073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Advanced Inventory Management - Redwood: Deliver to Multiple Locations with Robotic Material Handling Equipment Using a Single Cart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https://docs.oracle.com/en/cloud/saas/readiness/scm/26b/inv26b/26B-inventory-wn-f43076.htm#inv26b-f43076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AI Agent: B2B Message Converter - Enrich Workflow Features Along with Upload and Download Capabilities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https://docs.oracle.com/en/cloud/saas/readiness/scm/26b/inv26b/26B-inventory-wn-f43221.htm#inv26b-f43221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Configure Collaboration Messaging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https://docs.oracle.com/en/cloud/saas/readiness/scm/26b/inv26b/26B-inventory-wn-f43222.htm#inv26b-f43222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Define Processing Rules for B2B Messages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https://docs.oracle.com/en/cloud/saas/readiness/scm/26b/inv26b/26B-inventory-wn-f43219.htm#inv26b-f43219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Override Inbound Message Definitions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0"/>
                        </a:rPr>
                        <a:t>https://docs.oracle.com/en/cloud/saas/readiness/scm/26b/inv26b/26B-inventory-wn-f43224.htm#inv26b-f43224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Receive an Order from Oracle Configure, Price, Quote (CPQ)</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1"/>
                        </a:rPr>
                        <a:t>https://docs.oracle.com/en/cloud/saas/readiness/scm/26b/inv26b/26B-inventory-wn-f43220.htm#inv26b-f43220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Set up Supplier and Customer Collaboration Messaging Using a Redwood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2"/>
                        </a:rPr>
                        <a:t>https://docs.oracle.com/en/cloud/saas/readiness/scm/26b/inv26b/26B-inventory-wn-f43223.htm#inv26b-f43223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Configure to Order - Redwood: Manage Configured Items and Review Their Structures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3"/>
                        </a:rPr>
                        <a:t>https://docs.oracle.com/en/cloud/saas/readiness/scm/26b/inv26b/26B-inventory-wn-f43179.htm#inv26b-f43179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Configure to Order - AI Agent: Configuration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4"/>
                        </a:rPr>
                        <a:t>https://docs.oracle.com/en/cloud/saas/readiness/scm/26b/inv26b/26B-inventory-wn-f42445.htm#inv26b-f42445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AI Agent: Gross Margin Analyst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5"/>
                        </a:rPr>
                        <a:t>https://docs.oracle.com/en/cloud/saas/readiness/scm/26b/inv26b/26B-inventory-wn-f42401.htm#inv26b-f42401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AI Agentic App: Cost Accounting Close Workspace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6"/>
                        </a:rPr>
                        <a:t>https://docs.oracle.com/en/cloud/saas/readiness/scm/26b/inv26b/26B-inventory-wn-f46409.htm#inv26b-f46409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Redwood: Track Asset Costs for Maintenance Work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7"/>
                        </a:rPr>
                        <a:t>https://docs.oracle.com/en/cloud/saas/readiness/scm/26b/inv26b/26B-inventory-wn-f43587.htm#inv26b-f43587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29</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5486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Track Costs for Parallel Work Order Operations Using Precedence Constraints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https://docs.oracle.com/en/cloud/saas/readiness/scm/26b/inv26b/26B-inventory-wn-f43586.htm#inv26b-f43586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Account for Component Scrap in Work Order Costs Without Material Returns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https://docs.oracle.com/en/cloud/saas/readiness/scm/26b/inv26b/26B-inventory-wn-f43590.htm#inv26b-f43590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Calculate and Track Product Costs when Using an Item Multiple Times in a Discrete Work Order Operation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https://docs.oracle.com/en/cloud/saas/readiness/scm/26b/inv26b/26B-inventory-wn-f43592.htm#inv26b-f43592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Calculate the Cost of Products After Assigning Phantom Subassembly Materials and Resources to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https://docs.oracle.com/en/cloud/saas/readiness/scm/26b/inv26b/26B-inventory-wn-f43589.htm#inv26b-f43589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Calculate the Costs of Standard Costed Configured Items On Demand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https://docs.oracle.com/en/cloud/saas/readiness/scm/26b/inv26b/26B-inventory-wn-f43593.htm#inv26b-f43593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Complete the Same Output Across Multiple Operations in Discrete Manufacturing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https://docs.oracle.com/en/cloud/saas/readiness/scm/26b/inv26b/26B-inventory-wn-f43585.htm#inv26b-f43585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Review Periodic Average Cost Adjustments Using Filters in Smart Search</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0"/>
                        </a:rPr>
                        <a:t>https://docs.oracle.com/en/cloud/saas/readiness/scm/26b/inv26b/26B-inventory-wn-f43588.htm#inv26b-f43588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Cost Management - Track and Account for Rework Costs in Standard and Nonstandard Discrete Work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1"/>
                        </a:rPr>
                        <a:t>https://docs.oracle.com/en/cloud/saas/readiness/scm/26b/inv26b/26B-inventory-wn-f43591.htm#inv26b-f43591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Fiscal Document Capture - Update Tax Determinants on Fiscal Document Line Using REST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2"/>
                        </a:rPr>
                        <a:t>https://docs.oracle.com/en/cloud/saas/readiness/scm/26b/inv26b/26B-inventory-wn-f43596.htm#inv26b-f43596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Fiscal Document Capture - Enable Accurate Capture and Fiscal Processing for Prepayments Under the New Tax Regime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3"/>
                        </a:rPr>
                        <a:t>https://docs.oracle.com/en/cloud/saas/readiness/scm/26b/inv26b/26B-inventory-wn-f43594.htm#inv26b-f43594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Fiscal Document Capture - Use Additional CFOP Codes for Buyer-Issued Bookkeeping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4"/>
                        </a:rPr>
                        <a:t>https://docs.oracle.com/en/cloud/saas/readiness/scm/26b/inv26b/26B-inventory-wn-f43595.htm#inv26b-f43595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AI Agent: Inventory Shortages Assistant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5"/>
                        </a:rPr>
                        <a:t>https://docs.oracle.com/en/cloud/saas/readiness/scm/26b/inv26b/26B-inventory-wn-f43055.htm#inv26b-f43055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AI Agent: Lot Management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6"/>
                        </a:rPr>
                        <a:t>https://docs.oracle.com/en/cloud/saas/readiness/scm/26b/inv26b/26B-inventory-wn-f43069.htm#inv26b-f43069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AI Agentic App: Warehouse Operations Workspace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7"/>
                        </a:rPr>
                        <a:t>https://docs.oracle.com/en/cloud/saas/readiness/scm/26b/inv26b/26B-inventory-wn-f43846.htm#inv26b-f43846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30</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5486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Use Additional Business Rules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https://docs.oracle.com/en/cloud/saas/readiness/scm/26b/inv26b/26B-inventory-wn-f43059.htm#inv26b-f43059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Use Improved Logic for Goods in RFID-Enabled Cabinets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https://docs.oracle.com/en/cloud/saas/readiness/scm/26b/inv26b/26B-inventory-wn-f43056.htm#inv26b-f43056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Export All Search Results on the Completed Transactions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https://docs.oracle.com/en/cloud/saas/readiness/scm/26b/inv26b/26B-inventory-wn-f49705.htm#inv26b-f49705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Perform Lot Split, Merge, or Translate Transactions Using a Redwood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https://docs.oracle.com/en/cloud/saas/readiness/scm/26b/inv26b/26B-inventory-wn-f43062.htm#inv26b-f43062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Purge Completed PAR Requests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https://docs.oracle.com/en/cloud/saas/readiness/scm/26b/inv26b/26B-inventory-wn-f43070.htm#inv26b-f43070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Use Additional Search Capabilities When Creating and Updating Subinventories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https://docs.oracle.com/en/cloud/saas/readiness/scm/26b/inv26b/26B-inventory-wn-f43066.htm#inv26b-f43066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Use Improved Replenishment Logic for the Order PAR Replenishment Count Type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0"/>
                        </a:rPr>
                        <a:t>https://docs.oracle.com/en/cloud/saas/readiness/scm/26b/inv26b/26B-inventory-wn-f43068.htm#inv26b-f43068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Use the All Organizations Option When Selecting an Organization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1"/>
                        </a:rPr>
                        <a:t>https://docs.oracle.com/en/cloud/saas/readiness/scm/26b/inv26b/26B-inventory-wn-f43071.htm#inv26b-f43071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Inventory Management - Redwood: View On-Hand Quantity for Closed or Inactive Projects on the Item Quantities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2"/>
                        </a:rPr>
                        <a:t>https://docs.oracle.com/en/cloud/saas/readiness/scm/26b/inv26b/26B-inventory-wn-f43063.htm#inv26b-f43063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Landed Cost Management - Support the Landed Cost Enabled Attribute in Payables FBDI Upload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3"/>
                        </a:rPr>
                        <a:t>https://docs.oracle.com/en/cloud/saas/readiness/scm/26b/inv26b/26B-inventory-wn-f43597.htm#inv26b-f43597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Mobile Inventory - Redwood: Search for Open Pick Slips by Destination Location When Using a Mobile Device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4"/>
                        </a:rPr>
                        <a:t>https://docs.oracle.com/en/cloud/saas/readiness/scm/26b/inv26b/26B-inventory-wn-f43067.htm#inv26b-f43067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Product Recall Management - Derive Containment Task Owners on the Recall Tasks and Send Notifications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5"/>
                        </a:rPr>
                        <a:t>https://docs.oracle.com/en/cloud/saas/readiness/scm/26b/inv26b/26B-inventory-wn-f43524.htm#inv26b-f43524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Product Recall Management - Select Inventory Organizations Participating in Recall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6"/>
                        </a:rPr>
                        <a:t>https://docs.oracle.com/en/cloud/saas/readiness/scm/26b/inv26b/26B-inventory-wn-f43525.htm#inv26b-f43525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AI Agent: ASN Creation Assistant - Create ASN Through Email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7"/>
                        </a:rPr>
                        <a:t>https://docs.oracle.com/en/cloud/saas/readiness/scm/26b/inv26b/26B-inventory-wn-f41428.htm#inv26b-f41428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31</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5486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AI Agent: Receipt Creation Assistant - Create Receipt Through Email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https://docs.oracle.com/en/cloud/saas/readiness/scm/26b/inv26b/26B-inventory-wn-f43064.htm#inv26b-f43064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Redwood: Add Attachments and Update Descriptive Flexfields on Existing Receipts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https://docs.oracle.com/en/cloud/saas/readiness/scm/26b/inv26b/26B-inventory-wn-f43072.htm#inv26b-f43072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Redwood: Copy Lot and Serial Numbers from an ASN or Transfer Order When Using a Mobile Device to Receive or Put Away Goods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https://docs.oracle.com/en/cloud/saas/readiness/scm/26b/inv26b/26B-inventory-wn-f43074.htm#inv26b-f43074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Redwood: Create ASN or ASBN Using a Spreadsheet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https://docs.oracle.com/en/cloud/saas/readiness/scm/26b/inv26b/26B-inventory-wn-f43061.htm#inv26b-f43061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Redwood: Find Receipts Awaiting Put Away Using Additional Information on a Mobile Device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https://docs.oracle.com/en/cloud/saas/readiness/scm/26b/inv26b/26B-inventory-wn-f43053.htm#inv26b-f43053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Redwood: Notify a Requester about ASN or Receipt Creation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https://docs.oracle.com/en/cloud/saas/readiness/scm/26b/inv26b/26B-inventory-wn-f43057.htm#inv26b-f43057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Redwood: Use Approvals for Receipts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0"/>
                        </a:rPr>
                        <a:t>https://docs.oracle.com/en/cloud/saas/readiness/scm/26b/inv26b/26B-inventory-wn-f43054.htm#inv26b-f43054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Redwood: View Additional Information for Distributions in the Redwood Self-Service Receiving Application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1"/>
                        </a:rPr>
                        <a:t>https://docs.oracle.com/en/cloud/saas/readiness/scm/26b/inv26b/26B-inventory-wn-f43060.htm#inv26b-f43060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Redwood: Review and Select Lot and Serial Numbers from an ASN or Transfer Order during Receipt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2"/>
                        </a:rPr>
                        <a:t>https://docs.oracle.com/en/cloud/saas/readiness/scm/26b/inv26b/26B-inventory-wn-f43065.htm#inv26b-f43065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Receiving - Use Improved Search in the Redwood Self-Service Receiving Application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3"/>
                        </a:rPr>
                        <a:t>https://docs.oracle.com/en/cloud/saas/readiness/scm/26b/inv26b/26B-inventory-wn-f43058.htm#inv26b-f43058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SCM Common Components - Create Facility Schedule Data Using an Improved Workday Pattern Algorithm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4"/>
                        </a:rPr>
                        <a:t>https://docs.oracle.com/en/cloud/saas/readiness/scm/26b/inv26b/26B-inventory-wn-f42890.htm#inv26b-f42890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SCM Common Components - Redwood: Define Schedules Using a New User Experience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5"/>
                        </a:rPr>
                        <a:t>https://docs.oracle.com/en/cloud/saas/readiness/scm/26b/inv26b/26B-inventory-wn-f42893.htm#inv26b-f42893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SCM Common Components - Redwood: Support Use of Inverse Conversion Factors Between Units of Measure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6"/>
                        </a:rPr>
                        <a:t>https://docs.oracle.com/en/cloud/saas/readiness/scm/26b/inv26b/26B-inventory-wn-f42891.htm#inv26b-f42891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SCM Common Components - Redwood: Use Oracle Object Storage for Data Extract Scheduled Output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7"/>
                        </a:rPr>
                        <a:t>https://docs.oracle.com/en/cloud/saas/readiness/scm/26b/inv26b/26B-inventory-wn-f42892.htm#inv26b-f42892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Advanced Inventory Management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32</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256032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Supply Chain Financial Orchestration - AI Agent: Transfer Price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https://docs.oracle.com/en/cloud/saas/readiness/scm/26b/inv26b/26B-inventory-wn-f43181.htm#inv26b-f43181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Supply Chain Financial Orchestration - Use Source Document as Transfer Price Basis for Orders in Back-to-Back Intercompany Transfers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https://docs.oracle.com/en/cloud/saas/readiness/scm/26b/inv26b/26B-inventory-wn-f43600.htm#inv26b-f43600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Supply Chain Financial Orchestration - Derive Receivables and Payables Accounts for External Trade Events Using Transaction Account Definition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https://docs.oracle.com/en/cloud/saas/readiness/scm/26b/inv26b/26B-inventory-wn-f43599.htm#inv26b-f43599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Supply Chain Financial Orchestration - Generate Intercompany Events for Oracle Transportation Management Interface for Customer Drop Shipments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https://docs.oracle.com/en/cloud/saas/readiness/scm/26b/inv26b/26B-inventory-wn-f43598.htm#inv26b-f43598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Supply Chain Orchestration - Redwood: Enable Supply Chain Orchestration's Redesigned Landing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https://docs.oracle.com/en/cloud/saas/readiness/scm/26b/inv26b/26B-inventory-wn-f43180.htm#inv26b-f43180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Supply Chain Orchestration - Use Supply Chain Orchestration to Support Contract Manufacturing for Process Manufacturing In Your Plan-to-Produce Flows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https://docs.oracle.com/en/cloud/saas/readiness/scm/26b/inv26b/26B-inventory-wn-f43178.htm#inv26b-f43178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